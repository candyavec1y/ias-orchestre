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8288000" cy="10287000"/>
  <p:notesSz cx="6858000" cy="9144000"/>
  <p:embeddedFontLst>
    <p:embeddedFont>
      <p:font typeface="Helvetica World Bold" charset="1" panose="020B0800040000020004"/>
      <p:regular r:id="rId45"/>
    </p:embeddedFont>
    <p:embeddedFont>
      <p:font typeface="Helvetica World" charset="1" panose="020B0500040000020004"/>
      <p:regular r:id="rId46"/>
    </p:embeddedFont>
    <p:embeddedFont>
      <p:font typeface="Open Sans" charset="1" panose="020B0606030504020204"/>
      <p:regular r:id="rId47"/>
    </p:embeddedFont>
    <p:embeddedFont>
      <p:font typeface="Inter Ultra-Bold" charset="1" panose="02000503000000020004"/>
      <p:regular r:id="rId51"/>
    </p:embeddedFont>
    <p:embeddedFont>
      <p:font typeface="Quicksand" charset="1" panose="00000000000000000000"/>
      <p:regular r:id="rId52"/>
    </p:embeddedFont>
    <p:embeddedFont>
      <p:font typeface="Helvetica World Italics" charset="1" panose="020B0500040000090004"/>
      <p:regular r:id="rId58"/>
    </p:embeddedFont>
    <p:embeddedFont>
      <p:font typeface="Helvetica World Bold Italics" charset="1" panose="020B0800040000090004"/>
      <p:regular r:id="rId59"/>
    </p:embeddedFont>
    <p:embeddedFont>
      <p:font typeface="Arimo Bold" charset="1" panose="020B0704020202020204"/>
      <p:regular r:id="rId65"/>
    </p:embeddedFont>
    <p:embeddedFont>
      <p:font typeface="Inter Bold" charset="1" panose="02000503000000020004"/>
      <p:regular r:id="rId75"/>
    </p:embeddedFont>
    <p:embeddedFont>
      <p:font typeface="Arimo" charset="1" panose="020B0604020202020204"/>
      <p:regular r:id="rId77"/>
    </p:embeddedFont>
    <p:embeddedFont>
      <p:font typeface="Inter Semi-Bold" charset="1" panose="02000503000000020004"/>
      <p:regular r:id="rId8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notesMasters/notesMaster1.xml" Type="http://schemas.openxmlformats.org/officeDocument/2006/relationships/notesMaster"/><Relationship Id="rId49" Target="theme/theme2.xml" Type="http://schemas.openxmlformats.org/officeDocument/2006/relationships/theme"/><Relationship Id="rId5" Target="tableStyles.xml" Type="http://schemas.openxmlformats.org/officeDocument/2006/relationships/tableStyles"/><Relationship Id="rId50" Target="notesSlides/notesSlide1.xml" Type="http://schemas.openxmlformats.org/officeDocument/2006/relationships/notesSlide"/><Relationship Id="rId51" Target="fonts/font51.fntdata" Type="http://schemas.openxmlformats.org/officeDocument/2006/relationships/font"/><Relationship Id="rId52" Target="fonts/font52.fntdata" Type="http://schemas.openxmlformats.org/officeDocument/2006/relationships/font"/><Relationship Id="rId53" Target="notesSlides/notesSlide2.xml" Type="http://schemas.openxmlformats.org/officeDocument/2006/relationships/notesSlide"/><Relationship Id="rId54" Target="notesSlides/notesSlide3.xml" Type="http://schemas.openxmlformats.org/officeDocument/2006/relationships/notesSlide"/><Relationship Id="rId55" Target="notesSlides/notesSlide4.xml" Type="http://schemas.openxmlformats.org/officeDocument/2006/relationships/notesSlide"/><Relationship Id="rId56" Target="notesSlides/notesSlide5.xml" Type="http://schemas.openxmlformats.org/officeDocument/2006/relationships/notesSlide"/><Relationship Id="rId57" Target="notesSlides/notesSlide6.xml" Type="http://schemas.openxmlformats.org/officeDocument/2006/relationships/notesSlide"/><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notesSlides/notesSlide7.xml" Type="http://schemas.openxmlformats.org/officeDocument/2006/relationships/notesSlide"/><Relationship Id="rId61" Target="notesSlides/notesSlide8.xml" Type="http://schemas.openxmlformats.org/officeDocument/2006/relationships/notesSlide"/><Relationship Id="rId62" Target="notesSlides/notesSlide9.xml" Type="http://schemas.openxmlformats.org/officeDocument/2006/relationships/notesSlide"/><Relationship Id="rId63" Target="notesSlides/notesSlide10.xml" Type="http://schemas.openxmlformats.org/officeDocument/2006/relationships/notesSlide"/><Relationship Id="rId64" Target="notesSlides/notesSlide11.xml" Type="http://schemas.openxmlformats.org/officeDocument/2006/relationships/notesSlide"/><Relationship Id="rId65" Target="fonts/font65.fntdata" Type="http://schemas.openxmlformats.org/officeDocument/2006/relationships/font"/><Relationship Id="rId66" Target="notesSlides/notesSlide12.xml" Type="http://schemas.openxmlformats.org/officeDocument/2006/relationships/notesSlide"/><Relationship Id="rId67" Target="notesSlides/notesSlide13.xml" Type="http://schemas.openxmlformats.org/officeDocument/2006/relationships/notesSlide"/><Relationship Id="rId68" Target="notesSlides/notesSlide14.xml" Type="http://schemas.openxmlformats.org/officeDocument/2006/relationships/notesSlide"/><Relationship Id="rId69" Target="notesSlides/notesSlide15.xml" Type="http://schemas.openxmlformats.org/officeDocument/2006/relationships/notesSlide"/><Relationship Id="rId7" Target="slides/slide2.xml" Type="http://schemas.openxmlformats.org/officeDocument/2006/relationships/slide"/><Relationship Id="rId70" Target="notesSlides/notesSlide16.xml" Type="http://schemas.openxmlformats.org/officeDocument/2006/relationships/notesSlide"/><Relationship Id="rId71" Target="notesSlides/notesSlide17.xml" Type="http://schemas.openxmlformats.org/officeDocument/2006/relationships/notesSlide"/><Relationship Id="rId72" Target="notesSlides/notesSlide18.xml" Type="http://schemas.openxmlformats.org/officeDocument/2006/relationships/notesSlide"/><Relationship Id="rId73" Target="notesSlides/notesSlide19.xml" Type="http://schemas.openxmlformats.org/officeDocument/2006/relationships/notesSlide"/><Relationship Id="rId74" Target="notesSlides/notesSlide20.xml" Type="http://schemas.openxmlformats.org/officeDocument/2006/relationships/notesSlide"/><Relationship Id="rId75" Target="fonts/font75.fntdata" Type="http://schemas.openxmlformats.org/officeDocument/2006/relationships/font"/><Relationship Id="rId76" Target="notesSlides/notesSlide21.xml" Type="http://schemas.openxmlformats.org/officeDocument/2006/relationships/notesSlide"/><Relationship Id="rId77" Target="fonts/font77.fntdata" Type="http://schemas.openxmlformats.org/officeDocument/2006/relationships/font"/><Relationship Id="rId78" Target="notesSlides/notesSlide22.xml" Type="http://schemas.openxmlformats.org/officeDocument/2006/relationships/notesSlide"/><Relationship Id="rId79" Target="notesSlides/notesSlide23.xml" Type="http://schemas.openxmlformats.org/officeDocument/2006/relationships/notesSlide"/><Relationship Id="rId8" Target="slides/slide3.xml" Type="http://schemas.openxmlformats.org/officeDocument/2006/relationships/slide"/><Relationship Id="rId80" Target="notesSlides/notesSlide24.xml" Type="http://schemas.openxmlformats.org/officeDocument/2006/relationships/notesSlide"/><Relationship Id="rId81" Target="notesSlides/notesSlide25.xml" Type="http://schemas.openxmlformats.org/officeDocument/2006/relationships/notesSlide"/><Relationship Id="rId82" Target="notesSlides/notesSlide26.xml" Type="http://schemas.openxmlformats.org/officeDocument/2006/relationships/notesSlide"/><Relationship Id="rId83" Target="notesSlides/notesSlide27.xml" Type="http://schemas.openxmlformats.org/officeDocument/2006/relationships/notesSlide"/><Relationship Id="rId84" Target="fonts/font84.fntdata" Type="http://schemas.openxmlformats.org/officeDocument/2006/relationships/font"/><Relationship Id="rId85" Target="notesSlides/notesSlide28.xml" Type="http://schemas.openxmlformats.org/officeDocument/2006/relationships/notesSlide"/><Relationship Id="rId86" Target="notesSlides/notesSlide29.xml" Type="http://schemas.openxmlformats.org/officeDocument/2006/relationships/notesSlide"/><Relationship Id="rId87" Target="notesSlides/notesSlide30.xml" Type="http://schemas.openxmlformats.org/officeDocument/2006/relationships/notesSlide"/><Relationship Id="rId88" Target="notesSlides/notesSlide31.xml" Type="http://schemas.openxmlformats.org/officeDocument/2006/relationships/notesSlide"/><Relationship Id="rId89" Target="notesSlides/notesSlide32.xml" Type="http://schemas.openxmlformats.org/officeDocument/2006/relationships/notesSlide"/><Relationship Id="rId9" Target="slides/slide4.xml" Type="http://schemas.openxmlformats.org/officeDocument/2006/relationships/slide"/><Relationship Id="rId90" Target="notesSlides/notesSlide33.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Annoncer la question traitée puis le fil Prédire → Planifier → Adapter.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Une vacation ne crée de valeur que si le patient trouve un lit ou une place.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Caractériser avant d'optimiser.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Mercredi : +15 % d'interventions.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Chaque brique alimente la suivante.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 variables, 5 modèles, protocole 80/20.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Même jeu de test ; référence = règle par acte.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Erreur moyenne 14,4 min, R² = 0,67.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92,5 % d'orientations correctes.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modèle réduit l'incertitude, il ne la supprime pas.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Deux niveaux d'affectation. Niveau 1 : on dispose les vacations, en affectant les chirurgiens aux plages de bloc (salle, jour, chirurgien). Niveau 2 : on place les patients dans ces vacations, en respectant salles, durées prédites, lits et places. Les deux niveaux sont évalués par la même fonction objectif (slide suivante), du bloc jusqu'aux lits et places en aval.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α, β, γ réglés par des tests.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α, β, γ réglés par des tests.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Diversifier, explorer, affiner.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258 patients placés par toutes les variantes.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258 patients placés par toutes les variantes.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Face au glouton : écart-type de l'occupation des lits divisé par 1,9 (7,4 → 3,9 lits).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Face au glouton : variance divisée par 3,6.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Dynamisme : le système multi-agents n'est pas recalculé de zéro. Chaque aléa (urgence, panne, annulation, inscription) relance une boucle : les agents concernés échangent des messages, chaque salle cherche ses meilleurs plans par un Tabou local (4 plans max.), puis la Régulation applique le moins coûteux. Tout est journalisé et rejouable. Pourquoi le Tabou : c'est la métaheuristique qui converge le plus vite (courbe) ; il part du programme en cours et l'affine en déplaçant peu de patients ; sa mémoire taboue évite les allers-retours. L'hybride mémétique ne gagne que moins de 0,1 % de score (15 075 contre 15 088, annexe B) mais demande plus de temps : il reste réservé à la planification statique. Un cercle, pas une hiérarchie.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Temps libre d'abord ; déprogrammation en dernier.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 urgences sur 31 dans leur délai.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98 % à 1/jour, 83 % à 4/jour.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Chaque métier voit ce qui le concerne.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Cas réel : prothèse totale de genou.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Vue du cadre de bloc et vue de pilotage.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Continuité, confidentialité, hébergement.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Continuité, confidentialité, hébergement.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Hypothèses et suite.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Prédire, planifier, adapter.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Même instance, départ, temps.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Paramètres du SMA.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Paramètres du SMA.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Pile Python, journal d'événements.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12.svg" Type="http://schemas.openxmlformats.org/officeDocument/2006/relationships/image"/><Relationship Id="rId2" Target="../notesSlides/notesSlide4.xml" Type="http://schemas.openxmlformats.org/officeDocument/2006/relationships/notesSlide"/><Relationship Id="rId3" Target="../media/image9.jpe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3.png" Type="http://schemas.openxmlformats.org/officeDocument/2006/relationships/image"/><Relationship Id="rId7" Target="../media/image10.svg" Type="http://schemas.openxmlformats.org/officeDocument/2006/relationships/image"/><Relationship Id="rId8" Target="../media/image1.png" Type="http://schemas.openxmlformats.org/officeDocument/2006/relationships/image"/><Relationship Id="rId9"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notesSlides/notesSlide7.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notesSlides/notesSlide8.xml" Type="http://schemas.openxmlformats.org/officeDocument/2006/relationships/notesSlide"/><Relationship Id="rId3" Target="../media/image9.jpeg" Type="http://schemas.openxmlformats.org/officeDocument/2006/relationships/image"/><Relationship Id="rId4" Target="../media/image16.png" Type="http://schemas.openxmlformats.org/officeDocument/2006/relationships/image"/><Relationship Id="rId5" Target="../media/image3.png" Type="http://schemas.openxmlformats.org/officeDocument/2006/relationships/image"/><Relationship Id="rId6" Target="../media/image10.svg" Type="http://schemas.openxmlformats.org/officeDocument/2006/relationships/image"/><Relationship Id="rId7" Target="../media/image1.png" Type="http://schemas.openxmlformats.org/officeDocument/2006/relationships/image"/><Relationship Id="rId8" Target="../media/image11.svg" Type="http://schemas.openxmlformats.org/officeDocument/2006/relationships/image"/><Relationship Id="rId9"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notesSlides/notesSlide9.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notesSlides/notesSlide12.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notesSlides/notesSlide13.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notesSlides/notesSlide15.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2" Target="../notesSlides/notesSlide16.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notesSlides/notesSlide17.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notesSlides/notesSlide18.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notesSlides/notesSlide19.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26.png" Type="http://schemas.openxmlformats.org/officeDocument/2006/relationships/image"/><Relationship Id="rId13" Target="../media/image27.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2" Target="../notesSlides/notesSlide21.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2" Target="../notesSlides/notesSlide22.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12.svg" Type="http://schemas.openxmlformats.org/officeDocument/2006/relationships/image"/><Relationship Id="rId2" Target="../notesSlides/notesSlide24.xml" Type="http://schemas.openxmlformats.org/officeDocument/2006/relationships/notesSlide"/><Relationship Id="rId3" Target="../media/image9.jpe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png" Type="http://schemas.openxmlformats.org/officeDocument/2006/relationships/image"/><Relationship Id="rId7" Target="../media/image10.svg" Type="http://schemas.openxmlformats.org/officeDocument/2006/relationships/image"/><Relationship Id="rId8" Target="../media/image1.png" Type="http://schemas.openxmlformats.org/officeDocument/2006/relationships/image"/><Relationship Id="rId9" Target="../media/image11.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12.svg" Type="http://schemas.openxmlformats.org/officeDocument/2006/relationships/image"/><Relationship Id="rId2" Target="../notesSlides/notesSlide25.xml" Type="http://schemas.openxmlformats.org/officeDocument/2006/relationships/notesSlide"/><Relationship Id="rId3" Target="../media/image9.jpe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png" Type="http://schemas.openxmlformats.org/officeDocument/2006/relationships/image"/><Relationship Id="rId7" Target="../media/image10.svg" Type="http://schemas.openxmlformats.org/officeDocument/2006/relationships/image"/><Relationship Id="rId8" Target="../media/image1.png" Type="http://schemas.openxmlformats.org/officeDocument/2006/relationships/image"/><Relationship Id="rId9" Target="../media/image11.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 Id="rId9" Target="../media/image8.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 Id="rId9" Target="../media/image8.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2" Target="../media/image35.jpeg" Type="http://schemas.openxmlformats.org/officeDocument/2006/relationships/image"/><Relationship Id="rId3" Target="../media/image9.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2" Target="../media/image35.jpeg" Type="http://schemas.openxmlformats.org/officeDocument/2006/relationships/image"/><Relationship Id="rId3" Target="../media/image9.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jpeg" Type="http://schemas.openxmlformats.org/officeDocument/2006/relationships/image"/><Relationship Id="rId2" Target="../notesSlides/notesSlide32.xml" Type="http://schemas.openxmlformats.org/officeDocument/2006/relationships/notesSlide"/><Relationship Id="rId3" Target="../media/image3.png" Type="http://schemas.openxmlformats.org/officeDocument/2006/relationships/image"/><Relationship Id="rId4" Target="../media/image10.svg" Type="http://schemas.openxmlformats.org/officeDocument/2006/relationships/image"/><Relationship Id="rId5" Target="../media/image1.png" Type="http://schemas.openxmlformats.org/officeDocument/2006/relationships/image"/><Relationship Id="rId6" Target="../media/image11.svg" Type="http://schemas.openxmlformats.org/officeDocument/2006/relationships/image"/><Relationship Id="rId7" Target="../media/image5.png" Type="http://schemas.openxmlformats.org/officeDocument/2006/relationships/image"/><Relationship Id="rId8" Target="../media/image12.svg" Type="http://schemas.openxmlformats.org/officeDocument/2006/relationships/image"/><Relationship Id="rId9" Target="../media/image38.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eg" Type="http://schemas.openxmlformats.org/officeDocument/2006/relationships/image"/><Relationship Id="rId3" Target="../media/image9.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9.jpeg" Type="http://schemas.openxmlformats.org/officeDocument/2006/relationships/image"/><Relationship Id="rId4" Target="../media/image3.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CF9"/>
        </a:solidFill>
      </p:bgPr>
    </p:bg>
    <p:spTree>
      <p:nvGrpSpPr>
        <p:cNvPr id="1" name=""/>
        <p:cNvGrpSpPr/>
        <p:nvPr/>
      </p:nvGrpSpPr>
      <p:grpSpPr>
        <a:xfrm>
          <a:off x="0" y="0"/>
          <a:ext cx="0" cy="0"/>
          <a:chOff x="0" y="0"/>
          <a:chExt cx="0" cy="0"/>
        </a:xfrm>
      </p:grpSpPr>
      <p:sp>
        <p:nvSpPr>
          <p:cNvPr name="Freeform 2" id="2"/>
          <p:cNvSpPr/>
          <p:nvPr/>
        </p:nvSpPr>
        <p:spPr>
          <a:xfrm flipH="false" flipV="false" rot="0">
            <a:off x="8001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227000" y="226000"/>
            <a:ext cx="10061000" cy="10061000"/>
          </a:xfrm>
          <a:custGeom>
            <a:avLst/>
            <a:gdLst/>
            <a:ahLst/>
            <a:cxnLst/>
            <a:rect r="r" b="b" t="t" l="l"/>
            <a:pathLst>
              <a:path h="10061000" w="10061000">
                <a:moveTo>
                  <a:pt x="0" y="0"/>
                </a:moveTo>
                <a:lnTo>
                  <a:pt x="10061000" y="0"/>
                </a:lnTo>
                <a:lnTo>
                  <a:pt x="10061000" y="10061000"/>
                </a:lnTo>
                <a:lnTo>
                  <a:pt x="0" y="1006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441731" y="440731"/>
            <a:ext cx="9846269" cy="9846269"/>
          </a:xfrm>
          <a:custGeom>
            <a:avLst/>
            <a:gdLst/>
            <a:ahLst/>
            <a:cxnLst/>
            <a:rect r="r" b="b" t="t" l="l"/>
            <a:pathLst>
              <a:path h="9846269" w="9846269">
                <a:moveTo>
                  <a:pt x="0" y="0"/>
                </a:moveTo>
                <a:lnTo>
                  <a:pt x="9846269" y="0"/>
                </a:lnTo>
                <a:lnTo>
                  <a:pt x="9846269" y="9846269"/>
                </a:lnTo>
                <a:lnTo>
                  <a:pt x="0" y="98462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8671712" y="670712"/>
            <a:ext cx="9616288" cy="9616288"/>
            <a:chOff x="0" y="0"/>
            <a:chExt cx="12821717" cy="12821717"/>
          </a:xfrm>
        </p:grpSpPr>
        <p:sp>
          <p:nvSpPr>
            <p:cNvPr name="Freeform 6" id="6"/>
            <p:cNvSpPr/>
            <p:nvPr/>
          </p:nvSpPr>
          <p:spPr>
            <a:xfrm flipH="false" flipV="false" rot="0">
              <a:off x="0" y="0"/>
              <a:ext cx="12821666" cy="12821666"/>
            </a:xfrm>
            <a:custGeom>
              <a:avLst/>
              <a:gdLst/>
              <a:ahLst/>
              <a:cxnLst/>
              <a:rect r="r" b="b" t="t" l="l"/>
              <a:pathLst>
                <a:path h="12821666" w="12821666">
                  <a:moveTo>
                    <a:pt x="0" y="12821666"/>
                  </a:moveTo>
                  <a:lnTo>
                    <a:pt x="12821666" y="12821666"/>
                  </a:lnTo>
                  <a:lnTo>
                    <a:pt x="12821666" y="0"/>
                  </a:lnTo>
                  <a:cubicBezTo>
                    <a:pt x="5741543" y="0"/>
                    <a:pt x="0" y="5741543"/>
                    <a:pt x="0" y="12821666"/>
                  </a:cubicBezTo>
                  <a:close/>
                </a:path>
              </a:pathLst>
            </a:custGeom>
            <a:blipFill>
              <a:blip r:embed="rId8"/>
              <a:stretch>
                <a:fillRect l="-25000" t="0" r="-25000" b="0"/>
              </a:stretch>
            </a:blipFill>
          </p:spPr>
        </p:sp>
      </p:grpSp>
      <p:grpSp>
        <p:nvGrpSpPr>
          <p:cNvPr name="Group 7" id="7"/>
          <p:cNvGrpSpPr/>
          <p:nvPr/>
        </p:nvGrpSpPr>
        <p:grpSpPr>
          <a:xfrm rot="0">
            <a:off x="5112077" y="898903"/>
            <a:ext cx="2085499" cy="944994"/>
            <a:chOff x="0" y="0"/>
            <a:chExt cx="2780665" cy="1259992"/>
          </a:xfrm>
        </p:grpSpPr>
        <p:sp>
          <p:nvSpPr>
            <p:cNvPr name="Freeform 8" id="8"/>
            <p:cNvSpPr/>
            <p:nvPr/>
          </p:nvSpPr>
          <p:spPr>
            <a:xfrm flipH="false" flipV="false" rot="0">
              <a:off x="0" y="0"/>
              <a:ext cx="2780665" cy="1259967"/>
            </a:xfrm>
            <a:custGeom>
              <a:avLst/>
              <a:gdLst/>
              <a:ahLst/>
              <a:cxnLst/>
              <a:rect r="r" b="b" t="t" l="l"/>
              <a:pathLst>
                <a:path h="1259967" w="2780665">
                  <a:moveTo>
                    <a:pt x="0" y="0"/>
                  </a:moveTo>
                  <a:lnTo>
                    <a:pt x="2780665" y="0"/>
                  </a:lnTo>
                  <a:lnTo>
                    <a:pt x="2780665" y="1259967"/>
                  </a:lnTo>
                  <a:lnTo>
                    <a:pt x="0" y="1259967"/>
                  </a:lnTo>
                  <a:lnTo>
                    <a:pt x="0" y="0"/>
                  </a:lnTo>
                  <a:close/>
                </a:path>
              </a:pathLst>
            </a:custGeom>
            <a:blipFill>
              <a:blip r:embed="rId9"/>
              <a:stretch>
                <a:fillRect l="0" t="-85" r="0" b="-87"/>
              </a:stretch>
            </a:blipFill>
          </p:spPr>
        </p:sp>
      </p:grpSp>
      <p:sp>
        <p:nvSpPr>
          <p:cNvPr name="Freeform 9" id="9"/>
          <p:cNvSpPr/>
          <p:nvPr/>
        </p:nvSpPr>
        <p:spPr>
          <a:xfrm flipH="false" flipV="false" rot="0">
            <a:off x="1028700" y="1081897"/>
            <a:ext cx="226095" cy="226095"/>
          </a:xfrm>
          <a:custGeom>
            <a:avLst/>
            <a:gdLst/>
            <a:ahLst/>
            <a:cxnLst/>
            <a:rect r="r" b="b" t="t" l="l"/>
            <a:pathLst>
              <a:path h="226095" w="226095">
                <a:moveTo>
                  <a:pt x="0" y="0"/>
                </a:moveTo>
                <a:lnTo>
                  <a:pt x="226095" y="0"/>
                </a:lnTo>
                <a:lnTo>
                  <a:pt x="226095" y="226095"/>
                </a:lnTo>
                <a:lnTo>
                  <a:pt x="0" y="226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028700" y="1434817"/>
            <a:ext cx="226095" cy="226095"/>
          </a:xfrm>
          <a:custGeom>
            <a:avLst/>
            <a:gdLst/>
            <a:ahLst/>
            <a:cxnLst/>
            <a:rect r="r" b="b" t="t" l="l"/>
            <a:pathLst>
              <a:path h="226095" w="226095">
                <a:moveTo>
                  <a:pt x="0" y="226095"/>
                </a:moveTo>
                <a:lnTo>
                  <a:pt x="226095" y="226095"/>
                </a:lnTo>
                <a:lnTo>
                  <a:pt x="226095" y="0"/>
                </a:lnTo>
                <a:lnTo>
                  <a:pt x="0" y="0"/>
                </a:lnTo>
                <a:lnTo>
                  <a:pt x="0" y="22609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false" rot="0">
            <a:off x="1381411" y="1081897"/>
            <a:ext cx="226095" cy="226095"/>
          </a:xfrm>
          <a:custGeom>
            <a:avLst/>
            <a:gdLst/>
            <a:ahLst/>
            <a:cxnLst/>
            <a:rect r="r" b="b" t="t" l="l"/>
            <a:pathLst>
              <a:path h="226095" w="226095">
                <a:moveTo>
                  <a:pt x="226095" y="0"/>
                </a:moveTo>
                <a:lnTo>
                  <a:pt x="0" y="0"/>
                </a:lnTo>
                <a:lnTo>
                  <a:pt x="0" y="226095"/>
                </a:lnTo>
                <a:lnTo>
                  <a:pt x="226095" y="226095"/>
                </a:lnTo>
                <a:lnTo>
                  <a:pt x="226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true" flipV="true" rot="0">
            <a:off x="1381411" y="1434817"/>
            <a:ext cx="226095" cy="226095"/>
          </a:xfrm>
          <a:custGeom>
            <a:avLst/>
            <a:gdLst/>
            <a:ahLst/>
            <a:cxnLst/>
            <a:rect r="r" b="b" t="t" l="l"/>
            <a:pathLst>
              <a:path h="226095" w="226095">
                <a:moveTo>
                  <a:pt x="226095" y="226095"/>
                </a:moveTo>
                <a:lnTo>
                  <a:pt x="0" y="226095"/>
                </a:lnTo>
                <a:lnTo>
                  <a:pt x="0" y="0"/>
                </a:lnTo>
                <a:lnTo>
                  <a:pt x="226095" y="0"/>
                </a:lnTo>
                <a:lnTo>
                  <a:pt x="226095" y="2260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731331" y="928983"/>
            <a:ext cx="2878260" cy="599362"/>
          </a:xfrm>
          <a:prstGeom prst="rect">
            <a:avLst/>
          </a:prstGeom>
        </p:spPr>
        <p:txBody>
          <a:bodyPr anchor="t" rtlCol="false" tIns="0" lIns="0" bIns="0" rIns="0">
            <a:spAutoFit/>
          </a:bodyPr>
          <a:lstStyle/>
          <a:p>
            <a:pPr algn="l">
              <a:lnSpc>
                <a:spcPts val="4582"/>
              </a:lnSpc>
            </a:pPr>
            <a:r>
              <a:rPr lang="en-US" b="true" sz="3272" spc="64">
                <a:solidFill>
                  <a:srgbClr val="2323E6"/>
                </a:solidFill>
                <a:latin typeface="Helvetica World Bold"/>
                <a:ea typeface="Helvetica World Bold"/>
                <a:cs typeface="Helvetica World Bold"/>
                <a:sym typeface="Helvetica World Bold"/>
              </a:rPr>
              <a:t>OR’CHESTRE</a:t>
            </a:r>
          </a:p>
        </p:txBody>
      </p:sp>
      <p:sp>
        <p:nvSpPr>
          <p:cNvPr name="TextBox 14" id="14"/>
          <p:cNvSpPr txBox="true"/>
          <p:nvPr/>
        </p:nvSpPr>
        <p:spPr>
          <a:xfrm rot="0">
            <a:off x="1775993" y="1459030"/>
            <a:ext cx="2723817" cy="219056"/>
          </a:xfrm>
          <a:prstGeom prst="rect">
            <a:avLst/>
          </a:prstGeom>
        </p:spPr>
        <p:txBody>
          <a:bodyPr anchor="t" rtlCol="false" tIns="0" lIns="0" bIns="0" rIns="0">
            <a:spAutoFit/>
          </a:bodyPr>
          <a:lstStyle/>
          <a:p>
            <a:pPr algn="l">
              <a:lnSpc>
                <a:spcPts val="1716"/>
              </a:lnSpc>
            </a:pPr>
            <a:r>
              <a:rPr lang="en-US" sz="1224" spc="317">
                <a:solidFill>
                  <a:srgbClr val="587DFF"/>
                </a:solidFill>
                <a:latin typeface="Helvetica World"/>
                <a:ea typeface="Helvetica World"/>
                <a:cs typeface="Helvetica World"/>
                <a:sym typeface="Helvetica World"/>
              </a:rPr>
              <a:t>PROJET CENTRALE LILLE</a:t>
            </a:r>
          </a:p>
        </p:txBody>
      </p:sp>
      <p:sp>
        <p:nvSpPr>
          <p:cNvPr name="TextBox 15" id="15"/>
          <p:cNvSpPr txBox="true"/>
          <p:nvPr/>
        </p:nvSpPr>
        <p:spPr>
          <a:xfrm rot="0">
            <a:off x="923925" y="5306716"/>
            <a:ext cx="7643012" cy="497840"/>
          </a:xfrm>
          <a:prstGeom prst="rect">
            <a:avLst/>
          </a:prstGeom>
        </p:spPr>
        <p:txBody>
          <a:bodyPr anchor="t" rtlCol="false" tIns="0" lIns="0" bIns="0" rIns="0">
            <a:spAutoFit/>
          </a:bodyPr>
          <a:lstStyle/>
          <a:p>
            <a:pPr algn="l">
              <a:lnSpc>
                <a:spcPts val="4060"/>
              </a:lnSpc>
            </a:pPr>
            <a:r>
              <a:rPr lang="en-US" sz="2900" spc="580">
                <a:solidFill>
                  <a:srgbClr val="587DFF"/>
                </a:solidFill>
                <a:latin typeface="Helvetica World"/>
                <a:ea typeface="Helvetica World"/>
                <a:cs typeface="Helvetica World"/>
                <a:sym typeface="Helvetica World"/>
              </a:rPr>
              <a:t>OUTIL D’AIDE À LA DÉCISION</a:t>
            </a:r>
          </a:p>
        </p:txBody>
      </p:sp>
      <p:sp>
        <p:nvSpPr>
          <p:cNvPr name="TextBox 16" id="16"/>
          <p:cNvSpPr txBox="true"/>
          <p:nvPr/>
        </p:nvSpPr>
        <p:spPr>
          <a:xfrm rot="0">
            <a:off x="866775" y="3891982"/>
            <a:ext cx="7574956" cy="1555086"/>
          </a:xfrm>
          <a:prstGeom prst="rect">
            <a:avLst/>
          </a:prstGeom>
        </p:spPr>
        <p:txBody>
          <a:bodyPr anchor="t" rtlCol="false" tIns="0" lIns="0" bIns="0" rIns="0">
            <a:spAutoFit/>
          </a:bodyPr>
          <a:lstStyle/>
          <a:p>
            <a:pPr algn="l">
              <a:lnSpc>
                <a:spcPts val="11759"/>
              </a:lnSpc>
            </a:pPr>
            <a:r>
              <a:rPr lang="en-US" sz="8399" b="true">
                <a:solidFill>
                  <a:srgbClr val="2323E6"/>
                </a:solidFill>
                <a:latin typeface="Helvetica World Bold"/>
                <a:ea typeface="Helvetica World Bold"/>
                <a:cs typeface="Helvetica World Bold"/>
                <a:sym typeface="Helvetica World Bold"/>
              </a:rPr>
              <a:t>OR’CHESTRE</a:t>
            </a:r>
          </a:p>
        </p:txBody>
      </p:sp>
      <p:sp>
        <p:nvSpPr>
          <p:cNvPr name="TextBox 17" id="17"/>
          <p:cNvSpPr txBox="true"/>
          <p:nvPr/>
        </p:nvSpPr>
        <p:spPr>
          <a:xfrm rot="0">
            <a:off x="17508879" y="9495909"/>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SOMMAIRE</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a:ln cap="sq">
              <a:noFill/>
              <a:prstDash val="solid"/>
              <a:miter/>
            </a:ln>
          </p:spPr>
        </p:sp>
      </p:grpSp>
      <p:sp>
        <p:nvSpPr>
          <p:cNvPr name="TextBox 7" id="7"/>
          <p:cNvSpPr txBox="true"/>
          <p:nvPr/>
        </p:nvSpPr>
        <p:spPr>
          <a:xfrm rot="0">
            <a:off x="777240" y="8281702"/>
            <a:ext cx="16733520" cy="464820"/>
          </a:xfrm>
          <a:prstGeom prst="rect">
            <a:avLst/>
          </a:prstGeom>
        </p:spPr>
        <p:txBody>
          <a:bodyPr anchor="t" rtlCol="false" tIns="0" lIns="0" bIns="0" rIns="0">
            <a:spAutoFit/>
          </a:bodyPr>
          <a:lstStyle/>
          <a:p>
            <a:pPr algn="l">
              <a:lnSpc>
                <a:spcPts val="3359"/>
              </a:lnSpc>
            </a:pPr>
            <a:r>
              <a:rPr lang="en-US" sz="2799" b="true">
                <a:solidFill>
                  <a:srgbClr val="2628ED"/>
                </a:solidFill>
                <a:latin typeface="Helvetica World Bold"/>
                <a:ea typeface="Helvetica World Bold"/>
                <a:cs typeface="Helvetica World Bold"/>
                <a:sym typeface="Helvetica World Bold"/>
              </a:rPr>
              <a:t>Proposition de valeur : une aide à la décision globale, sans retirer le choix au soignant.</a:t>
            </a:r>
          </a:p>
        </p:txBody>
      </p:sp>
      <p:sp>
        <p:nvSpPr>
          <p:cNvPr name="TextBox 8" id="8"/>
          <p:cNvSpPr txBox="true"/>
          <p:nvPr/>
        </p:nvSpPr>
        <p:spPr>
          <a:xfrm rot="0">
            <a:off x="777240" y="1987932"/>
            <a:ext cx="2606040" cy="832104"/>
          </a:xfrm>
          <a:prstGeom prst="rect">
            <a:avLst/>
          </a:prstGeom>
        </p:spPr>
        <p:txBody>
          <a:bodyPr anchor="t" rtlCol="false" tIns="0" lIns="0" bIns="0" rIns="0">
            <a:spAutoFit/>
          </a:bodyPr>
          <a:lstStyle/>
          <a:p>
            <a:pPr algn="l">
              <a:lnSpc>
                <a:spcPts val="5759"/>
              </a:lnSpc>
            </a:pPr>
            <a:r>
              <a:rPr lang="en-US" sz="4800" b="true">
                <a:solidFill>
                  <a:srgbClr val="2628ED"/>
                </a:solidFill>
                <a:latin typeface="Helvetica World Bold"/>
                <a:ea typeface="Helvetica World Bold"/>
                <a:cs typeface="Helvetica World Bold"/>
                <a:sym typeface="Helvetica World Bold"/>
              </a:rPr>
              <a:t>1</a:t>
            </a:r>
          </a:p>
        </p:txBody>
      </p:sp>
      <p:sp>
        <p:nvSpPr>
          <p:cNvPr name="TextBox 9" id="9"/>
          <p:cNvSpPr txBox="true"/>
          <p:nvPr/>
        </p:nvSpPr>
        <p:spPr>
          <a:xfrm rot="0">
            <a:off x="777240" y="2911857"/>
            <a:ext cx="1912541" cy="482600"/>
          </a:xfrm>
          <a:prstGeom prst="rect">
            <a:avLst/>
          </a:prstGeom>
        </p:spPr>
        <p:txBody>
          <a:bodyPr anchor="t" rtlCol="false" tIns="0" lIns="0" bIns="0" rIns="0">
            <a:spAutoFit/>
          </a:bodyPr>
          <a:lstStyle/>
          <a:p>
            <a:pPr algn="l">
              <a:lnSpc>
                <a:spcPts val="3599"/>
              </a:lnSpc>
            </a:pPr>
            <a:r>
              <a:rPr lang="en-US" sz="2999" b="true">
                <a:solidFill>
                  <a:srgbClr val="171C2A"/>
                </a:solidFill>
                <a:latin typeface="Helvetica World Bold"/>
                <a:ea typeface="Helvetica World Bold"/>
                <a:cs typeface="Helvetica World Bold"/>
                <a:sym typeface="Helvetica World Bold"/>
              </a:rPr>
              <a:t>Le constat</a:t>
            </a:r>
          </a:p>
        </p:txBody>
      </p:sp>
      <p:grpSp>
        <p:nvGrpSpPr>
          <p:cNvPr name="Group 10" id="10"/>
          <p:cNvGrpSpPr/>
          <p:nvPr/>
        </p:nvGrpSpPr>
        <p:grpSpPr>
          <a:xfrm rot="0">
            <a:off x="777240" y="3432684"/>
            <a:ext cx="640080" cy="36576"/>
            <a:chOff x="0" y="0"/>
            <a:chExt cx="853440" cy="48768"/>
          </a:xfrm>
        </p:grpSpPr>
        <p:sp>
          <p:nvSpPr>
            <p:cNvPr name="Freeform 11" id="11"/>
            <p:cNvSpPr/>
            <p:nvPr/>
          </p:nvSpPr>
          <p:spPr>
            <a:xfrm flipH="false" flipV="false" rot="0">
              <a:off x="0" y="0"/>
              <a:ext cx="853440" cy="48768"/>
            </a:xfrm>
            <a:custGeom>
              <a:avLst/>
              <a:gdLst/>
              <a:ahLst/>
              <a:cxnLst/>
              <a:rect r="r" b="b" t="t" l="l"/>
              <a:pathLst>
                <a:path h="48768" w="853440">
                  <a:moveTo>
                    <a:pt x="0" y="0"/>
                  </a:moveTo>
                  <a:lnTo>
                    <a:pt x="853440" y="0"/>
                  </a:lnTo>
                  <a:lnTo>
                    <a:pt x="853440" y="48768"/>
                  </a:lnTo>
                  <a:lnTo>
                    <a:pt x="0" y="48768"/>
                  </a:lnTo>
                  <a:close/>
                </a:path>
              </a:pathLst>
            </a:custGeom>
            <a:solidFill>
              <a:srgbClr val="5DE5B5"/>
            </a:solidFill>
          </p:spPr>
        </p:sp>
      </p:grpSp>
      <p:sp>
        <p:nvSpPr>
          <p:cNvPr name="TextBox 12" id="12"/>
          <p:cNvSpPr txBox="true"/>
          <p:nvPr/>
        </p:nvSpPr>
        <p:spPr>
          <a:xfrm rot="0">
            <a:off x="777240" y="3643377"/>
            <a:ext cx="2606040" cy="1438275"/>
          </a:xfrm>
          <a:prstGeom prst="rect">
            <a:avLst/>
          </a:prstGeom>
        </p:spPr>
        <p:txBody>
          <a:bodyPr anchor="t" rtlCol="false" tIns="0" lIns="0" bIns="0" rIns="0">
            <a:spAutoFit/>
          </a:bodyPr>
          <a:lstStyle/>
          <a:p>
            <a:pPr algn="l">
              <a:lnSpc>
                <a:spcPts val="2879"/>
              </a:lnSpc>
            </a:pPr>
            <a:r>
              <a:rPr lang="en-US" sz="2399">
                <a:solidFill>
                  <a:srgbClr val="586776"/>
                </a:solidFill>
                <a:latin typeface="Helvetica World"/>
                <a:ea typeface="Helvetica World"/>
                <a:cs typeface="Helvetica World"/>
                <a:sym typeface="Helvetica World"/>
              </a:rPr>
              <a:t>Activité dense, durées variables, bloc et lits planifiés séparément.</a:t>
            </a:r>
          </a:p>
        </p:txBody>
      </p:sp>
      <p:sp>
        <p:nvSpPr>
          <p:cNvPr name="TextBox 13" id="13"/>
          <p:cNvSpPr txBox="true"/>
          <p:nvPr/>
        </p:nvSpPr>
        <p:spPr>
          <a:xfrm rot="0">
            <a:off x="3602736" y="1987932"/>
            <a:ext cx="2606040" cy="832104"/>
          </a:xfrm>
          <a:prstGeom prst="rect">
            <a:avLst/>
          </a:prstGeom>
        </p:spPr>
        <p:txBody>
          <a:bodyPr anchor="t" rtlCol="false" tIns="0" lIns="0" bIns="0" rIns="0">
            <a:spAutoFit/>
          </a:bodyPr>
          <a:lstStyle/>
          <a:p>
            <a:pPr algn="l">
              <a:lnSpc>
                <a:spcPts val="5759"/>
              </a:lnSpc>
            </a:pPr>
            <a:r>
              <a:rPr lang="en-US" sz="4800" b="true">
                <a:solidFill>
                  <a:srgbClr val="2628ED"/>
                </a:solidFill>
                <a:latin typeface="Helvetica World Bold"/>
                <a:ea typeface="Helvetica World Bold"/>
                <a:cs typeface="Helvetica World Bold"/>
                <a:sym typeface="Helvetica World Bold"/>
              </a:rPr>
              <a:t>2</a:t>
            </a:r>
          </a:p>
        </p:txBody>
      </p:sp>
      <p:sp>
        <p:nvSpPr>
          <p:cNvPr name="TextBox 14" id="14"/>
          <p:cNvSpPr txBox="true"/>
          <p:nvPr/>
        </p:nvSpPr>
        <p:spPr>
          <a:xfrm rot="0">
            <a:off x="3602736" y="2911857"/>
            <a:ext cx="1331317" cy="482600"/>
          </a:xfrm>
          <a:prstGeom prst="rect">
            <a:avLst/>
          </a:prstGeom>
        </p:spPr>
        <p:txBody>
          <a:bodyPr anchor="t" rtlCol="false" tIns="0" lIns="0" bIns="0" rIns="0">
            <a:spAutoFit/>
          </a:bodyPr>
          <a:lstStyle/>
          <a:p>
            <a:pPr algn="l">
              <a:lnSpc>
                <a:spcPts val="3599"/>
              </a:lnSpc>
            </a:pPr>
            <a:r>
              <a:rPr lang="en-US" sz="2999" b="true">
                <a:solidFill>
                  <a:srgbClr val="171C2A"/>
                </a:solidFill>
                <a:latin typeface="Helvetica World Bold"/>
                <a:ea typeface="Helvetica World Bold"/>
                <a:cs typeface="Helvetica World Bold"/>
                <a:sym typeface="Helvetica World Bold"/>
              </a:rPr>
              <a:t>Prédire</a:t>
            </a:r>
          </a:p>
        </p:txBody>
      </p:sp>
      <p:grpSp>
        <p:nvGrpSpPr>
          <p:cNvPr name="Group 15" id="15"/>
          <p:cNvGrpSpPr/>
          <p:nvPr/>
        </p:nvGrpSpPr>
        <p:grpSpPr>
          <a:xfrm rot="0">
            <a:off x="3602736" y="3432684"/>
            <a:ext cx="640080" cy="36576"/>
            <a:chOff x="0" y="0"/>
            <a:chExt cx="853440" cy="48768"/>
          </a:xfrm>
        </p:grpSpPr>
        <p:sp>
          <p:nvSpPr>
            <p:cNvPr name="Freeform 16" id="16"/>
            <p:cNvSpPr/>
            <p:nvPr/>
          </p:nvSpPr>
          <p:spPr>
            <a:xfrm flipH="false" flipV="false" rot="0">
              <a:off x="0" y="0"/>
              <a:ext cx="853440" cy="48768"/>
            </a:xfrm>
            <a:custGeom>
              <a:avLst/>
              <a:gdLst/>
              <a:ahLst/>
              <a:cxnLst/>
              <a:rect r="r" b="b" t="t" l="l"/>
              <a:pathLst>
                <a:path h="48768" w="853440">
                  <a:moveTo>
                    <a:pt x="0" y="0"/>
                  </a:moveTo>
                  <a:lnTo>
                    <a:pt x="853440" y="0"/>
                  </a:lnTo>
                  <a:lnTo>
                    <a:pt x="853440" y="48768"/>
                  </a:lnTo>
                  <a:lnTo>
                    <a:pt x="0" y="48768"/>
                  </a:lnTo>
                  <a:close/>
                </a:path>
              </a:pathLst>
            </a:custGeom>
            <a:solidFill>
              <a:srgbClr val="5DE5B5"/>
            </a:solidFill>
          </p:spPr>
        </p:sp>
      </p:grpSp>
      <p:sp>
        <p:nvSpPr>
          <p:cNvPr name="TextBox 17" id="17"/>
          <p:cNvSpPr txBox="true"/>
          <p:nvPr/>
        </p:nvSpPr>
        <p:spPr>
          <a:xfrm rot="0">
            <a:off x="3602736" y="3643377"/>
            <a:ext cx="2606040" cy="1076325"/>
          </a:xfrm>
          <a:prstGeom prst="rect">
            <a:avLst/>
          </a:prstGeom>
        </p:spPr>
        <p:txBody>
          <a:bodyPr anchor="t" rtlCol="false" tIns="0" lIns="0" bIns="0" rIns="0">
            <a:spAutoFit/>
          </a:bodyPr>
          <a:lstStyle/>
          <a:p>
            <a:pPr algn="l">
              <a:lnSpc>
                <a:spcPts val="2879"/>
              </a:lnSpc>
            </a:pPr>
            <a:r>
              <a:rPr lang="en-US" sz="2399">
                <a:solidFill>
                  <a:srgbClr val="586776"/>
                </a:solidFill>
                <a:latin typeface="Helvetica World"/>
                <a:ea typeface="Helvetica World"/>
                <a:cs typeface="Helvetica World"/>
                <a:sym typeface="Helvetica World"/>
              </a:rPr>
              <a:t>Estimer chaque patient dès la consultation.</a:t>
            </a:r>
          </a:p>
        </p:txBody>
      </p:sp>
      <p:sp>
        <p:nvSpPr>
          <p:cNvPr name="TextBox 18" id="18"/>
          <p:cNvSpPr txBox="true"/>
          <p:nvPr/>
        </p:nvSpPr>
        <p:spPr>
          <a:xfrm rot="0">
            <a:off x="6428232" y="1987932"/>
            <a:ext cx="2606040" cy="832104"/>
          </a:xfrm>
          <a:prstGeom prst="rect">
            <a:avLst/>
          </a:prstGeom>
        </p:spPr>
        <p:txBody>
          <a:bodyPr anchor="t" rtlCol="false" tIns="0" lIns="0" bIns="0" rIns="0">
            <a:spAutoFit/>
          </a:bodyPr>
          <a:lstStyle/>
          <a:p>
            <a:pPr algn="l">
              <a:lnSpc>
                <a:spcPts val="5759"/>
              </a:lnSpc>
            </a:pPr>
            <a:r>
              <a:rPr lang="en-US" sz="4800" b="true">
                <a:solidFill>
                  <a:srgbClr val="2628ED"/>
                </a:solidFill>
                <a:latin typeface="Helvetica World Bold"/>
                <a:ea typeface="Helvetica World Bold"/>
                <a:cs typeface="Helvetica World Bold"/>
                <a:sym typeface="Helvetica World Bold"/>
              </a:rPr>
              <a:t>3</a:t>
            </a:r>
          </a:p>
        </p:txBody>
      </p:sp>
      <p:sp>
        <p:nvSpPr>
          <p:cNvPr name="TextBox 19" id="19"/>
          <p:cNvSpPr txBox="true"/>
          <p:nvPr/>
        </p:nvSpPr>
        <p:spPr>
          <a:xfrm rot="0">
            <a:off x="6428232" y="2911857"/>
            <a:ext cx="1512590" cy="482600"/>
          </a:xfrm>
          <a:prstGeom prst="rect">
            <a:avLst/>
          </a:prstGeom>
        </p:spPr>
        <p:txBody>
          <a:bodyPr anchor="t" rtlCol="false" tIns="0" lIns="0" bIns="0" rIns="0">
            <a:spAutoFit/>
          </a:bodyPr>
          <a:lstStyle/>
          <a:p>
            <a:pPr algn="l">
              <a:lnSpc>
                <a:spcPts val="3599"/>
              </a:lnSpc>
            </a:pPr>
            <a:r>
              <a:rPr lang="en-US" sz="2999" b="true">
                <a:solidFill>
                  <a:srgbClr val="171C2A"/>
                </a:solidFill>
                <a:latin typeface="Helvetica World Bold"/>
                <a:ea typeface="Helvetica World Bold"/>
                <a:cs typeface="Helvetica World Bold"/>
                <a:sym typeface="Helvetica World Bold"/>
              </a:rPr>
              <a:t>Planifier</a:t>
            </a:r>
          </a:p>
        </p:txBody>
      </p:sp>
      <p:grpSp>
        <p:nvGrpSpPr>
          <p:cNvPr name="Group 20" id="20"/>
          <p:cNvGrpSpPr/>
          <p:nvPr/>
        </p:nvGrpSpPr>
        <p:grpSpPr>
          <a:xfrm rot="0">
            <a:off x="6428232" y="3432684"/>
            <a:ext cx="640080" cy="36576"/>
            <a:chOff x="0" y="0"/>
            <a:chExt cx="853440" cy="48768"/>
          </a:xfrm>
        </p:grpSpPr>
        <p:sp>
          <p:nvSpPr>
            <p:cNvPr name="Freeform 21" id="21"/>
            <p:cNvSpPr/>
            <p:nvPr/>
          </p:nvSpPr>
          <p:spPr>
            <a:xfrm flipH="false" flipV="false" rot="0">
              <a:off x="0" y="0"/>
              <a:ext cx="853440" cy="48768"/>
            </a:xfrm>
            <a:custGeom>
              <a:avLst/>
              <a:gdLst/>
              <a:ahLst/>
              <a:cxnLst/>
              <a:rect r="r" b="b" t="t" l="l"/>
              <a:pathLst>
                <a:path h="48768" w="853440">
                  <a:moveTo>
                    <a:pt x="0" y="0"/>
                  </a:moveTo>
                  <a:lnTo>
                    <a:pt x="853440" y="0"/>
                  </a:lnTo>
                  <a:lnTo>
                    <a:pt x="853440" y="48768"/>
                  </a:lnTo>
                  <a:lnTo>
                    <a:pt x="0" y="48768"/>
                  </a:lnTo>
                  <a:close/>
                </a:path>
              </a:pathLst>
            </a:custGeom>
            <a:solidFill>
              <a:srgbClr val="5DE5B5"/>
            </a:solidFill>
          </p:spPr>
        </p:sp>
      </p:grpSp>
      <p:sp>
        <p:nvSpPr>
          <p:cNvPr name="TextBox 22" id="22"/>
          <p:cNvSpPr txBox="true"/>
          <p:nvPr/>
        </p:nvSpPr>
        <p:spPr>
          <a:xfrm rot="0">
            <a:off x="6428232" y="3643377"/>
            <a:ext cx="2606040" cy="1438275"/>
          </a:xfrm>
          <a:prstGeom prst="rect">
            <a:avLst/>
          </a:prstGeom>
        </p:spPr>
        <p:txBody>
          <a:bodyPr anchor="t" rtlCol="false" tIns="0" lIns="0" bIns="0" rIns="0">
            <a:spAutoFit/>
          </a:bodyPr>
          <a:lstStyle/>
          <a:p>
            <a:pPr algn="l">
              <a:lnSpc>
                <a:spcPts val="2879"/>
              </a:lnSpc>
            </a:pPr>
            <a:r>
              <a:rPr lang="en-US" sz="2399">
                <a:solidFill>
                  <a:srgbClr val="586776"/>
                </a:solidFill>
                <a:latin typeface="Helvetica World"/>
                <a:ea typeface="Helvetica World"/>
                <a:cs typeface="Helvetica World"/>
                <a:sym typeface="Helvetica World"/>
              </a:rPr>
              <a:t>Programmer la semaine sans saturer lits et places.</a:t>
            </a:r>
          </a:p>
        </p:txBody>
      </p:sp>
      <p:sp>
        <p:nvSpPr>
          <p:cNvPr name="TextBox 23" id="23"/>
          <p:cNvSpPr txBox="true"/>
          <p:nvPr/>
        </p:nvSpPr>
        <p:spPr>
          <a:xfrm rot="0">
            <a:off x="9253728" y="1987932"/>
            <a:ext cx="2606040" cy="832104"/>
          </a:xfrm>
          <a:prstGeom prst="rect">
            <a:avLst/>
          </a:prstGeom>
        </p:spPr>
        <p:txBody>
          <a:bodyPr anchor="t" rtlCol="false" tIns="0" lIns="0" bIns="0" rIns="0">
            <a:spAutoFit/>
          </a:bodyPr>
          <a:lstStyle/>
          <a:p>
            <a:pPr algn="l">
              <a:lnSpc>
                <a:spcPts val="5759"/>
              </a:lnSpc>
            </a:pPr>
            <a:r>
              <a:rPr lang="en-US" sz="4800" b="true">
                <a:solidFill>
                  <a:srgbClr val="2628ED"/>
                </a:solidFill>
                <a:latin typeface="Helvetica World Bold"/>
                <a:ea typeface="Helvetica World Bold"/>
                <a:cs typeface="Helvetica World Bold"/>
                <a:sym typeface="Helvetica World Bold"/>
              </a:rPr>
              <a:t>4</a:t>
            </a:r>
          </a:p>
        </p:txBody>
      </p:sp>
      <p:sp>
        <p:nvSpPr>
          <p:cNvPr name="TextBox 24" id="24"/>
          <p:cNvSpPr txBox="true"/>
          <p:nvPr/>
        </p:nvSpPr>
        <p:spPr>
          <a:xfrm rot="0">
            <a:off x="9253728" y="2911857"/>
            <a:ext cx="1456829" cy="482600"/>
          </a:xfrm>
          <a:prstGeom prst="rect">
            <a:avLst/>
          </a:prstGeom>
        </p:spPr>
        <p:txBody>
          <a:bodyPr anchor="t" rtlCol="false" tIns="0" lIns="0" bIns="0" rIns="0">
            <a:spAutoFit/>
          </a:bodyPr>
          <a:lstStyle/>
          <a:p>
            <a:pPr algn="l">
              <a:lnSpc>
                <a:spcPts val="3599"/>
              </a:lnSpc>
            </a:pPr>
            <a:r>
              <a:rPr lang="en-US" sz="2999" b="true">
                <a:solidFill>
                  <a:srgbClr val="171C2A"/>
                </a:solidFill>
                <a:latin typeface="Helvetica World Bold"/>
                <a:ea typeface="Helvetica World Bold"/>
                <a:cs typeface="Helvetica World Bold"/>
                <a:sym typeface="Helvetica World Bold"/>
              </a:rPr>
              <a:t>Adapter</a:t>
            </a:r>
          </a:p>
        </p:txBody>
      </p:sp>
      <p:grpSp>
        <p:nvGrpSpPr>
          <p:cNvPr name="Group 25" id="25"/>
          <p:cNvGrpSpPr/>
          <p:nvPr/>
        </p:nvGrpSpPr>
        <p:grpSpPr>
          <a:xfrm rot="0">
            <a:off x="9253728" y="3432684"/>
            <a:ext cx="640080" cy="36576"/>
            <a:chOff x="0" y="0"/>
            <a:chExt cx="853440" cy="48768"/>
          </a:xfrm>
        </p:grpSpPr>
        <p:sp>
          <p:nvSpPr>
            <p:cNvPr name="Freeform 26" id="26"/>
            <p:cNvSpPr/>
            <p:nvPr/>
          </p:nvSpPr>
          <p:spPr>
            <a:xfrm flipH="false" flipV="false" rot="0">
              <a:off x="0" y="0"/>
              <a:ext cx="853440" cy="48768"/>
            </a:xfrm>
            <a:custGeom>
              <a:avLst/>
              <a:gdLst/>
              <a:ahLst/>
              <a:cxnLst/>
              <a:rect r="r" b="b" t="t" l="l"/>
              <a:pathLst>
                <a:path h="48768" w="853440">
                  <a:moveTo>
                    <a:pt x="0" y="0"/>
                  </a:moveTo>
                  <a:lnTo>
                    <a:pt x="853440" y="0"/>
                  </a:lnTo>
                  <a:lnTo>
                    <a:pt x="853440" y="48768"/>
                  </a:lnTo>
                  <a:lnTo>
                    <a:pt x="0" y="48768"/>
                  </a:lnTo>
                  <a:close/>
                </a:path>
              </a:pathLst>
            </a:custGeom>
            <a:solidFill>
              <a:srgbClr val="5DE5B5"/>
            </a:solidFill>
          </p:spPr>
        </p:sp>
      </p:grpSp>
      <p:sp>
        <p:nvSpPr>
          <p:cNvPr name="TextBox 27" id="27"/>
          <p:cNvSpPr txBox="true"/>
          <p:nvPr/>
        </p:nvSpPr>
        <p:spPr>
          <a:xfrm rot="0">
            <a:off x="9253728" y="3643377"/>
            <a:ext cx="2606040" cy="1076325"/>
          </a:xfrm>
          <a:prstGeom prst="rect">
            <a:avLst/>
          </a:prstGeom>
        </p:spPr>
        <p:txBody>
          <a:bodyPr anchor="t" rtlCol="false" tIns="0" lIns="0" bIns="0" rIns="0">
            <a:spAutoFit/>
          </a:bodyPr>
          <a:lstStyle/>
          <a:p>
            <a:pPr algn="l">
              <a:lnSpc>
                <a:spcPts val="2879"/>
              </a:lnSpc>
            </a:pPr>
            <a:r>
              <a:rPr lang="en-US" sz="2399">
                <a:solidFill>
                  <a:srgbClr val="586776"/>
                </a:solidFill>
                <a:latin typeface="Helvetica World"/>
                <a:ea typeface="Helvetica World"/>
                <a:cs typeface="Helvetica World"/>
                <a:sym typeface="Helvetica World"/>
              </a:rPr>
              <a:t>Absorber urgences et pannes en temps réel.</a:t>
            </a:r>
          </a:p>
        </p:txBody>
      </p:sp>
      <p:sp>
        <p:nvSpPr>
          <p:cNvPr name="TextBox 28" id="28"/>
          <p:cNvSpPr txBox="true"/>
          <p:nvPr/>
        </p:nvSpPr>
        <p:spPr>
          <a:xfrm rot="0">
            <a:off x="12079224" y="1987932"/>
            <a:ext cx="2606040" cy="832104"/>
          </a:xfrm>
          <a:prstGeom prst="rect">
            <a:avLst/>
          </a:prstGeom>
        </p:spPr>
        <p:txBody>
          <a:bodyPr anchor="t" rtlCol="false" tIns="0" lIns="0" bIns="0" rIns="0">
            <a:spAutoFit/>
          </a:bodyPr>
          <a:lstStyle/>
          <a:p>
            <a:pPr algn="l">
              <a:lnSpc>
                <a:spcPts val="5759"/>
              </a:lnSpc>
            </a:pPr>
            <a:r>
              <a:rPr lang="en-US" sz="4800" b="true">
                <a:solidFill>
                  <a:srgbClr val="2628ED"/>
                </a:solidFill>
                <a:latin typeface="Helvetica World Bold"/>
                <a:ea typeface="Helvetica World Bold"/>
                <a:cs typeface="Helvetica World Bold"/>
                <a:sym typeface="Helvetica World Bold"/>
              </a:rPr>
              <a:t>5</a:t>
            </a:r>
          </a:p>
        </p:txBody>
      </p:sp>
      <p:sp>
        <p:nvSpPr>
          <p:cNvPr name="TextBox 29" id="29"/>
          <p:cNvSpPr txBox="true"/>
          <p:nvPr/>
        </p:nvSpPr>
        <p:spPr>
          <a:xfrm rot="0">
            <a:off x="12079224" y="2911857"/>
            <a:ext cx="2076538" cy="482600"/>
          </a:xfrm>
          <a:prstGeom prst="rect">
            <a:avLst/>
          </a:prstGeom>
        </p:spPr>
        <p:txBody>
          <a:bodyPr anchor="t" rtlCol="false" tIns="0" lIns="0" bIns="0" rIns="0">
            <a:spAutoFit/>
          </a:bodyPr>
          <a:lstStyle/>
          <a:p>
            <a:pPr algn="l">
              <a:lnSpc>
                <a:spcPts val="3599"/>
              </a:lnSpc>
            </a:pPr>
            <a:r>
              <a:rPr lang="en-US" sz="2999" b="true">
                <a:solidFill>
                  <a:srgbClr val="171C2A"/>
                </a:solidFill>
                <a:latin typeface="Helvetica World Bold"/>
                <a:ea typeface="Helvetica World Bold"/>
                <a:cs typeface="Helvetica World Bold"/>
                <a:sym typeface="Helvetica World Bold"/>
              </a:rPr>
              <a:t>Le site</a:t>
            </a:r>
          </a:p>
        </p:txBody>
      </p:sp>
      <p:grpSp>
        <p:nvGrpSpPr>
          <p:cNvPr name="Group 30" id="30"/>
          <p:cNvGrpSpPr/>
          <p:nvPr/>
        </p:nvGrpSpPr>
        <p:grpSpPr>
          <a:xfrm rot="0">
            <a:off x="12079224" y="3432684"/>
            <a:ext cx="640080" cy="36576"/>
            <a:chOff x="0" y="0"/>
            <a:chExt cx="853440" cy="48768"/>
          </a:xfrm>
        </p:grpSpPr>
        <p:sp>
          <p:nvSpPr>
            <p:cNvPr name="Freeform 31" id="31"/>
            <p:cNvSpPr/>
            <p:nvPr/>
          </p:nvSpPr>
          <p:spPr>
            <a:xfrm flipH="false" flipV="false" rot="0">
              <a:off x="0" y="0"/>
              <a:ext cx="853440" cy="48768"/>
            </a:xfrm>
            <a:custGeom>
              <a:avLst/>
              <a:gdLst/>
              <a:ahLst/>
              <a:cxnLst/>
              <a:rect r="r" b="b" t="t" l="l"/>
              <a:pathLst>
                <a:path h="48768" w="853440">
                  <a:moveTo>
                    <a:pt x="0" y="0"/>
                  </a:moveTo>
                  <a:lnTo>
                    <a:pt x="853440" y="0"/>
                  </a:lnTo>
                  <a:lnTo>
                    <a:pt x="853440" y="48768"/>
                  </a:lnTo>
                  <a:lnTo>
                    <a:pt x="0" y="48768"/>
                  </a:lnTo>
                  <a:close/>
                </a:path>
              </a:pathLst>
            </a:custGeom>
            <a:solidFill>
              <a:srgbClr val="5DE5B5"/>
            </a:solidFill>
          </p:spPr>
        </p:sp>
      </p:grpSp>
      <p:sp>
        <p:nvSpPr>
          <p:cNvPr name="TextBox 32" id="32"/>
          <p:cNvSpPr txBox="true"/>
          <p:nvPr/>
        </p:nvSpPr>
        <p:spPr>
          <a:xfrm rot="0">
            <a:off x="12079224" y="3643377"/>
            <a:ext cx="2689505" cy="1076325"/>
          </a:xfrm>
          <a:prstGeom prst="rect">
            <a:avLst/>
          </a:prstGeom>
        </p:spPr>
        <p:txBody>
          <a:bodyPr anchor="t" rtlCol="false" tIns="0" lIns="0" bIns="0" rIns="0">
            <a:spAutoFit/>
          </a:bodyPr>
          <a:lstStyle/>
          <a:p>
            <a:pPr algn="l">
              <a:lnSpc>
                <a:spcPts val="2879"/>
              </a:lnSpc>
            </a:pPr>
            <a:r>
              <a:rPr lang="en-US" sz="2399">
                <a:solidFill>
                  <a:srgbClr val="586776"/>
                </a:solidFill>
                <a:latin typeface="Helvetica World"/>
                <a:ea typeface="Helvetica World"/>
                <a:cs typeface="Helvetica World"/>
                <a:sym typeface="Helvetica World"/>
              </a:rPr>
              <a:t>Un outil web par métier, sécurisé et respect des normes</a:t>
            </a:r>
          </a:p>
        </p:txBody>
      </p:sp>
      <p:sp>
        <p:nvSpPr>
          <p:cNvPr name="TextBox 33" id="33"/>
          <p:cNvSpPr txBox="true"/>
          <p:nvPr/>
        </p:nvSpPr>
        <p:spPr>
          <a:xfrm rot="0">
            <a:off x="14904720" y="1987932"/>
            <a:ext cx="2606040" cy="832104"/>
          </a:xfrm>
          <a:prstGeom prst="rect">
            <a:avLst/>
          </a:prstGeom>
        </p:spPr>
        <p:txBody>
          <a:bodyPr anchor="t" rtlCol="false" tIns="0" lIns="0" bIns="0" rIns="0">
            <a:spAutoFit/>
          </a:bodyPr>
          <a:lstStyle/>
          <a:p>
            <a:pPr algn="l">
              <a:lnSpc>
                <a:spcPts val="5759"/>
              </a:lnSpc>
            </a:pPr>
            <a:r>
              <a:rPr lang="en-US" sz="4800" b="true">
                <a:solidFill>
                  <a:srgbClr val="2628ED"/>
                </a:solidFill>
                <a:latin typeface="Helvetica World Bold"/>
                <a:ea typeface="Helvetica World Bold"/>
                <a:cs typeface="Helvetica World Bold"/>
                <a:sym typeface="Helvetica World Bold"/>
              </a:rPr>
              <a:t>6</a:t>
            </a:r>
          </a:p>
        </p:txBody>
      </p:sp>
      <p:sp>
        <p:nvSpPr>
          <p:cNvPr name="TextBox 34" id="34"/>
          <p:cNvSpPr txBox="true"/>
          <p:nvPr/>
        </p:nvSpPr>
        <p:spPr>
          <a:xfrm rot="0">
            <a:off x="14904720" y="2911857"/>
            <a:ext cx="929680" cy="482600"/>
          </a:xfrm>
          <a:prstGeom prst="rect">
            <a:avLst/>
          </a:prstGeom>
        </p:spPr>
        <p:txBody>
          <a:bodyPr anchor="t" rtlCol="false" tIns="0" lIns="0" bIns="0" rIns="0">
            <a:spAutoFit/>
          </a:bodyPr>
          <a:lstStyle/>
          <a:p>
            <a:pPr algn="l">
              <a:lnSpc>
                <a:spcPts val="3599"/>
              </a:lnSpc>
            </a:pPr>
            <a:r>
              <a:rPr lang="en-US" sz="2999" b="true">
                <a:solidFill>
                  <a:srgbClr val="171C2A"/>
                </a:solidFill>
                <a:latin typeface="Helvetica World Bold"/>
                <a:ea typeface="Helvetica World Bold"/>
                <a:cs typeface="Helvetica World Bold"/>
                <a:sym typeface="Helvetica World Bold"/>
              </a:rPr>
              <a:t>Bilan</a:t>
            </a:r>
          </a:p>
        </p:txBody>
      </p:sp>
      <p:grpSp>
        <p:nvGrpSpPr>
          <p:cNvPr name="Group 35" id="35"/>
          <p:cNvGrpSpPr/>
          <p:nvPr/>
        </p:nvGrpSpPr>
        <p:grpSpPr>
          <a:xfrm rot="0">
            <a:off x="14904720" y="3432684"/>
            <a:ext cx="640080" cy="36576"/>
            <a:chOff x="0" y="0"/>
            <a:chExt cx="853440" cy="48768"/>
          </a:xfrm>
        </p:grpSpPr>
        <p:sp>
          <p:nvSpPr>
            <p:cNvPr name="Freeform 36" id="36"/>
            <p:cNvSpPr/>
            <p:nvPr/>
          </p:nvSpPr>
          <p:spPr>
            <a:xfrm flipH="false" flipV="false" rot="0">
              <a:off x="0" y="0"/>
              <a:ext cx="853440" cy="48768"/>
            </a:xfrm>
            <a:custGeom>
              <a:avLst/>
              <a:gdLst/>
              <a:ahLst/>
              <a:cxnLst/>
              <a:rect r="r" b="b" t="t" l="l"/>
              <a:pathLst>
                <a:path h="48768" w="853440">
                  <a:moveTo>
                    <a:pt x="0" y="0"/>
                  </a:moveTo>
                  <a:lnTo>
                    <a:pt x="853440" y="0"/>
                  </a:lnTo>
                  <a:lnTo>
                    <a:pt x="853440" y="48768"/>
                  </a:lnTo>
                  <a:lnTo>
                    <a:pt x="0" y="48768"/>
                  </a:lnTo>
                  <a:close/>
                </a:path>
              </a:pathLst>
            </a:custGeom>
            <a:solidFill>
              <a:srgbClr val="5DE5B5"/>
            </a:solidFill>
          </p:spPr>
        </p:sp>
      </p:grpSp>
      <p:sp>
        <p:nvSpPr>
          <p:cNvPr name="TextBox 37" id="37"/>
          <p:cNvSpPr txBox="true"/>
          <p:nvPr/>
        </p:nvSpPr>
        <p:spPr>
          <a:xfrm rot="0">
            <a:off x="14904720" y="3643377"/>
            <a:ext cx="2606040" cy="714375"/>
          </a:xfrm>
          <a:prstGeom prst="rect">
            <a:avLst/>
          </a:prstGeom>
        </p:spPr>
        <p:txBody>
          <a:bodyPr anchor="t" rtlCol="false" tIns="0" lIns="0" bIns="0" rIns="0">
            <a:spAutoFit/>
          </a:bodyPr>
          <a:lstStyle/>
          <a:p>
            <a:pPr algn="l">
              <a:lnSpc>
                <a:spcPts val="2879"/>
              </a:lnSpc>
            </a:pPr>
            <a:r>
              <a:rPr lang="en-US" sz="2399">
                <a:solidFill>
                  <a:srgbClr val="586776"/>
                </a:solidFill>
                <a:latin typeface="Helvetica World"/>
                <a:ea typeface="Helvetica World"/>
                <a:cs typeface="Helvetica World"/>
                <a:sym typeface="Helvetica World"/>
              </a:rPr>
              <a:t>Résultats mesurés, limites, pilote.</a:t>
            </a:r>
          </a:p>
        </p:txBody>
      </p:sp>
      <p:grpSp>
        <p:nvGrpSpPr>
          <p:cNvPr name="Group 38" id="38"/>
          <p:cNvGrpSpPr/>
          <p:nvPr/>
        </p:nvGrpSpPr>
        <p:grpSpPr>
          <a:xfrm rot="0">
            <a:off x="777240" y="5624577"/>
            <a:ext cx="16733520" cy="871188"/>
            <a:chOff x="0" y="0"/>
            <a:chExt cx="22311360" cy="1161584"/>
          </a:xfrm>
        </p:grpSpPr>
        <p:sp>
          <p:nvSpPr>
            <p:cNvPr name="Freeform 39" id="39"/>
            <p:cNvSpPr/>
            <p:nvPr/>
          </p:nvSpPr>
          <p:spPr>
            <a:xfrm flipH="false" flipV="false" rot="0">
              <a:off x="0" y="0"/>
              <a:ext cx="22311361" cy="1161584"/>
            </a:xfrm>
            <a:custGeom>
              <a:avLst/>
              <a:gdLst/>
              <a:ahLst/>
              <a:cxnLst/>
              <a:rect r="r" b="b" t="t" l="l"/>
              <a:pathLst>
                <a:path h="1161584" w="22311361">
                  <a:moveTo>
                    <a:pt x="0" y="0"/>
                  </a:moveTo>
                  <a:lnTo>
                    <a:pt x="22311361" y="0"/>
                  </a:lnTo>
                  <a:lnTo>
                    <a:pt x="22311361" y="1161584"/>
                  </a:lnTo>
                  <a:lnTo>
                    <a:pt x="0" y="1161584"/>
                  </a:lnTo>
                  <a:close/>
                </a:path>
              </a:pathLst>
            </a:custGeom>
            <a:solidFill>
              <a:srgbClr val="171C2A"/>
            </a:solidFill>
          </p:spPr>
        </p:sp>
        <p:sp>
          <p:nvSpPr>
            <p:cNvPr name="TextBox 40" id="40"/>
            <p:cNvSpPr txBox="true"/>
            <p:nvPr/>
          </p:nvSpPr>
          <p:spPr>
            <a:xfrm>
              <a:off x="0" y="9525"/>
              <a:ext cx="2231136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Question traitée</a:t>
              </a:r>
            </a:p>
          </p:txBody>
        </p:sp>
      </p:grpSp>
      <p:sp>
        <p:nvSpPr>
          <p:cNvPr name="TextBox 41" id="41"/>
          <p:cNvSpPr txBox="true"/>
          <p:nvPr/>
        </p:nvSpPr>
        <p:spPr>
          <a:xfrm rot="0">
            <a:off x="777240" y="6657690"/>
            <a:ext cx="16331184" cy="995362"/>
          </a:xfrm>
          <a:prstGeom prst="rect">
            <a:avLst/>
          </a:prstGeom>
        </p:spPr>
        <p:txBody>
          <a:bodyPr anchor="t" rtlCol="false" tIns="0" lIns="0" bIns="0" rIns="0">
            <a:spAutoFit/>
          </a:bodyPr>
          <a:lstStyle/>
          <a:p>
            <a:pPr algn="l">
              <a:lnSpc>
                <a:spcPts val="3600"/>
              </a:lnSpc>
            </a:pPr>
            <a:r>
              <a:rPr lang="en-US" sz="3000">
                <a:solidFill>
                  <a:srgbClr val="171C2A"/>
                </a:solidFill>
                <a:latin typeface="Helvetica World"/>
                <a:ea typeface="Helvetica World"/>
                <a:cs typeface="Helvetica World"/>
                <a:sym typeface="Helvetica World"/>
              </a:rPr>
              <a:t>Comment remplir les vacations du bloc </a:t>
            </a:r>
            <a:r>
              <a:rPr lang="en-US" sz="3000" b="true">
                <a:solidFill>
                  <a:srgbClr val="171C2A"/>
                </a:solidFill>
                <a:latin typeface="Helvetica World Bold"/>
                <a:ea typeface="Helvetica World Bold"/>
                <a:cs typeface="Helvetica World Bold"/>
                <a:sym typeface="Helvetica World Bold"/>
              </a:rPr>
              <a:t>sans saturer les lits ni les places d'ambulatoire</a:t>
            </a:r>
            <a:r>
              <a:rPr lang="en-US" sz="3000">
                <a:solidFill>
                  <a:srgbClr val="171C2A"/>
                </a:solidFill>
                <a:latin typeface="Helvetica World"/>
                <a:ea typeface="Helvetica World"/>
                <a:cs typeface="Helvetica World"/>
                <a:sym typeface="Helvetica World"/>
              </a:rPr>
              <a:t>, et garder ce programme valide quand une </a:t>
            </a:r>
            <a:r>
              <a:rPr lang="en-US" sz="3000" b="true">
                <a:solidFill>
                  <a:srgbClr val="171C2A"/>
                </a:solidFill>
                <a:latin typeface="Helvetica World Bold"/>
                <a:ea typeface="Helvetica World Bold"/>
                <a:cs typeface="Helvetica World Bold"/>
                <a:sym typeface="Helvetica World Bold"/>
              </a:rPr>
              <a:t>urgence ou une panne</a:t>
            </a:r>
            <a:r>
              <a:rPr lang="en-US" sz="3000">
                <a:solidFill>
                  <a:srgbClr val="171C2A"/>
                </a:solidFill>
                <a:latin typeface="Helvetica World"/>
                <a:ea typeface="Helvetica World"/>
                <a:cs typeface="Helvetica World"/>
                <a:sym typeface="Helvetica World"/>
              </a:rPr>
              <a:t> survient ?</a:t>
            </a:r>
          </a:p>
        </p:txBody>
      </p:sp>
      <p:grpSp>
        <p:nvGrpSpPr>
          <p:cNvPr name="Group 42" id="42"/>
          <p:cNvGrpSpPr/>
          <p:nvPr/>
        </p:nvGrpSpPr>
        <p:grpSpPr>
          <a:xfrm rot="0">
            <a:off x="453390" y="9699939"/>
            <a:ext cx="2230494" cy="396881"/>
            <a:chOff x="0" y="0"/>
            <a:chExt cx="2973991" cy="529175"/>
          </a:xfrm>
        </p:grpSpPr>
        <p:sp>
          <p:nvSpPr>
            <p:cNvPr name="Freeform 43" id="43"/>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4" id="44"/>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5" id="45"/>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6" id="46"/>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7" id="47"/>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48" id="48"/>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49" id="4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CONTEXTE</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TextBox 7" id="7"/>
          <p:cNvSpPr txBox="true"/>
          <p:nvPr/>
        </p:nvSpPr>
        <p:spPr>
          <a:xfrm rot="0">
            <a:off x="777240" y="8238142"/>
            <a:ext cx="16733520" cy="927100"/>
          </a:xfrm>
          <a:prstGeom prst="rect">
            <a:avLst/>
          </a:prstGeom>
        </p:spPr>
        <p:txBody>
          <a:bodyPr anchor="t" rtlCol="false" tIns="0" lIns="0" bIns="0" rIns="0">
            <a:spAutoFit/>
          </a:bodyPr>
          <a:lstStyle/>
          <a:p>
            <a:pPr algn="l">
              <a:lnSpc>
                <a:spcPts val="3359"/>
              </a:lnSpc>
            </a:pPr>
            <a:r>
              <a:rPr lang="en-US" b="true" sz="2799">
                <a:solidFill>
                  <a:srgbClr val="171C2A"/>
                </a:solidFill>
                <a:latin typeface="Helvetica World Bold"/>
                <a:ea typeface="Helvetica World Bold"/>
                <a:cs typeface="Helvetica World Bold"/>
                <a:sym typeface="Helvetica World Bold"/>
              </a:rPr>
              <a:t>Une vacation ne crée de valeur que si le patient a un lit ou une place à la sortie de salle : il faut optimiser les deux ressources ensemble.</a:t>
            </a:r>
          </a:p>
        </p:txBody>
      </p:sp>
      <p:grpSp>
        <p:nvGrpSpPr>
          <p:cNvPr name="Group 8" id="8"/>
          <p:cNvGrpSpPr/>
          <p:nvPr/>
        </p:nvGrpSpPr>
        <p:grpSpPr>
          <a:xfrm rot="0">
            <a:off x="764543" y="3233423"/>
            <a:ext cx="3591563" cy="1579880"/>
            <a:chOff x="0" y="0"/>
            <a:chExt cx="4788751" cy="2106507"/>
          </a:xfrm>
        </p:grpSpPr>
        <p:sp>
          <p:nvSpPr>
            <p:cNvPr name="Freeform 9" id="9"/>
            <p:cNvSpPr/>
            <p:nvPr/>
          </p:nvSpPr>
          <p:spPr>
            <a:xfrm flipH="false" flipV="false" rot="0">
              <a:off x="0" y="0"/>
              <a:ext cx="4788789" cy="2106545"/>
            </a:xfrm>
            <a:custGeom>
              <a:avLst/>
              <a:gdLst/>
              <a:ahLst/>
              <a:cxnLst/>
              <a:rect r="r" b="b" t="t" l="l"/>
              <a:pathLst>
                <a:path h="2106545" w="4788789">
                  <a:moveTo>
                    <a:pt x="0" y="168529"/>
                  </a:moveTo>
                  <a:cubicBezTo>
                    <a:pt x="0" y="75438"/>
                    <a:pt x="75438" y="0"/>
                    <a:pt x="168529" y="0"/>
                  </a:cubicBezTo>
                  <a:lnTo>
                    <a:pt x="4620260" y="0"/>
                  </a:lnTo>
                  <a:cubicBezTo>
                    <a:pt x="4713351" y="0"/>
                    <a:pt x="4788789" y="75438"/>
                    <a:pt x="4788789" y="168529"/>
                  </a:cubicBezTo>
                  <a:lnTo>
                    <a:pt x="4788789" y="1938016"/>
                  </a:lnTo>
                  <a:cubicBezTo>
                    <a:pt x="4788789" y="2031107"/>
                    <a:pt x="4713351" y="2106545"/>
                    <a:pt x="4620260" y="2106545"/>
                  </a:cubicBezTo>
                  <a:lnTo>
                    <a:pt x="168529" y="2106545"/>
                  </a:lnTo>
                  <a:cubicBezTo>
                    <a:pt x="75438" y="2106545"/>
                    <a:pt x="0" y="2031107"/>
                    <a:pt x="0" y="1938016"/>
                  </a:cubicBezTo>
                  <a:close/>
                </a:path>
              </a:pathLst>
            </a:custGeom>
            <a:solidFill>
              <a:srgbClr val="FFFFFF"/>
            </a:solidFill>
            <a:ln w="38100" cap="sq">
              <a:solidFill>
                <a:srgbClr val="2628ED"/>
              </a:solidFill>
              <a:prstDash val="solid"/>
              <a:miter/>
            </a:ln>
          </p:spPr>
        </p:sp>
        <p:sp>
          <p:nvSpPr>
            <p:cNvPr name="TextBox 10" id="10"/>
            <p:cNvSpPr txBox="true"/>
            <p:nvPr/>
          </p:nvSpPr>
          <p:spPr>
            <a:xfrm>
              <a:off x="0" y="9525"/>
              <a:ext cx="4788751" cy="2096982"/>
            </a:xfrm>
            <a:prstGeom prst="rect">
              <a:avLst/>
            </a:prstGeom>
          </p:spPr>
          <p:txBody>
            <a:bodyPr anchor="ctr" rtlCol="false" tIns="50800" lIns="50800" bIns="50800" rIns="50800"/>
            <a:lstStyle/>
            <a:p>
              <a:pPr algn="ctr">
                <a:lnSpc>
                  <a:spcPts val="3599"/>
                </a:lnSpc>
              </a:pPr>
              <a:r>
                <a:rPr lang="en-US" sz="2999" b="true">
                  <a:solidFill>
                    <a:srgbClr val="171C2A"/>
                  </a:solidFill>
                  <a:latin typeface="Helvetica World Bold"/>
                  <a:ea typeface="Helvetica World Bold"/>
                  <a:cs typeface="Helvetica World Bold"/>
                  <a:sym typeface="Helvetica World Bold"/>
                </a:rPr>
                <a:t>Bloc opératoire</a:t>
              </a:r>
            </a:p>
            <a:p>
              <a:pPr algn="ctr">
                <a:lnSpc>
                  <a:spcPts val="3119"/>
                </a:lnSpc>
              </a:pPr>
              <a:r>
                <a:rPr lang="en-US" sz="2599">
                  <a:solidFill>
                    <a:srgbClr val="586776"/>
                  </a:solidFill>
                  <a:latin typeface="Helvetica World"/>
                  <a:ea typeface="Helvetica World"/>
                  <a:cs typeface="Helvetica World"/>
                  <a:sym typeface="Helvetica World"/>
                </a:rPr>
                <a:t>salles, vacations</a:t>
              </a:r>
            </a:p>
          </p:txBody>
        </p:sp>
      </p:grpSp>
      <p:grpSp>
        <p:nvGrpSpPr>
          <p:cNvPr name="Group 11" id="11"/>
          <p:cNvGrpSpPr/>
          <p:nvPr/>
        </p:nvGrpSpPr>
        <p:grpSpPr>
          <a:xfrm rot="0">
            <a:off x="6022343" y="1770383"/>
            <a:ext cx="3591563" cy="1579880"/>
            <a:chOff x="0" y="0"/>
            <a:chExt cx="4788751" cy="2106507"/>
          </a:xfrm>
        </p:grpSpPr>
        <p:sp>
          <p:nvSpPr>
            <p:cNvPr name="Freeform 12" id="12"/>
            <p:cNvSpPr/>
            <p:nvPr/>
          </p:nvSpPr>
          <p:spPr>
            <a:xfrm flipH="false" flipV="false" rot="0">
              <a:off x="0" y="0"/>
              <a:ext cx="4788789" cy="2106545"/>
            </a:xfrm>
            <a:custGeom>
              <a:avLst/>
              <a:gdLst/>
              <a:ahLst/>
              <a:cxnLst/>
              <a:rect r="r" b="b" t="t" l="l"/>
              <a:pathLst>
                <a:path h="2106545" w="4788789">
                  <a:moveTo>
                    <a:pt x="0" y="168529"/>
                  </a:moveTo>
                  <a:cubicBezTo>
                    <a:pt x="0" y="75438"/>
                    <a:pt x="75438" y="0"/>
                    <a:pt x="168529" y="0"/>
                  </a:cubicBezTo>
                  <a:lnTo>
                    <a:pt x="4620260" y="0"/>
                  </a:lnTo>
                  <a:cubicBezTo>
                    <a:pt x="4713351" y="0"/>
                    <a:pt x="4788789" y="75438"/>
                    <a:pt x="4788789" y="168529"/>
                  </a:cubicBezTo>
                  <a:lnTo>
                    <a:pt x="4788789" y="1938016"/>
                  </a:lnTo>
                  <a:cubicBezTo>
                    <a:pt x="4788789" y="2031107"/>
                    <a:pt x="4713351" y="2106545"/>
                    <a:pt x="4620260" y="2106545"/>
                  </a:cubicBezTo>
                  <a:lnTo>
                    <a:pt x="168529" y="2106545"/>
                  </a:lnTo>
                  <a:cubicBezTo>
                    <a:pt x="75438" y="2106545"/>
                    <a:pt x="0" y="2031107"/>
                    <a:pt x="0" y="1938016"/>
                  </a:cubicBezTo>
                  <a:close/>
                </a:path>
              </a:pathLst>
            </a:custGeom>
            <a:solidFill>
              <a:srgbClr val="FFFFFF"/>
            </a:solidFill>
            <a:ln w="38100" cap="sq">
              <a:solidFill>
                <a:srgbClr val="2628ED"/>
              </a:solidFill>
              <a:prstDash val="solid"/>
              <a:miter/>
            </a:ln>
          </p:spPr>
        </p:sp>
        <p:sp>
          <p:nvSpPr>
            <p:cNvPr name="TextBox 13" id="13"/>
            <p:cNvSpPr txBox="true"/>
            <p:nvPr/>
          </p:nvSpPr>
          <p:spPr>
            <a:xfrm>
              <a:off x="0" y="9525"/>
              <a:ext cx="4788751" cy="2096982"/>
            </a:xfrm>
            <a:prstGeom prst="rect">
              <a:avLst/>
            </a:prstGeom>
          </p:spPr>
          <p:txBody>
            <a:bodyPr anchor="ctr" rtlCol="false" tIns="50800" lIns="50800" bIns="50800" rIns="50800"/>
            <a:lstStyle/>
            <a:p>
              <a:pPr algn="ctr">
                <a:lnSpc>
                  <a:spcPts val="3599"/>
                </a:lnSpc>
              </a:pPr>
              <a:r>
                <a:rPr lang="en-US" sz="2999" b="true">
                  <a:solidFill>
                    <a:srgbClr val="171C2A"/>
                  </a:solidFill>
                  <a:latin typeface="Helvetica World Bold"/>
                  <a:ea typeface="Helvetica World Bold"/>
                  <a:cs typeface="Helvetica World Bold"/>
                  <a:sym typeface="Helvetica World Bold"/>
                </a:rPr>
                <a:t>Hospitalisation</a:t>
              </a:r>
            </a:p>
            <a:p>
              <a:pPr algn="ctr">
                <a:lnSpc>
                  <a:spcPts val="3119"/>
                </a:lnSpc>
              </a:pPr>
              <a:r>
                <a:rPr lang="en-US" sz="2599">
                  <a:solidFill>
                    <a:srgbClr val="586776"/>
                  </a:solidFill>
                  <a:latin typeface="Helvetica World"/>
                  <a:ea typeface="Helvetica World"/>
                  <a:cs typeface="Helvetica World"/>
                  <a:sym typeface="Helvetica World"/>
                </a:rPr>
                <a:t>lits, nuits</a:t>
              </a:r>
            </a:p>
          </p:txBody>
        </p:sp>
      </p:grpSp>
      <p:grpSp>
        <p:nvGrpSpPr>
          <p:cNvPr name="Group 14" id="14"/>
          <p:cNvGrpSpPr/>
          <p:nvPr/>
        </p:nvGrpSpPr>
        <p:grpSpPr>
          <a:xfrm rot="0">
            <a:off x="6022343" y="4742183"/>
            <a:ext cx="3591563" cy="1579880"/>
            <a:chOff x="0" y="0"/>
            <a:chExt cx="4788751" cy="2106507"/>
          </a:xfrm>
        </p:grpSpPr>
        <p:sp>
          <p:nvSpPr>
            <p:cNvPr name="Freeform 15" id="15"/>
            <p:cNvSpPr/>
            <p:nvPr/>
          </p:nvSpPr>
          <p:spPr>
            <a:xfrm flipH="false" flipV="false" rot="0">
              <a:off x="0" y="0"/>
              <a:ext cx="4788789" cy="2106545"/>
            </a:xfrm>
            <a:custGeom>
              <a:avLst/>
              <a:gdLst/>
              <a:ahLst/>
              <a:cxnLst/>
              <a:rect r="r" b="b" t="t" l="l"/>
              <a:pathLst>
                <a:path h="2106545" w="4788789">
                  <a:moveTo>
                    <a:pt x="0" y="168529"/>
                  </a:moveTo>
                  <a:cubicBezTo>
                    <a:pt x="0" y="75438"/>
                    <a:pt x="75438" y="0"/>
                    <a:pt x="168529" y="0"/>
                  </a:cubicBezTo>
                  <a:lnTo>
                    <a:pt x="4620260" y="0"/>
                  </a:lnTo>
                  <a:cubicBezTo>
                    <a:pt x="4713351" y="0"/>
                    <a:pt x="4788789" y="75438"/>
                    <a:pt x="4788789" y="168529"/>
                  </a:cubicBezTo>
                  <a:lnTo>
                    <a:pt x="4788789" y="1938016"/>
                  </a:lnTo>
                  <a:cubicBezTo>
                    <a:pt x="4788789" y="2031107"/>
                    <a:pt x="4713351" y="2106545"/>
                    <a:pt x="4620260" y="2106545"/>
                  </a:cubicBezTo>
                  <a:lnTo>
                    <a:pt x="168529" y="2106545"/>
                  </a:lnTo>
                  <a:cubicBezTo>
                    <a:pt x="75438" y="2106545"/>
                    <a:pt x="0" y="2031107"/>
                    <a:pt x="0" y="1938016"/>
                  </a:cubicBezTo>
                  <a:close/>
                </a:path>
              </a:pathLst>
            </a:custGeom>
            <a:solidFill>
              <a:srgbClr val="FFFFFF"/>
            </a:solidFill>
            <a:ln w="38100" cap="sq">
              <a:solidFill>
                <a:srgbClr val="2628ED"/>
              </a:solidFill>
              <a:prstDash val="solid"/>
              <a:miter/>
            </a:ln>
          </p:spPr>
        </p:sp>
        <p:sp>
          <p:nvSpPr>
            <p:cNvPr name="TextBox 16" id="16"/>
            <p:cNvSpPr txBox="true"/>
            <p:nvPr/>
          </p:nvSpPr>
          <p:spPr>
            <a:xfrm>
              <a:off x="0" y="9525"/>
              <a:ext cx="4788751" cy="2096982"/>
            </a:xfrm>
            <a:prstGeom prst="rect">
              <a:avLst/>
            </a:prstGeom>
          </p:spPr>
          <p:txBody>
            <a:bodyPr anchor="ctr" rtlCol="false" tIns="50800" lIns="50800" bIns="50800" rIns="50800"/>
            <a:lstStyle/>
            <a:p>
              <a:pPr algn="ctr">
                <a:lnSpc>
                  <a:spcPts val="3599"/>
                </a:lnSpc>
              </a:pPr>
              <a:r>
                <a:rPr lang="en-US" sz="2999" b="true">
                  <a:solidFill>
                    <a:srgbClr val="171C2A"/>
                  </a:solidFill>
                  <a:latin typeface="Helvetica World Bold"/>
                  <a:ea typeface="Helvetica World Bold"/>
                  <a:cs typeface="Helvetica World Bold"/>
                  <a:sym typeface="Helvetica World Bold"/>
                </a:rPr>
                <a:t>Ambulatoire</a:t>
              </a:r>
            </a:p>
            <a:p>
              <a:pPr algn="ctr">
                <a:lnSpc>
                  <a:spcPts val="3119"/>
                </a:lnSpc>
              </a:pPr>
              <a:r>
                <a:rPr lang="en-US" sz="2599">
                  <a:solidFill>
                    <a:srgbClr val="586776"/>
                  </a:solidFill>
                  <a:latin typeface="Helvetica World"/>
                  <a:ea typeface="Helvetica World"/>
                  <a:cs typeface="Helvetica World"/>
                  <a:sym typeface="Helvetica World"/>
                </a:rPr>
                <a:t>places, journée</a:t>
              </a:r>
            </a:p>
          </p:txBody>
        </p:sp>
      </p:grpSp>
      <p:sp>
        <p:nvSpPr>
          <p:cNvPr name="AutoShape 17" id="17"/>
          <p:cNvSpPr/>
          <p:nvPr/>
        </p:nvSpPr>
        <p:spPr>
          <a:xfrm rot="-1995300">
            <a:off x="4156881" y="3089910"/>
            <a:ext cx="2064687" cy="0"/>
          </a:xfrm>
          <a:prstGeom prst="line">
            <a:avLst/>
          </a:prstGeom>
          <a:ln cap="rnd" w="38100">
            <a:solidFill>
              <a:srgbClr val="2628ED"/>
            </a:solidFill>
            <a:prstDash val="solid"/>
            <a:headEnd type="none" len="sm" w="sm"/>
            <a:tailEnd type="none" len="sm" w="sm"/>
          </a:ln>
        </p:spPr>
      </p:sp>
      <p:sp>
        <p:nvSpPr>
          <p:cNvPr name="AutoShape 18" id="18"/>
          <p:cNvSpPr/>
          <p:nvPr/>
        </p:nvSpPr>
        <p:spPr>
          <a:xfrm rot="2058179">
            <a:off x="4144166" y="4941570"/>
            <a:ext cx="2090099" cy="0"/>
          </a:xfrm>
          <a:prstGeom prst="line">
            <a:avLst/>
          </a:prstGeom>
          <a:ln cap="rnd" w="38100">
            <a:solidFill>
              <a:srgbClr val="2628ED"/>
            </a:solidFill>
            <a:prstDash val="solid"/>
            <a:headEnd type="none" len="sm" w="sm"/>
            <a:tailEnd type="none" len="sm" w="sm"/>
          </a:ln>
        </p:spPr>
      </p:sp>
      <p:sp>
        <p:nvSpPr>
          <p:cNvPr name="TextBox 19" id="19"/>
          <p:cNvSpPr txBox="true"/>
          <p:nvPr/>
        </p:nvSpPr>
        <p:spPr>
          <a:xfrm rot="0">
            <a:off x="777240" y="6750688"/>
            <a:ext cx="8869680" cy="1024890"/>
          </a:xfrm>
          <a:prstGeom prst="rect">
            <a:avLst/>
          </a:prstGeom>
        </p:spPr>
        <p:txBody>
          <a:bodyPr anchor="t" rtlCol="false" tIns="0" lIns="0" bIns="0" rIns="0">
            <a:spAutoFit/>
          </a:bodyPr>
          <a:lstStyle/>
          <a:p>
            <a:pPr algn="l">
              <a:lnSpc>
                <a:spcPts val="3719"/>
              </a:lnSpc>
            </a:pPr>
            <a:r>
              <a:rPr lang="en-US" sz="3099" b="true">
                <a:solidFill>
                  <a:srgbClr val="171C2A"/>
                </a:solidFill>
                <a:latin typeface="Helvetica World Bold"/>
                <a:ea typeface="Helvetica World Bold"/>
                <a:cs typeface="Helvetica World Bold"/>
                <a:sym typeface="Helvetica World Bold"/>
              </a:rPr>
              <a:t>Aujourd'hui : </a:t>
            </a:r>
            <a:r>
              <a:rPr lang="en-US" sz="3099">
                <a:solidFill>
                  <a:srgbClr val="171C2A"/>
                </a:solidFill>
                <a:latin typeface="Helvetica World"/>
                <a:ea typeface="Helvetica World"/>
                <a:cs typeface="Helvetica World"/>
                <a:sym typeface="Helvetica World"/>
              </a:rPr>
              <a:t>bloc et hébergement sont optimisés chacun seul, </a:t>
            </a:r>
            <a:r>
              <a:rPr lang="en-US" sz="3099" b="true">
                <a:solidFill>
                  <a:srgbClr val="2628ED"/>
                </a:solidFill>
                <a:latin typeface="Helvetica World Bold"/>
                <a:ea typeface="Helvetica World Bold"/>
                <a:cs typeface="Helvetica World Bold"/>
                <a:sym typeface="Helvetica World Bold"/>
              </a:rPr>
              <a:t>sans aucune coordination.</a:t>
            </a:r>
          </a:p>
        </p:txBody>
      </p:sp>
      <p:grpSp>
        <p:nvGrpSpPr>
          <p:cNvPr name="Group 20" id="20"/>
          <p:cNvGrpSpPr/>
          <p:nvPr/>
        </p:nvGrpSpPr>
        <p:grpSpPr>
          <a:xfrm rot="0">
            <a:off x="10104120" y="1770383"/>
            <a:ext cx="7406640" cy="845218"/>
            <a:chOff x="0" y="0"/>
            <a:chExt cx="9875520" cy="1126957"/>
          </a:xfrm>
        </p:grpSpPr>
        <p:sp>
          <p:nvSpPr>
            <p:cNvPr name="Freeform 21" id="21"/>
            <p:cNvSpPr/>
            <p:nvPr/>
          </p:nvSpPr>
          <p:spPr>
            <a:xfrm flipH="false" flipV="false" rot="0">
              <a:off x="0" y="0"/>
              <a:ext cx="9875520" cy="1126957"/>
            </a:xfrm>
            <a:custGeom>
              <a:avLst/>
              <a:gdLst/>
              <a:ahLst/>
              <a:cxnLst/>
              <a:rect r="r" b="b" t="t" l="l"/>
              <a:pathLst>
                <a:path h="1126957" w="9875520">
                  <a:moveTo>
                    <a:pt x="0" y="0"/>
                  </a:moveTo>
                  <a:lnTo>
                    <a:pt x="9875520" y="0"/>
                  </a:lnTo>
                  <a:lnTo>
                    <a:pt x="9875520" y="1126957"/>
                  </a:lnTo>
                  <a:lnTo>
                    <a:pt x="0" y="1126957"/>
                  </a:lnTo>
                  <a:close/>
                </a:path>
              </a:pathLst>
            </a:custGeom>
            <a:solidFill>
              <a:srgbClr val="171C2A"/>
            </a:solidFill>
          </p:spPr>
        </p:sp>
        <p:sp>
          <p:nvSpPr>
            <p:cNvPr name="TextBox 22" id="22"/>
            <p:cNvSpPr txBox="true"/>
            <p:nvPr/>
          </p:nvSpPr>
          <p:spPr>
            <a:xfrm>
              <a:off x="0" y="0"/>
              <a:ext cx="9875520" cy="1126957"/>
            </a:xfrm>
            <a:prstGeom prst="rect">
              <a:avLst/>
            </a:prstGeom>
          </p:spPr>
          <p:txBody>
            <a:bodyPr anchor="ctr" rtlCol="false" tIns="50800" lIns="50800" bIns="50800" rIns="50800"/>
            <a:lstStyle/>
            <a:p>
              <a:pPr algn="l">
                <a:lnSpc>
                  <a:spcPts val="3479"/>
                </a:lnSpc>
              </a:pPr>
              <a:r>
                <a:rPr lang="en-US" sz="2899" b="true">
                  <a:solidFill>
                    <a:srgbClr val="FFFFFF"/>
                  </a:solidFill>
                  <a:latin typeface="Helvetica World Bold"/>
                  <a:ea typeface="Helvetica World Bold"/>
                  <a:cs typeface="Helvetica World Bold"/>
                  <a:sym typeface="Helvetica World Bold"/>
                </a:rPr>
                <a:t>  </a:t>
              </a:r>
              <a:r>
                <a:rPr lang="en-US" sz="2899" b="true">
                  <a:solidFill>
                    <a:srgbClr val="FFFFFF"/>
                  </a:solidFill>
                  <a:latin typeface="Helvetica World Bold"/>
                  <a:ea typeface="Helvetica World Bold"/>
                  <a:cs typeface="Helvetica World Bold"/>
                  <a:sym typeface="Helvetica World Bold"/>
                </a:rPr>
                <a:t>Conséquence : un décalage permanent</a:t>
              </a:r>
            </a:p>
          </p:txBody>
        </p:sp>
      </p:grpSp>
      <p:grpSp>
        <p:nvGrpSpPr>
          <p:cNvPr name="Group 23" id="23"/>
          <p:cNvGrpSpPr/>
          <p:nvPr/>
        </p:nvGrpSpPr>
        <p:grpSpPr>
          <a:xfrm rot="0">
            <a:off x="10104120" y="2615601"/>
            <a:ext cx="7406640" cy="4232700"/>
            <a:chOff x="0" y="0"/>
            <a:chExt cx="9875520" cy="5643600"/>
          </a:xfrm>
        </p:grpSpPr>
        <p:sp>
          <p:nvSpPr>
            <p:cNvPr name="Freeform 24" id="24"/>
            <p:cNvSpPr/>
            <p:nvPr/>
          </p:nvSpPr>
          <p:spPr>
            <a:xfrm flipH="false" flipV="false" rot="0">
              <a:off x="0" y="0"/>
              <a:ext cx="9875520" cy="5643572"/>
            </a:xfrm>
            <a:custGeom>
              <a:avLst/>
              <a:gdLst/>
              <a:ahLst/>
              <a:cxnLst/>
              <a:rect r="r" b="b" t="t" l="l"/>
              <a:pathLst>
                <a:path h="5643572" w="9875520">
                  <a:moveTo>
                    <a:pt x="0" y="0"/>
                  </a:moveTo>
                  <a:lnTo>
                    <a:pt x="9875520" y="0"/>
                  </a:lnTo>
                  <a:lnTo>
                    <a:pt x="9875520" y="5643572"/>
                  </a:lnTo>
                  <a:lnTo>
                    <a:pt x="0" y="5643572"/>
                  </a:lnTo>
                  <a:close/>
                </a:path>
              </a:pathLst>
            </a:custGeom>
            <a:solidFill>
              <a:srgbClr val="F2F8F6"/>
            </a:solidFill>
          </p:spPr>
        </p:sp>
      </p:grpSp>
      <p:sp>
        <p:nvSpPr>
          <p:cNvPr name="TextBox 25" id="25"/>
          <p:cNvSpPr txBox="true"/>
          <p:nvPr/>
        </p:nvSpPr>
        <p:spPr>
          <a:xfrm rot="0">
            <a:off x="10305288" y="2780193"/>
            <a:ext cx="7004304" cy="3835400"/>
          </a:xfrm>
          <a:prstGeom prst="rect">
            <a:avLst/>
          </a:prstGeom>
        </p:spPr>
        <p:txBody>
          <a:bodyPr anchor="t" rtlCol="false" tIns="0" lIns="0" bIns="0" rIns="0">
            <a:spAutoFit/>
          </a:bodyPr>
          <a:lstStyle/>
          <a:p>
            <a:pPr algn="l" marL="361951" indent="-180975" lvl="1">
              <a:lnSpc>
                <a:spcPts val="3600"/>
              </a:lnSpc>
              <a:buFont typeface="Arial"/>
              <a:buChar char="•"/>
            </a:pPr>
            <a:r>
              <a:rPr lang="en-US" b="true" sz="3000">
                <a:solidFill>
                  <a:srgbClr val="171C2A"/>
                </a:solidFill>
                <a:latin typeface="Helvetica World Bold"/>
                <a:ea typeface="Helvetica World Bold"/>
                <a:cs typeface="Helvetica World Bold"/>
                <a:sym typeface="Helvetica World Bold"/>
              </a:rPr>
              <a:t>Patients opérés sans lit : </a:t>
            </a:r>
            <a:r>
              <a:rPr lang="en-US" sz="3000">
                <a:solidFill>
                  <a:srgbClr val="171C2A"/>
                </a:solidFill>
                <a:latin typeface="Helvetica World"/>
                <a:ea typeface="Helvetica World"/>
                <a:cs typeface="Helvetica World"/>
                <a:sym typeface="Helvetica World"/>
              </a:rPr>
              <a:t>débordements, sorties anticipées.</a:t>
            </a:r>
          </a:p>
          <a:p>
            <a:pPr algn="l" marL="361951" indent="-180975" lvl="1">
              <a:lnSpc>
                <a:spcPts val="3600"/>
              </a:lnSpc>
              <a:buFont typeface="Arial"/>
              <a:buChar char="•"/>
            </a:pPr>
            <a:r>
              <a:rPr lang="en-US" b="true" sz="3000">
                <a:solidFill>
                  <a:srgbClr val="171C2A"/>
                </a:solidFill>
                <a:latin typeface="Helvetica World Bold"/>
                <a:ea typeface="Helvetica World Bold"/>
                <a:cs typeface="Helvetica World Bold"/>
                <a:sym typeface="Helvetica World Bold"/>
              </a:rPr>
              <a:t>Déprogrammations la veille, </a:t>
            </a:r>
            <a:r>
              <a:rPr lang="en-US" sz="3000">
                <a:solidFill>
                  <a:srgbClr val="171C2A"/>
                </a:solidFill>
                <a:latin typeface="Helvetica World"/>
                <a:ea typeface="Helvetica World"/>
                <a:cs typeface="Helvetica World"/>
                <a:sym typeface="Helvetica World"/>
              </a:rPr>
              <a:t>faute de place en aval.</a:t>
            </a:r>
          </a:p>
          <a:p>
            <a:pPr algn="l" marL="361951" indent="-180975" lvl="1">
              <a:lnSpc>
                <a:spcPts val="3600"/>
              </a:lnSpc>
              <a:buFont typeface="Arial"/>
              <a:buChar char="•"/>
            </a:pPr>
            <a:r>
              <a:rPr lang="en-US" b="true" sz="3000">
                <a:solidFill>
                  <a:srgbClr val="171C2A"/>
                </a:solidFill>
                <a:latin typeface="Helvetica World Bold"/>
                <a:ea typeface="Helvetica World Bold"/>
                <a:cs typeface="Helvetica World Bold"/>
                <a:sym typeface="Helvetica World Bold"/>
              </a:rPr>
              <a:t>Vacations sous-remplies </a:t>
            </a:r>
            <a:r>
              <a:rPr lang="en-US" sz="3000">
                <a:solidFill>
                  <a:srgbClr val="171C2A"/>
                </a:solidFill>
                <a:latin typeface="Helvetica World"/>
                <a:ea typeface="Helvetica World"/>
                <a:cs typeface="Helvetica World"/>
                <a:sym typeface="Helvetica World"/>
              </a:rPr>
              <a:t>pendant que l'attente s'allonge.</a:t>
            </a:r>
          </a:p>
          <a:p>
            <a:pPr algn="l" marL="361951" indent="-180975" lvl="1">
              <a:lnSpc>
                <a:spcPts val="3600"/>
              </a:lnSpc>
              <a:buFont typeface="Arial"/>
              <a:buChar char="•"/>
            </a:pPr>
            <a:r>
              <a:rPr lang="en-US" b="true" sz="3000">
                <a:solidFill>
                  <a:srgbClr val="171C2A"/>
                </a:solidFill>
                <a:latin typeface="Helvetica World Bold"/>
                <a:ea typeface="Helvetica World Bold"/>
                <a:cs typeface="Helvetica World Bold"/>
                <a:sym typeface="Helvetica World Bold"/>
              </a:rPr>
              <a:t>Replanification manuelle </a:t>
            </a:r>
            <a:r>
              <a:rPr lang="en-US" sz="3000">
                <a:solidFill>
                  <a:srgbClr val="171C2A"/>
                </a:solidFill>
                <a:latin typeface="Helvetica World"/>
                <a:ea typeface="Helvetica World"/>
                <a:cs typeface="Helvetica World"/>
                <a:sym typeface="Helvetica World"/>
              </a:rPr>
              <a:t>à chaque aléa, par téléphone.</a:t>
            </a:r>
          </a:p>
        </p:txBody>
      </p:sp>
      <p:grpSp>
        <p:nvGrpSpPr>
          <p:cNvPr name="Group 26" id="26"/>
          <p:cNvGrpSpPr/>
          <p:nvPr/>
        </p:nvGrpSpPr>
        <p:grpSpPr>
          <a:xfrm rot="0">
            <a:off x="453390" y="9699939"/>
            <a:ext cx="2230494" cy="396881"/>
            <a:chOff x="0" y="0"/>
            <a:chExt cx="2973991" cy="529175"/>
          </a:xfrm>
        </p:grpSpPr>
        <p:sp>
          <p:nvSpPr>
            <p:cNvPr name="Freeform 27" id="27"/>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1" id="31"/>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32" id="32"/>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33" id="3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CONTEXTE : </a:t>
              </a:r>
              <a:r>
                <a:rPr lang="en-US" sz="3200" b="true">
                  <a:solidFill>
                    <a:srgbClr val="171C2A"/>
                  </a:solidFill>
                  <a:latin typeface="Helvetica World Bold"/>
                  <a:ea typeface="Helvetica World Bold"/>
                  <a:cs typeface="Helvetica World Bold"/>
                  <a:sym typeface="Helvetica World Bold"/>
                </a:rPr>
                <a:t>LA CLINIQUE ÉTUDIÉE EN CHIFFRES</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TextBox 7" id="7"/>
          <p:cNvSpPr txBox="true"/>
          <p:nvPr/>
        </p:nvSpPr>
        <p:spPr>
          <a:xfrm rot="0">
            <a:off x="777240" y="8872090"/>
            <a:ext cx="16733520" cy="428625"/>
          </a:xfrm>
          <a:prstGeom prst="rect">
            <a:avLst/>
          </a:prstGeom>
        </p:spPr>
        <p:txBody>
          <a:bodyPr anchor="t" rtlCol="false" tIns="0" lIns="0" bIns="0" rIns="0">
            <a:spAutoFit/>
          </a:bodyPr>
          <a:lstStyle/>
          <a:p>
            <a:pPr algn="l">
              <a:lnSpc>
                <a:spcPts val="3119"/>
              </a:lnSpc>
            </a:pPr>
            <a:r>
              <a:rPr lang="en-US" b="true" sz="2599">
                <a:solidFill>
                  <a:srgbClr val="171C2A"/>
                </a:solidFill>
                <a:latin typeface="Helvetica World Bold"/>
                <a:ea typeface="Helvetica World Bold"/>
                <a:cs typeface="Helvetica World Bold"/>
                <a:sym typeface="Helvetica World Bold"/>
              </a:rPr>
              <a:t>Périmètre : </a:t>
            </a:r>
            <a:r>
              <a:rPr lang="en-US" sz="2599">
                <a:solidFill>
                  <a:srgbClr val="171C2A"/>
                </a:solidFill>
                <a:latin typeface="Helvetica World"/>
                <a:ea typeface="Helvetica World"/>
                <a:cs typeface="Helvetica World"/>
                <a:sym typeface="Helvetica World"/>
              </a:rPr>
              <a:t>historique 2019–2022 ; capacités paramétrables, à confirmer avec l'établissement.</a:t>
            </a:r>
          </a:p>
        </p:txBody>
      </p:sp>
      <p:grpSp>
        <p:nvGrpSpPr>
          <p:cNvPr name="Group 8" id="8"/>
          <p:cNvGrpSpPr/>
          <p:nvPr/>
        </p:nvGrpSpPr>
        <p:grpSpPr>
          <a:xfrm rot="0">
            <a:off x="777240" y="1263777"/>
            <a:ext cx="3977640" cy="1440507"/>
            <a:chOff x="0" y="0"/>
            <a:chExt cx="5303520" cy="1920677"/>
          </a:xfrm>
        </p:grpSpPr>
        <p:sp>
          <p:nvSpPr>
            <p:cNvPr name="Freeform 9" id="9"/>
            <p:cNvSpPr/>
            <p:nvPr/>
          </p:nvSpPr>
          <p:spPr>
            <a:xfrm flipH="false" flipV="false" rot="0">
              <a:off x="0" y="0"/>
              <a:ext cx="5303519" cy="1920677"/>
            </a:xfrm>
            <a:custGeom>
              <a:avLst/>
              <a:gdLst/>
              <a:ahLst/>
              <a:cxnLst/>
              <a:rect r="r" b="b" t="t" l="l"/>
              <a:pathLst>
                <a:path h="1920677" w="5303519">
                  <a:moveTo>
                    <a:pt x="0" y="0"/>
                  </a:moveTo>
                  <a:lnTo>
                    <a:pt x="5303519" y="0"/>
                  </a:lnTo>
                  <a:lnTo>
                    <a:pt x="5303519" y="1920677"/>
                  </a:lnTo>
                  <a:lnTo>
                    <a:pt x="0" y="1920677"/>
                  </a:lnTo>
                  <a:close/>
                </a:path>
              </a:pathLst>
            </a:custGeom>
            <a:blipFill>
              <a:blip r:embed="rId3">
                <a:alphaModFix amt="0"/>
              </a:blip>
              <a:stretch>
                <a:fillRect l="0" t="-23651" r="0" b="16044"/>
              </a:stretch>
            </a:blipFill>
          </p:spPr>
        </p:sp>
        <p:sp>
          <p:nvSpPr>
            <p:cNvPr name="TextBox 10" id="10"/>
            <p:cNvSpPr txBox="true"/>
            <p:nvPr/>
          </p:nvSpPr>
          <p:spPr>
            <a:xfrm>
              <a:off x="0" y="0"/>
              <a:ext cx="5303520" cy="1920677"/>
            </a:xfrm>
            <a:prstGeom prst="rect">
              <a:avLst/>
            </a:prstGeom>
          </p:spPr>
          <p:txBody>
            <a:bodyPr anchor="b" rtlCol="false" tIns="0" lIns="0" bIns="0" rIns="0"/>
            <a:lstStyle/>
            <a:p>
              <a:pPr algn="l">
                <a:lnSpc>
                  <a:spcPts val="6480"/>
                </a:lnSpc>
              </a:pPr>
              <a:r>
                <a:rPr lang="en-US" sz="5400" b="true">
                  <a:solidFill>
                    <a:srgbClr val="2628ED"/>
                  </a:solidFill>
                  <a:latin typeface="Helvetica World Bold"/>
                  <a:ea typeface="Helvetica World Bold"/>
                  <a:cs typeface="Helvetica World Bold"/>
                  <a:sym typeface="Helvetica World Bold"/>
                </a:rPr>
                <a:t>14 649</a:t>
              </a:r>
            </a:p>
          </p:txBody>
        </p:sp>
      </p:grpSp>
      <p:sp>
        <p:nvSpPr>
          <p:cNvPr name="TextBox 11" id="11"/>
          <p:cNvSpPr txBox="true"/>
          <p:nvPr/>
        </p:nvSpPr>
        <p:spPr>
          <a:xfrm rot="0">
            <a:off x="777240" y="2532888"/>
            <a:ext cx="3977640" cy="781050"/>
          </a:xfrm>
          <a:prstGeom prst="rect">
            <a:avLst/>
          </a:prstGeom>
        </p:spPr>
        <p:txBody>
          <a:bodyPr anchor="t" rtlCol="false" tIns="0" lIns="0" bIns="0" rIns="0">
            <a:spAutoFit/>
          </a:bodyPr>
          <a:lstStyle/>
          <a:p>
            <a:pPr algn="l">
              <a:lnSpc>
                <a:spcPts val="3119"/>
              </a:lnSpc>
            </a:pPr>
            <a:r>
              <a:rPr lang="en-US" sz="2599">
                <a:solidFill>
                  <a:srgbClr val="171C2A"/>
                </a:solidFill>
                <a:latin typeface="Helvetica World"/>
                <a:ea typeface="Helvetica World"/>
                <a:cs typeface="Helvetica World"/>
                <a:sym typeface="Helvetica World"/>
              </a:rPr>
              <a:t>interventions réelles, 2019–2022</a:t>
            </a:r>
          </a:p>
        </p:txBody>
      </p:sp>
      <p:grpSp>
        <p:nvGrpSpPr>
          <p:cNvPr name="Group 12" id="12"/>
          <p:cNvGrpSpPr/>
          <p:nvPr/>
        </p:nvGrpSpPr>
        <p:grpSpPr>
          <a:xfrm rot="0">
            <a:off x="5029200" y="1263777"/>
            <a:ext cx="3977640" cy="1440507"/>
            <a:chOff x="0" y="0"/>
            <a:chExt cx="5303520" cy="1920677"/>
          </a:xfrm>
        </p:grpSpPr>
        <p:sp>
          <p:nvSpPr>
            <p:cNvPr name="Freeform 13" id="13"/>
            <p:cNvSpPr/>
            <p:nvPr/>
          </p:nvSpPr>
          <p:spPr>
            <a:xfrm flipH="false" flipV="false" rot="0">
              <a:off x="0" y="0"/>
              <a:ext cx="5303519" cy="1920677"/>
            </a:xfrm>
            <a:custGeom>
              <a:avLst/>
              <a:gdLst/>
              <a:ahLst/>
              <a:cxnLst/>
              <a:rect r="r" b="b" t="t" l="l"/>
              <a:pathLst>
                <a:path h="1920677" w="5303519">
                  <a:moveTo>
                    <a:pt x="0" y="0"/>
                  </a:moveTo>
                  <a:lnTo>
                    <a:pt x="5303519" y="0"/>
                  </a:lnTo>
                  <a:lnTo>
                    <a:pt x="5303519" y="1920677"/>
                  </a:lnTo>
                  <a:lnTo>
                    <a:pt x="0" y="1920677"/>
                  </a:lnTo>
                  <a:close/>
                </a:path>
              </a:pathLst>
            </a:custGeom>
            <a:blipFill>
              <a:blip r:embed="rId3">
                <a:alphaModFix amt="0"/>
              </a:blip>
              <a:stretch>
                <a:fillRect l="0" t="-23651" r="0" b="16044"/>
              </a:stretch>
            </a:blipFill>
          </p:spPr>
        </p:sp>
        <p:sp>
          <p:nvSpPr>
            <p:cNvPr name="TextBox 14" id="14"/>
            <p:cNvSpPr txBox="true"/>
            <p:nvPr/>
          </p:nvSpPr>
          <p:spPr>
            <a:xfrm>
              <a:off x="0" y="0"/>
              <a:ext cx="5303520" cy="1920677"/>
            </a:xfrm>
            <a:prstGeom prst="rect">
              <a:avLst/>
            </a:prstGeom>
          </p:spPr>
          <p:txBody>
            <a:bodyPr anchor="b" rtlCol="false" tIns="0" lIns="0" bIns="0" rIns="0"/>
            <a:lstStyle/>
            <a:p>
              <a:pPr algn="l">
                <a:lnSpc>
                  <a:spcPts val="6480"/>
                </a:lnSpc>
              </a:pPr>
              <a:r>
                <a:rPr lang="en-US" sz="5400" b="true">
                  <a:solidFill>
                    <a:srgbClr val="2628ED"/>
                  </a:solidFill>
                  <a:latin typeface="Helvetica World Bold"/>
                  <a:ea typeface="Helvetica World Bold"/>
                  <a:cs typeface="Helvetica World Bold"/>
                  <a:sym typeface="Helvetica World Bold"/>
                </a:rPr>
                <a:t>4</a:t>
              </a:r>
            </a:p>
          </p:txBody>
        </p:sp>
      </p:grpSp>
      <p:sp>
        <p:nvSpPr>
          <p:cNvPr name="TextBox 15" id="15"/>
          <p:cNvSpPr txBox="true"/>
          <p:nvPr/>
        </p:nvSpPr>
        <p:spPr>
          <a:xfrm rot="0">
            <a:off x="5029200" y="2532888"/>
            <a:ext cx="3977640" cy="390525"/>
          </a:xfrm>
          <a:prstGeom prst="rect">
            <a:avLst/>
          </a:prstGeom>
        </p:spPr>
        <p:txBody>
          <a:bodyPr anchor="t" rtlCol="false" tIns="0" lIns="0" bIns="0" rIns="0">
            <a:spAutoFit/>
          </a:bodyPr>
          <a:lstStyle/>
          <a:p>
            <a:pPr algn="l">
              <a:lnSpc>
                <a:spcPts val="3119"/>
              </a:lnSpc>
            </a:pPr>
            <a:r>
              <a:rPr lang="en-US" sz="2599">
                <a:solidFill>
                  <a:srgbClr val="171C2A"/>
                </a:solidFill>
                <a:latin typeface="Helvetica World"/>
                <a:ea typeface="Helvetica World"/>
                <a:cs typeface="Helvetica World"/>
                <a:sym typeface="Helvetica World"/>
              </a:rPr>
              <a:t>salles disponibles</a:t>
            </a:r>
          </a:p>
        </p:txBody>
      </p:sp>
      <p:grpSp>
        <p:nvGrpSpPr>
          <p:cNvPr name="Group 16" id="16"/>
          <p:cNvGrpSpPr/>
          <p:nvPr/>
        </p:nvGrpSpPr>
        <p:grpSpPr>
          <a:xfrm rot="0">
            <a:off x="9281160" y="1263777"/>
            <a:ext cx="3977640" cy="1440507"/>
            <a:chOff x="0" y="0"/>
            <a:chExt cx="5303520" cy="1920677"/>
          </a:xfrm>
        </p:grpSpPr>
        <p:sp>
          <p:nvSpPr>
            <p:cNvPr name="Freeform 17" id="17"/>
            <p:cNvSpPr/>
            <p:nvPr/>
          </p:nvSpPr>
          <p:spPr>
            <a:xfrm flipH="false" flipV="false" rot="0">
              <a:off x="0" y="0"/>
              <a:ext cx="5303519" cy="1920677"/>
            </a:xfrm>
            <a:custGeom>
              <a:avLst/>
              <a:gdLst/>
              <a:ahLst/>
              <a:cxnLst/>
              <a:rect r="r" b="b" t="t" l="l"/>
              <a:pathLst>
                <a:path h="1920677" w="5303519">
                  <a:moveTo>
                    <a:pt x="0" y="0"/>
                  </a:moveTo>
                  <a:lnTo>
                    <a:pt x="5303519" y="0"/>
                  </a:lnTo>
                  <a:lnTo>
                    <a:pt x="5303519" y="1920677"/>
                  </a:lnTo>
                  <a:lnTo>
                    <a:pt x="0" y="1920677"/>
                  </a:lnTo>
                  <a:close/>
                </a:path>
              </a:pathLst>
            </a:custGeom>
            <a:blipFill>
              <a:blip r:embed="rId3">
                <a:alphaModFix amt="0"/>
              </a:blip>
              <a:stretch>
                <a:fillRect l="0" t="-23651" r="0" b="16044"/>
              </a:stretch>
            </a:blipFill>
          </p:spPr>
        </p:sp>
        <p:sp>
          <p:nvSpPr>
            <p:cNvPr name="TextBox 18" id="18"/>
            <p:cNvSpPr txBox="true"/>
            <p:nvPr/>
          </p:nvSpPr>
          <p:spPr>
            <a:xfrm>
              <a:off x="0" y="0"/>
              <a:ext cx="5303520" cy="1920677"/>
            </a:xfrm>
            <a:prstGeom prst="rect">
              <a:avLst/>
            </a:prstGeom>
          </p:spPr>
          <p:txBody>
            <a:bodyPr anchor="b" rtlCol="false" tIns="0" lIns="0" bIns="0" rIns="0"/>
            <a:lstStyle/>
            <a:p>
              <a:pPr algn="l">
                <a:lnSpc>
                  <a:spcPts val="6480"/>
                </a:lnSpc>
              </a:pPr>
              <a:r>
                <a:rPr lang="en-US" sz="5400" b="true">
                  <a:solidFill>
                    <a:srgbClr val="2628ED"/>
                  </a:solidFill>
                  <a:latin typeface="Helvetica World Bold"/>
                  <a:ea typeface="Helvetica World Bold"/>
                  <a:cs typeface="Helvetica World Bold"/>
                  <a:sym typeface="Helvetica World Bold"/>
                </a:rPr>
                <a:t>23</a:t>
              </a:r>
            </a:p>
          </p:txBody>
        </p:sp>
      </p:grpSp>
      <p:sp>
        <p:nvSpPr>
          <p:cNvPr name="TextBox 19" id="19"/>
          <p:cNvSpPr txBox="true"/>
          <p:nvPr/>
        </p:nvSpPr>
        <p:spPr>
          <a:xfrm rot="0">
            <a:off x="9281160" y="2532888"/>
            <a:ext cx="3977640" cy="781050"/>
          </a:xfrm>
          <a:prstGeom prst="rect">
            <a:avLst/>
          </a:prstGeom>
        </p:spPr>
        <p:txBody>
          <a:bodyPr anchor="t" rtlCol="false" tIns="0" lIns="0" bIns="0" rIns="0">
            <a:spAutoFit/>
          </a:bodyPr>
          <a:lstStyle/>
          <a:p>
            <a:pPr algn="l">
              <a:lnSpc>
                <a:spcPts val="3119"/>
              </a:lnSpc>
            </a:pPr>
            <a:r>
              <a:rPr lang="en-US" sz="2599">
                <a:solidFill>
                  <a:srgbClr val="171C2A"/>
                </a:solidFill>
                <a:latin typeface="Helvetica World"/>
                <a:ea typeface="Helvetica World"/>
                <a:cs typeface="Helvetica World"/>
                <a:sym typeface="Helvetica World"/>
              </a:rPr>
              <a:t>praticiens, 16 à 18 actifs par semaine</a:t>
            </a:r>
          </a:p>
        </p:txBody>
      </p:sp>
      <p:grpSp>
        <p:nvGrpSpPr>
          <p:cNvPr name="Group 20" id="20"/>
          <p:cNvGrpSpPr/>
          <p:nvPr/>
        </p:nvGrpSpPr>
        <p:grpSpPr>
          <a:xfrm rot="0">
            <a:off x="13533120" y="1263777"/>
            <a:ext cx="3977640" cy="1440507"/>
            <a:chOff x="0" y="0"/>
            <a:chExt cx="5303520" cy="1920677"/>
          </a:xfrm>
        </p:grpSpPr>
        <p:sp>
          <p:nvSpPr>
            <p:cNvPr name="Freeform 21" id="21"/>
            <p:cNvSpPr/>
            <p:nvPr/>
          </p:nvSpPr>
          <p:spPr>
            <a:xfrm flipH="false" flipV="false" rot="0">
              <a:off x="0" y="0"/>
              <a:ext cx="5303519" cy="1920677"/>
            </a:xfrm>
            <a:custGeom>
              <a:avLst/>
              <a:gdLst/>
              <a:ahLst/>
              <a:cxnLst/>
              <a:rect r="r" b="b" t="t" l="l"/>
              <a:pathLst>
                <a:path h="1920677" w="5303519">
                  <a:moveTo>
                    <a:pt x="0" y="0"/>
                  </a:moveTo>
                  <a:lnTo>
                    <a:pt x="5303519" y="0"/>
                  </a:lnTo>
                  <a:lnTo>
                    <a:pt x="5303519" y="1920677"/>
                  </a:lnTo>
                  <a:lnTo>
                    <a:pt x="0" y="1920677"/>
                  </a:lnTo>
                  <a:close/>
                </a:path>
              </a:pathLst>
            </a:custGeom>
            <a:blipFill>
              <a:blip r:embed="rId3">
                <a:alphaModFix amt="0"/>
              </a:blip>
              <a:stretch>
                <a:fillRect l="0" t="-23651" r="0" b="16044"/>
              </a:stretch>
            </a:blipFill>
          </p:spPr>
        </p:sp>
        <p:sp>
          <p:nvSpPr>
            <p:cNvPr name="TextBox 22" id="22"/>
            <p:cNvSpPr txBox="true"/>
            <p:nvPr/>
          </p:nvSpPr>
          <p:spPr>
            <a:xfrm>
              <a:off x="0" y="0"/>
              <a:ext cx="5303520" cy="1920677"/>
            </a:xfrm>
            <a:prstGeom prst="rect">
              <a:avLst/>
            </a:prstGeom>
          </p:spPr>
          <p:txBody>
            <a:bodyPr anchor="b" rtlCol="false" tIns="0" lIns="0" bIns="0" rIns="0"/>
            <a:lstStyle/>
            <a:p>
              <a:pPr algn="l">
                <a:lnSpc>
                  <a:spcPts val="6480"/>
                </a:lnSpc>
              </a:pPr>
              <a:r>
                <a:rPr lang="en-US" sz="5400" b="true">
                  <a:solidFill>
                    <a:srgbClr val="2628ED"/>
                  </a:solidFill>
                  <a:latin typeface="Helvetica World Bold"/>
                  <a:ea typeface="Helvetica World Bold"/>
                  <a:cs typeface="Helvetica World Bold"/>
                  <a:sym typeface="Helvetica World Bold"/>
                </a:rPr>
                <a:t>150 h</a:t>
              </a:r>
            </a:p>
          </p:txBody>
        </p:sp>
      </p:grpSp>
      <p:sp>
        <p:nvSpPr>
          <p:cNvPr name="TextBox 23" id="23"/>
          <p:cNvSpPr txBox="true"/>
          <p:nvPr/>
        </p:nvSpPr>
        <p:spPr>
          <a:xfrm rot="0">
            <a:off x="13533120" y="2532888"/>
            <a:ext cx="3977640" cy="781050"/>
          </a:xfrm>
          <a:prstGeom prst="rect">
            <a:avLst/>
          </a:prstGeom>
        </p:spPr>
        <p:txBody>
          <a:bodyPr anchor="t" rtlCol="false" tIns="0" lIns="0" bIns="0" rIns="0">
            <a:spAutoFit/>
          </a:bodyPr>
          <a:lstStyle/>
          <a:p>
            <a:pPr algn="l">
              <a:lnSpc>
                <a:spcPts val="3119"/>
              </a:lnSpc>
            </a:pPr>
            <a:r>
              <a:rPr lang="en-US" sz="2599">
                <a:solidFill>
                  <a:srgbClr val="171C2A"/>
                </a:solidFill>
                <a:latin typeface="Helvetica World"/>
                <a:ea typeface="Helvetica World"/>
                <a:cs typeface="Helvetica World"/>
                <a:sym typeface="Helvetica World"/>
              </a:rPr>
              <a:t>de vacations par semaine, en moyenne</a:t>
            </a:r>
          </a:p>
        </p:txBody>
      </p:sp>
      <p:grpSp>
        <p:nvGrpSpPr>
          <p:cNvPr name="Group 24" id="24"/>
          <p:cNvGrpSpPr/>
          <p:nvPr/>
        </p:nvGrpSpPr>
        <p:grpSpPr>
          <a:xfrm rot="0">
            <a:off x="777240" y="3344364"/>
            <a:ext cx="3977640" cy="1600200"/>
            <a:chOff x="0" y="0"/>
            <a:chExt cx="5303520" cy="2133600"/>
          </a:xfrm>
        </p:grpSpPr>
        <p:sp>
          <p:nvSpPr>
            <p:cNvPr name="Freeform 25" id="25"/>
            <p:cNvSpPr/>
            <p:nvPr/>
          </p:nvSpPr>
          <p:spPr>
            <a:xfrm flipH="false" flipV="false" rot="0">
              <a:off x="0" y="0"/>
              <a:ext cx="5303519" cy="2133600"/>
            </a:xfrm>
            <a:custGeom>
              <a:avLst/>
              <a:gdLst/>
              <a:ahLst/>
              <a:cxnLst/>
              <a:rect r="r" b="b" t="t" l="l"/>
              <a:pathLst>
                <a:path h="2133600" w="5303519">
                  <a:moveTo>
                    <a:pt x="0" y="0"/>
                  </a:moveTo>
                  <a:lnTo>
                    <a:pt x="5303519" y="0"/>
                  </a:lnTo>
                  <a:lnTo>
                    <a:pt x="5303519" y="2133600"/>
                  </a:lnTo>
                  <a:lnTo>
                    <a:pt x="0" y="2133600"/>
                  </a:lnTo>
                  <a:close/>
                </a:path>
              </a:pathLst>
            </a:custGeom>
            <a:blipFill>
              <a:blip r:embed="rId3">
                <a:alphaModFix amt="0"/>
              </a:blip>
              <a:stretch>
                <a:fillRect l="0" t="-21291" r="0" b="24422"/>
              </a:stretch>
            </a:blipFill>
          </p:spPr>
        </p:sp>
        <p:sp>
          <p:nvSpPr>
            <p:cNvPr name="TextBox 26" id="26"/>
            <p:cNvSpPr txBox="true"/>
            <p:nvPr/>
          </p:nvSpPr>
          <p:spPr>
            <a:xfrm>
              <a:off x="0" y="0"/>
              <a:ext cx="5303520" cy="2133600"/>
            </a:xfrm>
            <a:prstGeom prst="rect">
              <a:avLst/>
            </a:prstGeom>
          </p:spPr>
          <p:txBody>
            <a:bodyPr anchor="b" rtlCol="false" tIns="0" lIns="0" bIns="0" rIns="0"/>
            <a:lstStyle/>
            <a:p>
              <a:pPr algn="l">
                <a:lnSpc>
                  <a:spcPts val="6480"/>
                </a:lnSpc>
              </a:pPr>
              <a:r>
                <a:rPr lang="en-US" sz="5400" b="true">
                  <a:solidFill>
                    <a:srgbClr val="2628ED"/>
                  </a:solidFill>
                  <a:latin typeface="Helvetica World Bold"/>
                  <a:ea typeface="Helvetica World Bold"/>
                  <a:cs typeface="Helvetica World Bold"/>
                  <a:sym typeface="Helvetica World Bold"/>
                </a:rPr>
                <a:t>55 %</a:t>
              </a:r>
            </a:p>
          </p:txBody>
        </p:sp>
      </p:grpSp>
      <p:sp>
        <p:nvSpPr>
          <p:cNvPr name="TextBox 27" id="27"/>
          <p:cNvSpPr txBox="true"/>
          <p:nvPr/>
        </p:nvSpPr>
        <p:spPr>
          <a:xfrm rot="0">
            <a:off x="777240" y="4773168"/>
            <a:ext cx="3977640" cy="781050"/>
          </a:xfrm>
          <a:prstGeom prst="rect">
            <a:avLst/>
          </a:prstGeom>
        </p:spPr>
        <p:txBody>
          <a:bodyPr anchor="t" rtlCol="false" tIns="0" lIns="0" bIns="0" rIns="0">
            <a:spAutoFit/>
          </a:bodyPr>
          <a:lstStyle/>
          <a:p>
            <a:pPr algn="l">
              <a:lnSpc>
                <a:spcPts val="3119"/>
              </a:lnSpc>
            </a:pPr>
            <a:r>
              <a:rPr lang="en-US" sz="2599">
                <a:solidFill>
                  <a:srgbClr val="171C2A"/>
                </a:solidFill>
                <a:latin typeface="Helvetica World"/>
                <a:ea typeface="Helvetica World"/>
                <a:cs typeface="Helvetica World"/>
                <a:sym typeface="Helvetica World"/>
              </a:rPr>
              <a:t>de séjours en ambulatoire, stable d'une année à l'autre</a:t>
            </a:r>
          </a:p>
        </p:txBody>
      </p:sp>
      <p:grpSp>
        <p:nvGrpSpPr>
          <p:cNvPr name="Group 28" id="28"/>
          <p:cNvGrpSpPr/>
          <p:nvPr/>
        </p:nvGrpSpPr>
        <p:grpSpPr>
          <a:xfrm rot="0">
            <a:off x="5029200" y="3344364"/>
            <a:ext cx="3977640" cy="1600200"/>
            <a:chOff x="0" y="0"/>
            <a:chExt cx="5303520" cy="2133600"/>
          </a:xfrm>
        </p:grpSpPr>
        <p:sp>
          <p:nvSpPr>
            <p:cNvPr name="Freeform 29" id="29"/>
            <p:cNvSpPr/>
            <p:nvPr/>
          </p:nvSpPr>
          <p:spPr>
            <a:xfrm flipH="false" flipV="false" rot="0">
              <a:off x="0" y="0"/>
              <a:ext cx="5303519" cy="2133600"/>
            </a:xfrm>
            <a:custGeom>
              <a:avLst/>
              <a:gdLst/>
              <a:ahLst/>
              <a:cxnLst/>
              <a:rect r="r" b="b" t="t" l="l"/>
              <a:pathLst>
                <a:path h="2133600" w="5303519">
                  <a:moveTo>
                    <a:pt x="0" y="0"/>
                  </a:moveTo>
                  <a:lnTo>
                    <a:pt x="5303519" y="0"/>
                  </a:lnTo>
                  <a:lnTo>
                    <a:pt x="5303519" y="2133600"/>
                  </a:lnTo>
                  <a:lnTo>
                    <a:pt x="0" y="2133600"/>
                  </a:lnTo>
                  <a:close/>
                </a:path>
              </a:pathLst>
            </a:custGeom>
            <a:blipFill>
              <a:blip r:embed="rId3">
                <a:alphaModFix amt="0"/>
              </a:blip>
              <a:stretch>
                <a:fillRect l="0" t="-21291" r="0" b="24422"/>
              </a:stretch>
            </a:blipFill>
          </p:spPr>
        </p:sp>
        <p:sp>
          <p:nvSpPr>
            <p:cNvPr name="TextBox 30" id="30"/>
            <p:cNvSpPr txBox="true"/>
            <p:nvPr/>
          </p:nvSpPr>
          <p:spPr>
            <a:xfrm>
              <a:off x="0" y="0"/>
              <a:ext cx="5303520" cy="2133600"/>
            </a:xfrm>
            <a:prstGeom prst="rect">
              <a:avLst/>
            </a:prstGeom>
          </p:spPr>
          <p:txBody>
            <a:bodyPr anchor="b" rtlCol="false" tIns="0" lIns="0" bIns="0" rIns="0"/>
            <a:lstStyle/>
            <a:p>
              <a:pPr algn="l">
                <a:lnSpc>
                  <a:spcPts val="6480"/>
                </a:lnSpc>
              </a:pPr>
              <a:r>
                <a:rPr lang="en-US" sz="5400" b="true">
                  <a:solidFill>
                    <a:srgbClr val="2628ED"/>
                  </a:solidFill>
                  <a:latin typeface="Helvetica World Bold"/>
                  <a:ea typeface="Helvetica World Bold"/>
                  <a:cs typeface="Helvetica World Bold"/>
                  <a:sym typeface="Helvetica World Bold"/>
                </a:rPr>
                <a:t>1 h 17</a:t>
              </a:r>
            </a:p>
          </p:txBody>
        </p:sp>
      </p:grpSp>
      <p:sp>
        <p:nvSpPr>
          <p:cNvPr name="TextBox 31" id="31"/>
          <p:cNvSpPr txBox="true"/>
          <p:nvPr/>
        </p:nvSpPr>
        <p:spPr>
          <a:xfrm rot="0">
            <a:off x="5029200" y="4773168"/>
            <a:ext cx="3977640" cy="781050"/>
          </a:xfrm>
          <a:prstGeom prst="rect">
            <a:avLst/>
          </a:prstGeom>
        </p:spPr>
        <p:txBody>
          <a:bodyPr anchor="t" rtlCol="false" tIns="0" lIns="0" bIns="0" rIns="0">
            <a:spAutoFit/>
          </a:bodyPr>
          <a:lstStyle/>
          <a:p>
            <a:pPr algn="l">
              <a:lnSpc>
                <a:spcPts val="3119"/>
              </a:lnSpc>
            </a:pPr>
            <a:r>
              <a:rPr lang="en-US" sz="2599">
                <a:solidFill>
                  <a:srgbClr val="171C2A"/>
                </a:solidFill>
                <a:latin typeface="Helvetica World"/>
                <a:ea typeface="Helvetica World"/>
                <a:cs typeface="Helvetica World"/>
                <a:sym typeface="Helvetica World"/>
              </a:rPr>
              <a:t>En bloc</a:t>
            </a:r>
            <a:r>
              <a:rPr lang="en-US" sz="2599">
                <a:solidFill>
                  <a:srgbClr val="171C2A"/>
                </a:solidFill>
                <a:latin typeface="Helvetica World"/>
                <a:ea typeface="Helvetica World"/>
                <a:cs typeface="Helvetica World"/>
                <a:sym typeface="Helvetica World"/>
              </a:rPr>
              <a:t> en moyenne, 9 cas sur 10 sous 2 h 10</a:t>
            </a:r>
          </a:p>
        </p:txBody>
      </p:sp>
      <p:grpSp>
        <p:nvGrpSpPr>
          <p:cNvPr name="Group 32" id="32"/>
          <p:cNvGrpSpPr/>
          <p:nvPr/>
        </p:nvGrpSpPr>
        <p:grpSpPr>
          <a:xfrm rot="0">
            <a:off x="9281160" y="3344364"/>
            <a:ext cx="3977640" cy="1600200"/>
            <a:chOff x="0" y="0"/>
            <a:chExt cx="5303520" cy="2133600"/>
          </a:xfrm>
        </p:grpSpPr>
        <p:sp>
          <p:nvSpPr>
            <p:cNvPr name="Freeform 33" id="33"/>
            <p:cNvSpPr/>
            <p:nvPr/>
          </p:nvSpPr>
          <p:spPr>
            <a:xfrm flipH="false" flipV="false" rot="0">
              <a:off x="0" y="0"/>
              <a:ext cx="5303519" cy="2133600"/>
            </a:xfrm>
            <a:custGeom>
              <a:avLst/>
              <a:gdLst/>
              <a:ahLst/>
              <a:cxnLst/>
              <a:rect r="r" b="b" t="t" l="l"/>
              <a:pathLst>
                <a:path h="2133600" w="5303519">
                  <a:moveTo>
                    <a:pt x="0" y="0"/>
                  </a:moveTo>
                  <a:lnTo>
                    <a:pt x="5303519" y="0"/>
                  </a:lnTo>
                  <a:lnTo>
                    <a:pt x="5303519" y="2133600"/>
                  </a:lnTo>
                  <a:lnTo>
                    <a:pt x="0" y="2133600"/>
                  </a:lnTo>
                  <a:close/>
                </a:path>
              </a:pathLst>
            </a:custGeom>
            <a:blipFill>
              <a:blip r:embed="rId3">
                <a:alphaModFix amt="0"/>
              </a:blip>
              <a:stretch>
                <a:fillRect l="0" t="-21291" r="0" b="24422"/>
              </a:stretch>
            </a:blipFill>
          </p:spPr>
        </p:sp>
        <p:sp>
          <p:nvSpPr>
            <p:cNvPr name="TextBox 34" id="34"/>
            <p:cNvSpPr txBox="true"/>
            <p:nvPr/>
          </p:nvSpPr>
          <p:spPr>
            <a:xfrm>
              <a:off x="0" y="0"/>
              <a:ext cx="5303520" cy="2133600"/>
            </a:xfrm>
            <a:prstGeom prst="rect">
              <a:avLst/>
            </a:prstGeom>
          </p:spPr>
          <p:txBody>
            <a:bodyPr anchor="b" rtlCol="false" tIns="0" lIns="0" bIns="0" rIns="0"/>
            <a:lstStyle/>
            <a:p>
              <a:pPr algn="l">
                <a:lnSpc>
                  <a:spcPts val="6480"/>
                </a:lnSpc>
              </a:pPr>
              <a:r>
                <a:rPr lang="en-US" sz="5400" b="true">
                  <a:solidFill>
                    <a:srgbClr val="2628ED"/>
                  </a:solidFill>
                  <a:latin typeface="Helvetica World Bold"/>
                  <a:ea typeface="Helvetica World Bold"/>
                  <a:cs typeface="Helvetica World Bold"/>
                  <a:sym typeface="Helvetica World Bold"/>
                </a:rPr>
                <a:t>2,4</a:t>
              </a:r>
            </a:p>
          </p:txBody>
        </p:sp>
      </p:grpSp>
      <p:sp>
        <p:nvSpPr>
          <p:cNvPr name="TextBox 35" id="35"/>
          <p:cNvSpPr txBox="true"/>
          <p:nvPr/>
        </p:nvSpPr>
        <p:spPr>
          <a:xfrm rot="0">
            <a:off x="9281160" y="4773168"/>
            <a:ext cx="3977640" cy="781050"/>
          </a:xfrm>
          <a:prstGeom prst="rect">
            <a:avLst/>
          </a:prstGeom>
        </p:spPr>
        <p:txBody>
          <a:bodyPr anchor="t" rtlCol="false" tIns="0" lIns="0" bIns="0" rIns="0">
            <a:spAutoFit/>
          </a:bodyPr>
          <a:lstStyle/>
          <a:p>
            <a:pPr algn="l">
              <a:lnSpc>
                <a:spcPts val="3119"/>
              </a:lnSpc>
            </a:pPr>
            <a:r>
              <a:rPr lang="en-US" sz="2599">
                <a:solidFill>
                  <a:srgbClr val="171C2A"/>
                </a:solidFill>
                <a:latin typeface="Helvetica World"/>
                <a:ea typeface="Helvetica World"/>
                <a:cs typeface="Helvetica World"/>
                <a:sym typeface="Helvetica World"/>
              </a:rPr>
              <a:t>nuits après l'opération pour un patient hospitalisé</a:t>
            </a:r>
          </a:p>
        </p:txBody>
      </p:sp>
      <p:grpSp>
        <p:nvGrpSpPr>
          <p:cNvPr name="Group 36" id="36"/>
          <p:cNvGrpSpPr/>
          <p:nvPr/>
        </p:nvGrpSpPr>
        <p:grpSpPr>
          <a:xfrm rot="0">
            <a:off x="13533120" y="3344364"/>
            <a:ext cx="3977640" cy="1600200"/>
            <a:chOff x="0" y="0"/>
            <a:chExt cx="5303520" cy="2133600"/>
          </a:xfrm>
        </p:grpSpPr>
        <p:sp>
          <p:nvSpPr>
            <p:cNvPr name="Freeform 37" id="37"/>
            <p:cNvSpPr/>
            <p:nvPr/>
          </p:nvSpPr>
          <p:spPr>
            <a:xfrm flipH="false" flipV="false" rot="0">
              <a:off x="0" y="0"/>
              <a:ext cx="5303519" cy="2133600"/>
            </a:xfrm>
            <a:custGeom>
              <a:avLst/>
              <a:gdLst/>
              <a:ahLst/>
              <a:cxnLst/>
              <a:rect r="r" b="b" t="t" l="l"/>
              <a:pathLst>
                <a:path h="2133600" w="5303519">
                  <a:moveTo>
                    <a:pt x="0" y="0"/>
                  </a:moveTo>
                  <a:lnTo>
                    <a:pt x="5303519" y="0"/>
                  </a:lnTo>
                  <a:lnTo>
                    <a:pt x="5303519" y="2133600"/>
                  </a:lnTo>
                  <a:lnTo>
                    <a:pt x="0" y="2133600"/>
                  </a:lnTo>
                  <a:close/>
                </a:path>
              </a:pathLst>
            </a:custGeom>
            <a:blipFill>
              <a:blip r:embed="rId3">
                <a:alphaModFix amt="0"/>
              </a:blip>
              <a:stretch>
                <a:fillRect l="0" t="-21291" r="0" b="24422"/>
              </a:stretch>
            </a:blipFill>
          </p:spPr>
        </p:sp>
        <p:sp>
          <p:nvSpPr>
            <p:cNvPr name="TextBox 38" id="38"/>
            <p:cNvSpPr txBox="true"/>
            <p:nvPr/>
          </p:nvSpPr>
          <p:spPr>
            <a:xfrm>
              <a:off x="0" y="0"/>
              <a:ext cx="5303520" cy="2133600"/>
            </a:xfrm>
            <a:prstGeom prst="rect">
              <a:avLst/>
            </a:prstGeom>
          </p:spPr>
          <p:txBody>
            <a:bodyPr anchor="b" rtlCol="false" tIns="0" lIns="0" bIns="0" rIns="0"/>
            <a:lstStyle/>
            <a:p>
              <a:pPr algn="l">
                <a:lnSpc>
                  <a:spcPts val="6480"/>
                </a:lnSpc>
              </a:pPr>
              <a:r>
                <a:rPr lang="en-US" sz="5400" b="true">
                  <a:solidFill>
                    <a:srgbClr val="2628ED"/>
                  </a:solidFill>
                  <a:latin typeface="Helvetica World Bold"/>
                  <a:ea typeface="Helvetica World Bold"/>
                  <a:cs typeface="Helvetica World Bold"/>
                  <a:sym typeface="Helvetica World Bold"/>
                </a:rPr>
                <a:t>30 + 20</a:t>
              </a:r>
            </a:p>
          </p:txBody>
        </p:sp>
      </p:grpSp>
      <p:sp>
        <p:nvSpPr>
          <p:cNvPr name="TextBox 39" id="39"/>
          <p:cNvSpPr txBox="true"/>
          <p:nvPr/>
        </p:nvSpPr>
        <p:spPr>
          <a:xfrm rot="0">
            <a:off x="13533120" y="4773168"/>
            <a:ext cx="3977640" cy="781050"/>
          </a:xfrm>
          <a:prstGeom prst="rect">
            <a:avLst/>
          </a:prstGeom>
        </p:spPr>
        <p:txBody>
          <a:bodyPr anchor="t" rtlCol="false" tIns="0" lIns="0" bIns="0" rIns="0">
            <a:spAutoFit/>
          </a:bodyPr>
          <a:lstStyle/>
          <a:p>
            <a:pPr algn="l">
              <a:lnSpc>
                <a:spcPts val="3119"/>
              </a:lnSpc>
            </a:pPr>
            <a:r>
              <a:rPr lang="en-US" sz="2599">
                <a:solidFill>
                  <a:srgbClr val="171C2A"/>
                </a:solidFill>
                <a:latin typeface="Helvetica World"/>
                <a:ea typeface="Helvetica World"/>
                <a:cs typeface="Helvetica World"/>
                <a:sym typeface="Helvetica World"/>
              </a:rPr>
              <a:t>lits et places d'ambulatoire disponibles chaque jour</a:t>
            </a:r>
          </a:p>
        </p:txBody>
      </p:sp>
      <p:grpSp>
        <p:nvGrpSpPr>
          <p:cNvPr name="Group 40" id="40"/>
          <p:cNvGrpSpPr/>
          <p:nvPr/>
        </p:nvGrpSpPr>
        <p:grpSpPr>
          <a:xfrm rot="0">
            <a:off x="777240" y="5913660"/>
            <a:ext cx="16733520" cy="871188"/>
            <a:chOff x="0" y="0"/>
            <a:chExt cx="22311360" cy="1161584"/>
          </a:xfrm>
        </p:grpSpPr>
        <p:sp>
          <p:nvSpPr>
            <p:cNvPr name="Freeform 41" id="41"/>
            <p:cNvSpPr/>
            <p:nvPr/>
          </p:nvSpPr>
          <p:spPr>
            <a:xfrm flipH="false" flipV="false" rot="0">
              <a:off x="0" y="0"/>
              <a:ext cx="22311361" cy="1161584"/>
            </a:xfrm>
            <a:custGeom>
              <a:avLst/>
              <a:gdLst/>
              <a:ahLst/>
              <a:cxnLst/>
              <a:rect r="r" b="b" t="t" l="l"/>
              <a:pathLst>
                <a:path h="1161584" w="22311361">
                  <a:moveTo>
                    <a:pt x="0" y="0"/>
                  </a:moveTo>
                  <a:lnTo>
                    <a:pt x="22311361" y="0"/>
                  </a:lnTo>
                  <a:lnTo>
                    <a:pt x="22311361" y="1161584"/>
                  </a:lnTo>
                  <a:lnTo>
                    <a:pt x="0" y="1161584"/>
                  </a:lnTo>
                  <a:close/>
                </a:path>
              </a:pathLst>
            </a:custGeom>
            <a:solidFill>
              <a:srgbClr val="171C2A"/>
            </a:solidFill>
          </p:spPr>
        </p:sp>
        <p:sp>
          <p:nvSpPr>
            <p:cNvPr name="TextBox 42" id="42"/>
            <p:cNvSpPr txBox="true"/>
            <p:nvPr/>
          </p:nvSpPr>
          <p:spPr>
            <a:xfrm>
              <a:off x="0" y="9525"/>
              <a:ext cx="2231136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Lits et places</a:t>
              </a:r>
            </a:p>
          </p:txBody>
        </p:sp>
      </p:grpSp>
      <p:grpSp>
        <p:nvGrpSpPr>
          <p:cNvPr name="Group 43" id="43"/>
          <p:cNvGrpSpPr/>
          <p:nvPr/>
        </p:nvGrpSpPr>
        <p:grpSpPr>
          <a:xfrm rot="0">
            <a:off x="777240" y="6784848"/>
            <a:ext cx="16733520" cy="1949701"/>
            <a:chOff x="0" y="0"/>
            <a:chExt cx="22311360" cy="2599601"/>
          </a:xfrm>
        </p:grpSpPr>
        <p:sp>
          <p:nvSpPr>
            <p:cNvPr name="Freeform 44" id="44"/>
            <p:cNvSpPr/>
            <p:nvPr/>
          </p:nvSpPr>
          <p:spPr>
            <a:xfrm flipH="false" flipV="false" rot="0">
              <a:off x="0" y="0"/>
              <a:ext cx="22311361" cy="2599563"/>
            </a:xfrm>
            <a:custGeom>
              <a:avLst/>
              <a:gdLst/>
              <a:ahLst/>
              <a:cxnLst/>
              <a:rect r="r" b="b" t="t" l="l"/>
              <a:pathLst>
                <a:path h="2599563" w="22311361">
                  <a:moveTo>
                    <a:pt x="0" y="0"/>
                  </a:moveTo>
                  <a:lnTo>
                    <a:pt x="22311361" y="0"/>
                  </a:lnTo>
                  <a:lnTo>
                    <a:pt x="22311361" y="2599563"/>
                  </a:lnTo>
                  <a:lnTo>
                    <a:pt x="0" y="2599563"/>
                  </a:lnTo>
                  <a:close/>
                </a:path>
              </a:pathLst>
            </a:custGeom>
            <a:solidFill>
              <a:srgbClr val="F2F8F6"/>
            </a:solidFill>
          </p:spPr>
        </p:sp>
      </p:grpSp>
      <p:sp>
        <p:nvSpPr>
          <p:cNvPr name="TextBox 45" id="45"/>
          <p:cNvSpPr txBox="true"/>
          <p:nvPr/>
        </p:nvSpPr>
        <p:spPr>
          <a:xfrm rot="0">
            <a:off x="978408" y="6949440"/>
            <a:ext cx="16331184" cy="1390650"/>
          </a:xfrm>
          <a:prstGeom prst="rect">
            <a:avLst/>
          </a:prstGeom>
        </p:spPr>
        <p:txBody>
          <a:bodyPr anchor="t" rtlCol="false" tIns="0" lIns="0" bIns="0" rIns="0">
            <a:spAutoFit/>
          </a:bodyPr>
          <a:lstStyle/>
          <a:p>
            <a:pPr algn="l">
              <a:lnSpc>
                <a:spcPts val="3479"/>
              </a:lnSpc>
            </a:pPr>
            <a:r>
              <a:rPr lang="en-US" sz="2899">
                <a:solidFill>
                  <a:srgbClr val="171C2A"/>
                </a:solidFill>
                <a:latin typeface="Helvetica World"/>
                <a:ea typeface="Helvetica World"/>
                <a:cs typeface="Helvetica World"/>
                <a:sym typeface="Helvetica World"/>
              </a:rPr>
              <a:t>Un patient hospitalisé occupe un </a:t>
            </a:r>
            <a:r>
              <a:rPr lang="en-US" sz="2899" b="true">
                <a:solidFill>
                  <a:srgbClr val="171C2A"/>
                </a:solidFill>
                <a:latin typeface="Helvetica World Bold"/>
                <a:ea typeface="Helvetica World Bold"/>
                <a:cs typeface="Helvetica World Bold"/>
                <a:sym typeface="Helvetica World Bold"/>
              </a:rPr>
              <a:t>lit</a:t>
            </a:r>
            <a:r>
              <a:rPr lang="en-US" sz="2899">
                <a:solidFill>
                  <a:srgbClr val="171C2A"/>
                </a:solidFill>
                <a:latin typeface="Helvetica World"/>
                <a:ea typeface="Helvetica World"/>
                <a:cs typeface="Helvetica World"/>
                <a:sym typeface="Helvetica World"/>
              </a:rPr>
              <a:t> chaque nuit, un patient ambulatoire une </a:t>
            </a:r>
            <a:r>
              <a:rPr lang="en-US" sz="2899" b="true">
                <a:solidFill>
                  <a:srgbClr val="171C2A"/>
                </a:solidFill>
                <a:latin typeface="Helvetica World Bold"/>
                <a:ea typeface="Helvetica World Bold"/>
                <a:cs typeface="Helvetica World Bold"/>
                <a:sym typeface="Helvetica World Bold"/>
              </a:rPr>
              <a:t>place</a:t>
            </a:r>
            <a:r>
              <a:rPr lang="en-US" sz="2899">
                <a:solidFill>
                  <a:srgbClr val="171C2A"/>
                </a:solidFill>
                <a:latin typeface="Helvetica World"/>
                <a:ea typeface="Helvetica World"/>
                <a:cs typeface="Helvetica World"/>
                <a:sym typeface="Helvetica World"/>
              </a:rPr>
              <a:t> pour la journée.</a:t>
            </a:r>
          </a:p>
          <a:p>
            <a:pPr algn="l">
              <a:lnSpc>
                <a:spcPts val="3479"/>
              </a:lnSpc>
            </a:pPr>
            <a:r>
              <a:rPr lang="en-US" sz="2899" b="true">
                <a:solidFill>
                  <a:srgbClr val="171C2A"/>
                </a:solidFill>
                <a:latin typeface="Helvetica World Bold"/>
                <a:ea typeface="Helvetica World Bold"/>
                <a:cs typeface="Helvetica World Bold"/>
                <a:sym typeface="Helvetica World Bold"/>
              </a:rPr>
              <a:t>30 lits (dont 3 gardés pour les urgences) et 20 places</a:t>
            </a:r>
            <a:r>
              <a:rPr lang="en-US" sz="2899">
                <a:solidFill>
                  <a:srgbClr val="171C2A"/>
                </a:solidFill>
                <a:latin typeface="Helvetica World"/>
                <a:ea typeface="Helvetica World"/>
                <a:cs typeface="Helvetica World"/>
                <a:sym typeface="Helvetica World"/>
              </a:rPr>
              <a:t> : l'historique en occupe ≈ 13 et ≈ 7 pour 86 h de bloc par semaine, soit ≈ 22 et ≈ 13 pour les 150 h du planning ; la marge couvre les pics.</a:t>
            </a:r>
          </a:p>
        </p:txBody>
      </p:sp>
      <p:grpSp>
        <p:nvGrpSpPr>
          <p:cNvPr name="Group 46" id="46"/>
          <p:cNvGrpSpPr/>
          <p:nvPr/>
        </p:nvGrpSpPr>
        <p:grpSpPr>
          <a:xfrm rot="0">
            <a:off x="453390" y="9699939"/>
            <a:ext cx="2230494" cy="396881"/>
            <a:chOff x="0" y="0"/>
            <a:chExt cx="2973991" cy="529175"/>
          </a:xfrm>
        </p:grpSpPr>
        <p:sp>
          <p:nvSpPr>
            <p:cNvPr name="Freeform 47" id="47"/>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8" id="48"/>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9" id="49"/>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0" id="50"/>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1" id="51"/>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52" id="52"/>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53" id="5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b="true" sz="3200">
                  <a:solidFill>
                    <a:srgbClr val="171C2A"/>
                  </a:solidFill>
                  <a:latin typeface="Helvetica World Bold"/>
                  <a:ea typeface="Helvetica World Bold"/>
                  <a:cs typeface="Helvetica World Bold"/>
                  <a:sym typeface="Helvetica World Bold"/>
                </a:rPr>
                <a:t>CONTEXTE : RÉPARTITION DES INTERVENTIONS SUR LA SEMAINE</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TextBox 7" id="7"/>
          <p:cNvSpPr txBox="true"/>
          <p:nvPr/>
        </p:nvSpPr>
        <p:spPr>
          <a:xfrm rot="0">
            <a:off x="1028700" y="8064503"/>
            <a:ext cx="16230600" cy="904875"/>
          </a:xfrm>
          <a:prstGeom prst="rect">
            <a:avLst/>
          </a:prstGeom>
        </p:spPr>
        <p:txBody>
          <a:bodyPr anchor="t" rtlCol="false" tIns="0" lIns="0" bIns="0" rIns="0">
            <a:spAutoFit/>
          </a:bodyPr>
          <a:lstStyle/>
          <a:p>
            <a:pPr algn="l">
              <a:lnSpc>
                <a:spcPts val="3239"/>
              </a:lnSpc>
            </a:pPr>
            <a:r>
              <a:rPr lang="en-US" b="true" sz="2699">
                <a:solidFill>
                  <a:srgbClr val="171C2A"/>
                </a:solidFill>
                <a:latin typeface="Helvetica World Bold"/>
                <a:ea typeface="Helvetica World Bold"/>
                <a:cs typeface="Helvetica World Bold"/>
                <a:sym typeface="Helvetica World Bold"/>
              </a:rPr>
              <a:t>Le mercredi compte 15 % d'interventions de plus que les autres jours : lits et places y saturent en premier.</a:t>
            </a:r>
          </a:p>
        </p:txBody>
      </p:sp>
      <p:grpSp>
        <p:nvGrpSpPr>
          <p:cNvPr name="Group 8" id="8"/>
          <p:cNvGrpSpPr/>
          <p:nvPr/>
        </p:nvGrpSpPr>
        <p:grpSpPr>
          <a:xfrm rot="0">
            <a:off x="777240" y="1724025"/>
            <a:ext cx="9966960" cy="5981195"/>
            <a:chOff x="0" y="0"/>
            <a:chExt cx="13289280" cy="7974927"/>
          </a:xfrm>
        </p:grpSpPr>
        <p:sp>
          <p:nvSpPr>
            <p:cNvPr name="Freeform 9" id="9" descr="jours.png"/>
            <p:cNvSpPr/>
            <p:nvPr/>
          </p:nvSpPr>
          <p:spPr>
            <a:xfrm flipH="false" flipV="false" rot="0">
              <a:off x="0" y="0"/>
              <a:ext cx="13289280" cy="7974965"/>
            </a:xfrm>
            <a:custGeom>
              <a:avLst/>
              <a:gdLst/>
              <a:ahLst/>
              <a:cxnLst/>
              <a:rect r="r" b="b" t="t" l="l"/>
              <a:pathLst>
                <a:path h="7974965" w="13289280">
                  <a:moveTo>
                    <a:pt x="0" y="0"/>
                  </a:moveTo>
                  <a:lnTo>
                    <a:pt x="13289280" y="0"/>
                  </a:lnTo>
                  <a:lnTo>
                    <a:pt x="13289280" y="7974965"/>
                  </a:lnTo>
                  <a:lnTo>
                    <a:pt x="0" y="7974965"/>
                  </a:lnTo>
                  <a:lnTo>
                    <a:pt x="0" y="0"/>
                  </a:lnTo>
                  <a:close/>
                </a:path>
              </a:pathLst>
            </a:custGeom>
            <a:blipFill>
              <a:blip r:embed="rId4"/>
              <a:stretch>
                <a:fillRect l="-1" t="0" r="-1" b="0"/>
              </a:stretch>
            </a:blipFill>
          </p:spPr>
        </p:sp>
      </p:grpSp>
      <p:grpSp>
        <p:nvGrpSpPr>
          <p:cNvPr name="Group 10" id="10"/>
          <p:cNvGrpSpPr/>
          <p:nvPr/>
        </p:nvGrpSpPr>
        <p:grpSpPr>
          <a:xfrm rot="0">
            <a:off x="11018520" y="1724025"/>
            <a:ext cx="6492240" cy="5981195"/>
            <a:chOff x="0" y="0"/>
            <a:chExt cx="8656320" cy="7974927"/>
          </a:xfrm>
        </p:grpSpPr>
        <p:sp>
          <p:nvSpPr>
            <p:cNvPr name="Freeform 11" id="11" descr="ambu.png"/>
            <p:cNvSpPr/>
            <p:nvPr/>
          </p:nvSpPr>
          <p:spPr>
            <a:xfrm flipH="false" flipV="false" rot="0">
              <a:off x="0" y="0"/>
              <a:ext cx="8656320" cy="7974965"/>
            </a:xfrm>
            <a:custGeom>
              <a:avLst/>
              <a:gdLst/>
              <a:ahLst/>
              <a:cxnLst/>
              <a:rect r="r" b="b" t="t" l="l"/>
              <a:pathLst>
                <a:path h="7974965" w="8656320">
                  <a:moveTo>
                    <a:pt x="0" y="0"/>
                  </a:moveTo>
                  <a:lnTo>
                    <a:pt x="8656320" y="0"/>
                  </a:lnTo>
                  <a:lnTo>
                    <a:pt x="8656320" y="7974965"/>
                  </a:lnTo>
                  <a:lnTo>
                    <a:pt x="0" y="7974965"/>
                  </a:lnTo>
                  <a:lnTo>
                    <a:pt x="0" y="0"/>
                  </a:lnTo>
                  <a:close/>
                </a:path>
              </a:pathLst>
            </a:custGeom>
            <a:blipFill>
              <a:blip r:embed="rId5"/>
              <a:stretch>
                <a:fillRect l="-1" t="0" r="-1" b="0"/>
              </a:stretch>
            </a:blipFill>
          </p:spPr>
        </p:sp>
      </p:grpSp>
      <p:grpSp>
        <p:nvGrpSpPr>
          <p:cNvPr name="Group 12" id="12"/>
          <p:cNvGrpSpPr/>
          <p:nvPr/>
        </p:nvGrpSpPr>
        <p:grpSpPr>
          <a:xfrm rot="0">
            <a:off x="453390" y="9699939"/>
            <a:ext cx="2230494" cy="396881"/>
            <a:chOff x="0" y="0"/>
            <a:chExt cx="2973991" cy="529175"/>
          </a:xfrm>
        </p:grpSpPr>
        <p:sp>
          <p:nvSpPr>
            <p:cNvPr name="Freeform 13" id="13"/>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8" id="18"/>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NOTRE OUTIL OR'CHESTRE</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TextBox 7" id="7"/>
          <p:cNvSpPr txBox="true"/>
          <p:nvPr/>
        </p:nvSpPr>
        <p:spPr>
          <a:xfrm rot="0">
            <a:off x="777240" y="8204200"/>
            <a:ext cx="16733520" cy="904875"/>
          </a:xfrm>
          <a:prstGeom prst="rect">
            <a:avLst/>
          </a:prstGeom>
        </p:spPr>
        <p:txBody>
          <a:bodyPr anchor="t" rtlCol="false" tIns="0" lIns="0" bIns="0" rIns="0">
            <a:spAutoFit/>
          </a:bodyPr>
          <a:lstStyle/>
          <a:p>
            <a:pPr algn="l">
              <a:lnSpc>
                <a:spcPts val="3239"/>
              </a:lnSpc>
            </a:pPr>
            <a:r>
              <a:rPr lang="en-US" b="true" sz="2699">
                <a:solidFill>
                  <a:srgbClr val="171C2A"/>
                </a:solidFill>
                <a:latin typeface="Helvetica World Bold"/>
                <a:ea typeface="Helvetica World Bold"/>
                <a:cs typeface="Helvetica World Bold"/>
                <a:sym typeface="Helvetica World Bold"/>
              </a:rPr>
              <a:t>Chaque brique alimente la suivante : les prédictions nourrissent le planning, le planning est l'état initial des agents et l’approche dynamique se sert du machine learning.</a:t>
            </a:r>
          </a:p>
        </p:txBody>
      </p:sp>
      <p:grpSp>
        <p:nvGrpSpPr>
          <p:cNvPr name="Group 8" id="8"/>
          <p:cNvGrpSpPr/>
          <p:nvPr/>
        </p:nvGrpSpPr>
        <p:grpSpPr>
          <a:xfrm rot="0">
            <a:off x="777240" y="1902001"/>
            <a:ext cx="5394960" cy="845218"/>
            <a:chOff x="0" y="0"/>
            <a:chExt cx="7193280" cy="1126957"/>
          </a:xfrm>
        </p:grpSpPr>
        <p:sp>
          <p:nvSpPr>
            <p:cNvPr name="Freeform 9" id="9"/>
            <p:cNvSpPr/>
            <p:nvPr/>
          </p:nvSpPr>
          <p:spPr>
            <a:xfrm flipH="false" flipV="false" rot="0">
              <a:off x="0" y="0"/>
              <a:ext cx="7193280" cy="1126957"/>
            </a:xfrm>
            <a:custGeom>
              <a:avLst/>
              <a:gdLst/>
              <a:ahLst/>
              <a:cxnLst/>
              <a:rect r="r" b="b" t="t" l="l"/>
              <a:pathLst>
                <a:path h="1126957" w="7193280">
                  <a:moveTo>
                    <a:pt x="0" y="0"/>
                  </a:moveTo>
                  <a:lnTo>
                    <a:pt x="7193280" y="0"/>
                  </a:lnTo>
                  <a:lnTo>
                    <a:pt x="7193280" y="1126957"/>
                  </a:lnTo>
                  <a:lnTo>
                    <a:pt x="0" y="1126957"/>
                  </a:lnTo>
                  <a:close/>
                </a:path>
              </a:pathLst>
            </a:custGeom>
            <a:solidFill>
              <a:srgbClr val="171C2A"/>
            </a:solidFill>
          </p:spPr>
        </p:sp>
        <p:sp>
          <p:nvSpPr>
            <p:cNvPr name="TextBox 10" id="10"/>
            <p:cNvSpPr txBox="true"/>
            <p:nvPr/>
          </p:nvSpPr>
          <p:spPr>
            <a:xfrm>
              <a:off x="0" y="0"/>
              <a:ext cx="7193280" cy="1126957"/>
            </a:xfrm>
            <a:prstGeom prst="rect">
              <a:avLst/>
            </a:prstGeom>
          </p:spPr>
          <p:txBody>
            <a:bodyPr anchor="ctr" rtlCol="false" tIns="50800" lIns="50800" bIns="50800" rIns="50800"/>
            <a:lstStyle/>
            <a:p>
              <a:pPr algn="l">
                <a:lnSpc>
                  <a:spcPts val="3479"/>
                </a:lnSpc>
              </a:pPr>
              <a:r>
                <a:rPr lang="en-US" sz="2899" b="true">
                  <a:solidFill>
                    <a:srgbClr val="FFFFFF"/>
                  </a:solidFill>
                  <a:latin typeface="Helvetica World Bold"/>
                  <a:ea typeface="Helvetica World Bold"/>
                  <a:cs typeface="Helvetica World Bold"/>
                  <a:sym typeface="Helvetica World Bold"/>
                </a:rPr>
                <a:t>  </a:t>
              </a:r>
              <a:r>
                <a:rPr lang="en-US" sz="2899" b="true">
                  <a:solidFill>
                    <a:srgbClr val="FFFFFF"/>
                  </a:solidFill>
                  <a:latin typeface="Helvetica World Bold"/>
                  <a:ea typeface="Helvetica World Bold"/>
                  <a:cs typeface="Helvetica World Bold"/>
                  <a:sym typeface="Helvetica World Bold"/>
                </a:rPr>
                <a:t>1 · Machine Learning</a:t>
              </a:r>
            </a:p>
          </p:txBody>
        </p:sp>
      </p:grpSp>
      <p:grpSp>
        <p:nvGrpSpPr>
          <p:cNvPr name="Group 11" id="11"/>
          <p:cNvGrpSpPr/>
          <p:nvPr/>
        </p:nvGrpSpPr>
        <p:grpSpPr>
          <a:xfrm rot="0">
            <a:off x="777240" y="2747218"/>
            <a:ext cx="5394960" cy="5066457"/>
            <a:chOff x="0" y="0"/>
            <a:chExt cx="7193280" cy="6755275"/>
          </a:xfrm>
        </p:grpSpPr>
        <p:sp>
          <p:nvSpPr>
            <p:cNvPr name="Freeform 12" id="12"/>
            <p:cNvSpPr/>
            <p:nvPr/>
          </p:nvSpPr>
          <p:spPr>
            <a:xfrm flipH="false" flipV="false" rot="0">
              <a:off x="0" y="0"/>
              <a:ext cx="7193280" cy="6755242"/>
            </a:xfrm>
            <a:custGeom>
              <a:avLst/>
              <a:gdLst/>
              <a:ahLst/>
              <a:cxnLst/>
              <a:rect r="r" b="b" t="t" l="l"/>
              <a:pathLst>
                <a:path h="6755242" w="7193280">
                  <a:moveTo>
                    <a:pt x="0" y="0"/>
                  </a:moveTo>
                  <a:lnTo>
                    <a:pt x="7193280" y="0"/>
                  </a:lnTo>
                  <a:lnTo>
                    <a:pt x="7193280" y="6755242"/>
                  </a:lnTo>
                  <a:lnTo>
                    <a:pt x="0" y="6755242"/>
                  </a:lnTo>
                  <a:close/>
                </a:path>
              </a:pathLst>
            </a:custGeom>
            <a:solidFill>
              <a:srgbClr val="F2F8F6"/>
            </a:solidFill>
          </p:spPr>
        </p:sp>
      </p:grpSp>
      <p:sp>
        <p:nvSpPr>
          <p:cNvPr name="TextBox 13" id="13"/>
          <p:cNvSpPr txBox="true"/>
          <p:nvPr/>
        </p:nvSpPr>
        <p:spPr>
          <a:xfrm rot="0">
            <a:off x="978408" y="2967459"/>
            <a:ext cx="4992624" cy="4095750"/>
          </a:xfrm>
          <a:prstGeom prst="rect">
            <a:avLst/>
          </a:prstGeom>
        </p:spPr>
        <p:txBody>
          <a:bodyPr anchor="t" rtlCol="false" tIns="0" lIns="0" bIns="0" rIns="0">
            <a:spAutoFit/>
          </a:bodyPr>
          <a:lstStyle/>
          <a:p>
            <a:pPr algn="l">
              <a:lnSpc>
                <a:spcPts val="3960"/>
              </a:lnSpc>
            </a:pPr>
            <a:r>
              <a:rPr lang="en-US" sz="3300">
                <a:solidFill>
                  <a:srgbClr val="171C2A"/>
                </a:solidFill>
                <a:latin typeface="Helvetica World"/>
                <a:ea typeface="Helvetica World"/>
                <a:cs typeface="Helvetica World"/>
                <a:sym typeface="Helvetica World"/>
              </a:rPr>
              <a:t>Estimer pour chaque patient : durée au bloc, hospitalisation ou ambulatoire, nuits, urgence.</a:t>
            </a:r>
          </a:p>
          <a:p>
            <a:pPr algn="l">
              <a:lnSpc>
                <a:spcPts val="3960"/>
              </a:lnSpc>
            </a:pPr>
            <a:r>
              <a:rPr lang="en-US" sz="3300" b="true">
                <a:solidFill>
                  <a:srgbClr val="2628ED"/>
                </a:solidFill>
                <a:latin typeface="Helvetica World Bold"/>
                <a:ea typeface="Helvetica World Bold"/>
                <a:cs typeface="Helvetica World Bold"/>
                <a:sym typeface="Helvetica World Bold"/>
              </a:rPr>
              <a:t>Horizon : </a:t>
            </a:r>
            <a:r>
              <a:rPr lang="en-US" sz="3300">
                <a:solidFill>
                  <a:srgbClr val="171C2A"/>
                </a:solidFill>
                <a:latin typeface="Helvetica World"/>
                <a:ea typeface="Helvetica World"/>
                <a:cs typeface="Helvetica World"/>
                <a:sym typeface="Helvetica World"/>
              </a:rPr>
              <a:t>le patient</a:t>
            </a:r>
          </a:p>
          <a:p>
            <a:pPr algn="l">
              <a:lnSpc>
                <a:spcPts val="3960"/>
              </a:lnSpc>
            </a:pPr>
            <a:r>
              <a:rPr lang="en-US" sz="3300" b="true">
                <a:solidFill>
                  <a:srgbClr val="2628ED"/>
                </a:solidFill>
                <a:latin typeface="Helvetica World Bold"/>
                <a:ea typeface="Helvetica World Bold"/>
                <a:cs typeface="Helvetica World Bold"/>
                <a:sym typeface="Helvetica World Bold"/>
              </a:rPr>
              <a:t>Méthode : </a:t>
            </a:r>
            <a:r>
              <a:rPr lang="en-US" sz="3300" b="true">
                <a:solidFill>
                  <a:srgbClr val="171C2A"/>
                </a:solidFill>
                <a:latin typeface="Helvetica World Bold"/>
                <a:ea typeface="Helvetica World Bold"/>
                <a:cs typeface="Helvetica World Bold"/>
                <a:sym typeface="Helvetica World Bold"/>
              </a:rPr>
              <a:t>apprentissage supervisé</a:t>
            </a:r>
          </a:p>
        </p:txBody>
      </p:sp>
      <p:grpSp>
        <p:nvGrpSpPr>
          <p:cNvPr name="Group 14" id="14"/>
          <p:cNvGrpSpPr/>
          <p:nvPr/>
        </p:nvGrpSpPr>
        <p:grpSpPr>
          <a:xfrm rot="0">
            <a:off x="6446520" y="1902001"/>
            <a:ext cx="5394960" cy="845218"/>
            <a:chOff x="0" y="0"/>
            <a:chExt cx="7193280" cy="1126957"/>
          </a:xfrm>
        </p:grpSpPr>
        <p:sp>
          <p:nvSpPr>
            <p:cNvPr name="Freeform 15" id="15"/>
            <p:cNvSpPr/>
            <p:nvPr/>
          </p:nvSpPr>
          <p:spPr>
            <a:xfrm flipH="false" flipV="false" rot="0">
              <a:off x="0" y="0"/>
              <a:ext cx="7193280" cy="1126957"/>
            </a:xfrm>
            <a:custGeom>
              <a:avLst/>
              <a:gdLst/>
              <a:ahLst/>
              <a:cxnLst/>
              <a:rect r="r" b="b" t="t" l="l"/>
              <a:pathLst>
                <a:path h="1126957" w="7193280">
                  <a:moveTo>
                    <a:pt x="0" y="0"/>
                  </a:moveTo>
                  <a:lnTo>
                    <a:pt x="7193280" y="0"/>
                  </a:lnTo>
                  <a:lnTo>
                    <a:pt x="7193280" y="1126957"/>
                  </a:lnTo>
                  <a:lnTo>
                    <a:pt x="0" y="1126957"/>
                  </a:lnTo>
                  <a:close/>
                </a:path>
              </a:pathLst>
            </a:custGeom>
            <a:solidFill>
              <a:srgbClr val="171C2A"/>
            </a:solidFill>
          </p:spPr>
        </p:sp>
        <p:sp>
          <p:nvSpPr>
            <p:cNvPr name="TextBox 16" id="16"/>
            <p:cNvSpPr txBox="true"/>
            <p:nvPr/>
          </p:nvSpPr>
          <p:spPr>
            <a:xfrm>
              <a:off x="0" y="0"/>
              <a:ext cx="7193280" cy="1126957"/>
            </a:xfrm>
            <a:prstGeom prst="rect">
              <a:avLst/>
            </a:prstGeom>
          </p:spPr>
          <p:txBody>
            <a:bodyPr anchor="ctr" rtlCol="false" tIns="50800" lIns="50800" bIns="50800" rIns="50800"/>
            <a:lstStyle/>
            <a:p>
              <a:pPr algn="l">
                <a:lnSpc>
                  <a:spcPts val="3479"/>
                </a:lnSpc>
              </a:pPr>
              <a:r>
                <a:rPr lang="en-US" sz="2899" b="true">
                  <a:solidFill>
                    <a:srgbClr val="FFFFFF"/>
                  </a:solidFill>
                  <a:latin typeface="Helvetica World Bold"/>
                  <a:ea typeface="Helvetica World Bold"/>
                  <a:cs typeface="Helvetica World Bold"/>
                  <a:sym typeface="Helvetica World Bold"/>
                </a:rPr>
                <a:t>  </a:t>
              </a:r>
              <a:r>
                <a:rPr lang="en-US" sz="2899" b="true">
                  <a:solidFill>
                    <a:srgbClr val="FFFFFF"/>
                  </a:solidFill>
                  <a:latin typeface="Helvetica World Bold"/>
                  <a:ea typeface="Helvetica World Bold"/>
                  <a:cs typeface="Helvetica World Bold"/>
                  <a:sym typeface="Helvetica World Bold"/>
                </a:rPr>
                <a:t>2 · Approche statique</a:t>
              </a:r>
            </a:p>
          </p:txBody>
        </p:sp>
      </p:grpSp>
      <p:grpSp>
        <p:nvGrpSpPr>
          <p:cNvPr name="Group 17" id="17"/>
          <p:cNvGrpSpPr/>
          <p:nvPr/>
        </p:nvGrpSpPr>
        <p:grpSpPr>
          <a:xfrm rot="0">
            <a:off x="6446520" y="2747218"/>
            <a:ext cx="5394960" cy="5066457"/>
            <a:chOff x="0" y="0"/>
            <a:chExt cx="7193280" cy="6755275"/>
          </a:xfrm>
        </p:grpSpPr>
        <p:sp>
          <p:nvSpPr>
            <p:cNvPr name="Freeform 18" id="18"/>
            <p:cNvSpPr/>
            <p:nvPr/>
          </p:nvSpPr>
          <p:spPr>
            <a:xfrm flipH="false" flipV="false" rot="0">
              <a:off x="0" y="0"/>
              <a:ext cx="7193280" cy="6755242"/>
            </a:xfrm>
            <a:custGeom>
              <a:avLst/>
              <a:gdLst/>
              <a:ahLst/>
              <a:cxnLst/>
              <a:rect r="r" b="b" t="t" l="l"/>
              <a:pathLst>
                <a:path h="6755242" w="7193280">
                  <a:moveTo>
                    <a:pt x="0" y="0"/>
                  </a:moveTo>
                  <a:lnTo>
                    <a:pt x="7193280" y="0"/>
                  </a:lnTo>
                  <a:lnTo>
                    <a:pt x="7193280" y="6755242"/>
                  </a:lnTo>
                  <a:lnTo>
                    <a:pt x="0" y="6755242"/>
                  </a:lnTo>
                  <a:close/>
                </a:path>
              </a:pathLst>
            </a:custGeom>
            <a:solidFill>
              <a:srgbClr val="F2F8F6"/>
            </a:solidFill>
          </p:spPr>
        </p:sp>
      </p:grpSp>
      <p:sp>
        <p:nvSpPr>
          <p:cNvPr name="TextBox 19" id="19"/>
          <p:cNvSpPr txBox="true"/>
          <p:nvPr/>
        </p:nvSpPr>
        <p:spPr>
          <a:xfrm rot="0">
            <a:off x="6647688" y="2967459"/>
            <a:ext cx="4992624" cy="4145280"/>
          </a:xfrm>
          <a:prstGeom prst="rect">
            <a:avLst/>
          </a:prstGeom>
        </p:spPr>
        <p:txBody>
          <a:bodyPr anchor="t" rtlCol="false" tIns="0" lIns="0" bIns="0" rIns="0">
            <a:spAutoFit/>
          </a:bodyPr>
          <a:lstStyle/>
          <a:p>
            <a:pPr algn="l">
              <a:lnSpc>
                <a:spcPts val="3960"/>
              </a:lnSpc>
            </a:pPr>
            <a:r>
              <a:rPr lang="en-US" sz="3300">
                <a:solidFill>
                  <a:srgbClr val="171C2A"/>
                </a:solidFill>
                <a:latin typeface="Helvetica World"/>
                <a:ea typeface="Helvetica World"/>
                <a:cs typeface="Helvetica World"/>
                <a:sym typeface="Helvetica World"/>
              </a:rPr>
              <a:t>Affecter les patients aux vacations en respectant salles, durées, lits et places.</a:t>
            </a:r>
          </a:p>
          <a:p>
            <a:pPr algn="l">
              <a:lnSpc>
                <a:spcPts val="3960"/>
              </a:lnSpc>
            </a:pPr>
            <a:r>
              <a:rPr lang="en-US" sz="3300" b="true">
                <a:solidFill>
                  <a:srgbClr val="2628ED"/>
                </a:solidFill>
                <a:latin typeface="Helvetica World Bold"/>
                <a:ea typeface="Helvetica World Bold"/>
                <a:cs typeface="Helvetica World Bold"/>
                <a:sym typeface="Helvetica World Bold"/>
              </a:rPr>
              <a:t>Horizon :</a:t>
            </a:r>
            <a:r>
              <a:rPr lang="en-US" sz="3300">
                <a:solidFill>
                  <a:srgbClr val="171C2A"/>
                </a:solidFill>
                <a:latin typeface="Helvetica World"/>
                <a:ea typeface="Helvetica World"/>
                <a:cs typeface="Helvetica World"/>
                <a:sym typeface="Helvetica World"/>
              </a:rPr>
              <a:t> 1 à 4 semaines</a:t>
            </a:r>
          </a:p>
          <a:p>
            <a:pPr algn="l">
              <a:lnSpc>
                <a:spcPts val="3960"/>
              </a:lnSpc>
            </a:pPr>
            <a:r>
              <a:rPr lang="en-US" sz="3300" b="true">
                <a:solidFill>
                  <a:srgbClr val="2628ED"/>
                </a:solidFill>
                <a:latin typeface="Helvetica World Bold"/>
                <a:ea typeface="Helvetica World Bold"/>
                <a:cs typeface="Helvetica World Bold"/>
                <a:sym typeface="Helvetica World Bold"/>
              </a:rPr>
              <a:t>Méthode : </a:t>
            </a:r>
            <a:r>
              <a:rPr lang="en-US" sz="3300" b="true">
                <a:solidFill>
                  <a:srgbClr val="171C2A"/>
                </a:solidFill>
                <a:latin typeface="Helvetica World Bold"/>
                <a:ea typeface="Helvetica World Bold"/>
                <a:cs typeface="Helvetica World Bold"/>
                <a:sym typeface="Helvetica World Bold"/>
              </a:rPr>
              <a:t>3 métaheuristiques et 3 hybridations étudiées </a:t>
            </a:r>
          </a:p>
        </p:txBody>
      </p:sp>
      <p:grpSp>
        <p:nvGrpSpPr>
          <p:cNvPr name="Group 20" id="20"/>
          <p:cNvGrpSpPr/>
          <p:nvPr/>
        </p:nvGrpSpPr>
        <p:grpSpPr>
          <a:xfrm rot="0">
            <a:off x="12115800" y="1902001"/>
            <a:ext cx="5394960" cy="845218"/>
            <a:chOff x="0" y="0"/>
            <a:chExt cx="7193280" cy="1126957"/>
          </a:xfrm>
        </p:grpSpPr>
        <p:sp>
          <p:nvSpPr>
            <p:cNvPr name="Freeform 21" id="21"/>
            <p:cNvSpPr/>
            <p:nvPr/>
          </p:nvSpPr>
          <p:spPr>
            <a:xfrm flipH="false" flipV="false" rot="0">
              <a:off x="0" y="0"/>
              <a:ext cx="7193280" cy="1126957"/>
            </a:xfrm>
            <a:custGeom>
              <a:avLst/>
              <a:gdLst/>
              <a:ahLst/>
              <a:cxnLst/>
              <a:rect r="r" b="b" t="t" l="l"/>
              <a:pathLst>
                <a:path h="1126957" w="7193280">
                  <a:moveTo>
                    <a:pt x="0" y="0"/>
                  </a:moveTo>
                  <a:lnTo>
                    <a:pt x="7193280" y="0"/>
                  </a:lnTo>
                  <a:lnTo>
                    <a:pt x="7193280" y="1126957"/>
                  </a:lnTo>
                  <a:lnTo>
                    <a:pt x="0" y="1126957"/>
                  </a:lnTo>
                  <a:close/>
                </a:path>
              </a:pathLst>
            </a:custGeom>
            <a:solidFill>
              <a:srgbClr val="171C2A"/>
            </a:solidFill>
          </p:spPr>
        </p:sp>
        <p:sp>
          <p:nvSpPr>
            <p:cNvPr name="TextBox 22" id="22"/>
            <p:cNvSpPr txBox="true"/>
            <p:nvPr/>
          </p:nvSpPr>
          <p:spPr>
            <a:xfrm>
              <a:off x="0" y="0"/>
              <a:ext cx="7193280" cy="1126957"/>
            </a:xfrm>
            <a:prstGeom prst="rect">
              <a:avLst/>
            </a:prstGeom>
          </p:spPr>
          <p:txBody>
            <a:bodyPr anchor="ctr" rtlCol="false" tIns="50800" lIns="50800" bIns="50800" rIns="50800"/>
            <a:lstStyle/>
            <a:p>
              <a:pPr algn="l">
                <a:lnSpc>
                  <a:spcPts val="3479"/>
                </a:lnSpc>
              </a:pPr>
              <a:r>
                <a:rPr lang="en-US" sz="2899" b="true">
                  <a:solidFill>
                    <a:srgbClr val="FFFFFF"/>
                  </a:solidFill>
                  <a:latin typeface="Helvetica World Bold"/>
                  <a:ea typeface="Helvetica World Bold"/>
                  <a:cs typeface="Helvetica World Bold"/>
                  <a:sym typeface="Helvetica World Bold"/>
                </a:rPr>
                <a:t>  </a:t>
              </a:r>
              <a:r>
                <a:rPr lang="en-US" sz="2899" b="true">
                  <a:solidFill>
                    <a:srgbClr val="FFFFFF"/>
                  </a:solidFill>
                  <a:latin typeface="Helvetica World Bold"/>
                  <a:ea typeface="Helvetica World Bold"/>
                  <a:cs typeface="Helvetica World Bold"/>
                  <a:sym typeface="Helvetica World Bold"/>
                </a:rPr>
                <a:t>3 · Approche dynamique</a:t>
              </a:r>
            </a:p>
          </p:txBody>
        </p:sp>
      </p:grpSp>
      <p:grpSp>
        <p:nvGrpSpPr>
          <p:cNvPr name="Group 23" id="23"/>
          <p:cNvGrpSpPr/>
          <p:nvPr/>
        </p:nvGrpSpPr>
        <p:grpSpPr>
          <a:xfrm rot="0">
            <a:off x="12115800" y="2747218"/>
            <a:ext cx="5394960" cy="5066457"/>
            <a:chOff x="0" y="0"/>
            <a:chExt cx="7193280" cy="6755275"/>
          </a:xfrm>
        </p:grpSpPr>
        <p:sp>
          <p:nvSpPr>
            <p:cNvPr name="Freeform 24" id="24"/>
            <p:cNvSpPr/>
            <p:nvPr/>
          </p:nvSpPr>
          <p:spPr>
            <a:xfrm flipH="false" flipV="false" rot="0">
              <a:off x="0" y="0"/>
              <a:ext cx="7193280" cy="6755242"/>
            </a:xfrm>
            <a:custGeom>
              <a:avLst/>
              <a:gdLst/>
              <a:ahLst/>
              <a:cxnLst/>
              <a:rect r="r" b="b" t="t" l="l"/>
              <a:pathLst>
                <a:path h="6755242" w="7193280">
                  <a:moveTo>
                    <a:pt x="0" y="0"/>
                  </a:moveTo>
                  <a:lnTo>
                    <a:pt x="7193280" y="0"/>
                  </a:lnTo>
                  <a:lnTo>
                    <a:pt x="7193280" y="6755242"/>
                  </a:lnTo>
                  <a:lnTo>
                    <a:pt x="0" y="6755242"/>
                  </a:lnTo>
                  <a:close/>
                </a:path>
              </a:pathLst>
            </a:custGeom>
            <a:solidFill>
              <a:srgbClr val="F2F8F6"/>
            </a:solidFill>
          </p:spPr>
        </p:sp>
      </p:grpSp>
      <p:sp>
        <p:nvSpPr>
          <p:cNvPr name="TextBox 25" id="25"/>
          <p:cNvSpPr txBox="true"/>
          <p:nvPr/>
        </p:nvSpPr>
        <p:spPr>
          <a:xfrm rot="0">
            <a:off x="12316968" y="2967459"/>
            <a:ext cx="4992624" cy="4640580"/>
          </a:xfrm>
          <a:prstGeom prst="rect">
            <a:avLst/>
          </a:prstGeom>
        </p:spPr>
        <p:txBody>
          <a:bodyPr anchor="t" rtlCol="false" tIns="0" lIns="0" bIns="0" rIns="0">
            <a:spAutoFit/>
          </a:bodyPr>
          <a:lstStyle/>
          <a:p>
            <a:pPr algn="l">
              <a:lnSpc>
                <a:spcPts val="3960"/>
              </a:lnSpc>
            </a:pPr>
            <a:r>
              <a:rPr lang="en-US" sz="3300">
                <a:solidFill>
                  <a:srgbClr val="171C2A"/>
                </a:solidFill>
                <a:latin typeface="Helvetica World"/>
                <a:ea typeface="Helvetica World"/>
                <a:cs typeface="Helvetica World"/>
                <a:sym typeface="Helvetica World"/>
              </a:rPr>
              <a:t>Insérer une urgence, absorber une panne ou une annulation en déplaçant le moins de patients possible.</a:t>
            </a:r>
          </a:p>
          <a:p>
            <a:pPr algn="l">
              <a:lnSpc>
                <a:spcPts val="3960"/>
              </a:lnSpc>
            </a:pPr>
            <a:r>
              <a:rPr lang="en-US" sz="3300" b="true">
                <a:solidFill>
                  <a:srgbClr val="2628ED"/>
                </a:solidFill>
                <a:latin typeface="Helvetica World Bold"/>
                <a:ea typeface="Helvetica World Bold"/>
                <a:cs typeface="Helvetica World Bold"/>
                <a:sym typeface="Helvetica World Bold"/>
              </a:rPr>
              <a:t>Horizon : </a:t>
            </a:r>
            <a:r>
              <a:rPr lang="en-US" sz="3300">
                <a:solidFill>
                  <a:srgbClr val="171C2A"/>
                </a:solidFill>
                <a:latin typeface="Helvetica World"/>
                <a:ea typeface="Helvetica World"/>
                <a:cs typeface="Helvetica World"/>
                <a:sym typeface="Helvetica World"/>
              </a:rPr>
              <a:t>la journée</a:t>
            </a:r>
          </a:p>
          <a:p>
            <a:pPr algn="l">
              <a:lnSpc>
                <a:spcPts val="3960"/>
              </a:lnSpc>
            </a:pPr>
            <a:r>
              <a:rPr lang="en-US" sz="3300" b="true">
                <a:solidFill>
                  <a:srgbClr val="2628ED"/>
                </a:solidFill>
                <a:latin typeface="Helvetica World Bold"/>
                <a:ea typeface="Helvetica World Bold"/>
                <a:cs typeface="Helvetica World Bold"/>
                <a:sym typeface="Helvetica World Bold"/>
              </a:rPr>
              <a:t>Méthode : </a:t>
            </a:r>
            <a:r>
              <a:rPr lang="en-US" sz="3300" b="true">
                <a:solidFill>
                  <a:srgbClr val="171C2A"/>
                </a:solidFill>
                <a:latin typeface="Helvetica World Bold"/>
                <a:ea typeface="Helvetica World Bold"/>
                <a:cs typeface="Helvetica World Bold"/>
                <a:sym typeface="Helvetica World Bold"/>
              </a:rPr>
              <a:t>système multi-agents fondé sur Contract Net</a:t>
            </a:r>
          </a:p>
        </p:txBody>
      </p:sp>
      <p:grpSp>
        <p:nvGrpSpPr>
          <p:cNvPr name="Group 26" id="26"/>
          <p:cNvGrpSpPr/>
          <p:nvPr/>
        </p:nvGrpSpPr>
        <p:grpSpPr>
          <a:xfrm rot="0">
            <a:off x="453390" y="9699939"/>
            <a:ext cx="2230494" cy="396881"/>
            <a:chOff x="0" y="0"/>
            <a:chExt cx="2973991" cy="529175"/>
          </a:xfrm>
        </p:grpSpPr>
        <p:sp>
          <p:nvSpPr>
            <p:cNvPr name="Freeform 27" id="27"/>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1" id="31"/>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32" id="32"/>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33" id="3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PRÉDIRE : DONNÉES, MODÈLES ET PROTOCOLE</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777240" y="2120155"/>
            <a:ext cx="5394960" cy="929478"/>
            <a:chOff x="0" y="0"/>
            <a:chExt cx="7193280" cy="1239305"/>
          </a:xfrm>
        </p:grpSpPr>
        <p:sp>
          <p:nvSpPr>
            <p:cNvPr name="Freeform 8" id="8"/>
            <p:cNvSpPr/>
            <p:nvPr/>
          </p:nvSpPr>
          <p:spPr>
            <a:xfrm flipH="false" flipV="false" rot="0">
              <a:off x="0" y="0"/>
              <a:ext cx="7193280" cy="1239305"/>
            </a:xfrm>
            <a:custGeom>
              <a:avLst/>
              <a:gdLst/>
              <a:ahLst/>
              <a:cxnLst/>
              <a:rect r="r" b="b" t="t" l="l"/>
              <a:pathLst>
                <a:path h="1239305" w="7193280">
                  <a:moveTo>
                    <a:pt x="0" y="0"/>
                  </a:moveTo>
                  <a:lnTo>
                    <a:pt x="7193280" y="0"/>
                  </a:lnTo>
                  <a:lnTo>
                    <a:pt x="7193280" y="1239305"/>
                  </a:lnTo>
                  <a:lnTo>
                    <a:pt x="0" y="1239305"/>
                  </a:lnTo>
                  <a:close/>
                </a:path>
              </a:pathLst>
            </a:custGeom>
            <a:solidFill>
              <a:srgbClr val="171C2A"/>
            </a:solidFill>
          </p:spPr>
        </p:sp>
        <p:sp>
          <p:nvSpPr>
            <p:cNvPr name="TextBox 9" id="9"/>
            <p:cNvSpPr txBox="true"/>
            <p:nvPr/>
          </p:nvSpPr>
          <p:spPr>
            <a:xfrm>
              <a:off x="0" y="0"/>
              <a:ext cx="7193280" cy="1239305"/>
            </a:xfrm>
            <a:prstGeom prst="rect">
              <a:avLst/>
            </a:prstGeom>
          </p:spPr>
          <p:txBody>
            <a:bodyPr anchor="ctr" rtlCol="false" tIns="50800" lIns="50800" bIns="50800" rIns="50800"/>
            <a:lstStyle/>
            <a:p>
              <a:pPr algn="l">
                <a:lnSpc>
                  <a:spcPts val="3839"/>
                </a:lnSpc>
              </a:pPr>
              <a:r>
                <a:rPr lang="en-US" sz="3199" b="true">
                  <a:solidFill>
                    <a:srgbClr val="FFFFFF"/>
                  </a:solidFill>
                  <a:latin typeface="Helvetica World Bold"/>
                  <a:ea typeface="Helvetica World Bold"/>
                  <a:cs typeface="Helvetica World Bold"/>
                  <a:sym typeface="Helvetica World Bold"/>
                </a:rPr>
                <a:t>  8</a:t>
              </a:r>
              <a:r>
                <a:rPr lang="en-US" sz="3199" b="true">
                  <a:solidFill>
                    <a:srgbClr val="FFFFFF"/>
                  </a:solidFill>
                  <a:latin typeface="Helvetica World Bold"/>
                  <a:ea typeface="Helvetica World Bold"/>
                  <a:cs typeface="Helvetica World Bold"/>
                  <a:sym typeface="Helvetica World Bold"/>
                </a:rPr>
                <a:t> variables d'entrée</a:t>
              </a:r>
            </a:p>
          </p:txBody>
        </p:sp>
      </p:grpSp>
      <p:grpSp>
        <p:nvGrpSpPr>
          <p:cNvPr name="Group 10" id="10"/>
          <p:cNvGrpSpPr/>
          <p:nvPr/>
        </p:nvGrpSpPr>
        <p:grpSpPr>
          <a:xfrm rot="0">
            <a:off x="777240" y="3162269"/>
            <a:ext cx="5394960" cy="6096031"/>
            <a:chOff x="0" y="0"/>
            <a:chExt cx="7193280" cy="8128041"/>
          </a:xfrm>
        </p:grpSpPr>
        <p:sp>
          <p:nvSpPr>
            <p:cNvPr name="Freeform 11" id="11"/>
            <p:cNvSpPr/>
            <p:nvPr/>
          </p:nvSpPr>
          <p:spPr>
            <a:xfrm flipH="false" flipV="false" rot="0">
              <a:off x="0" y="0"/>
              <a:ext cx="7193280" cy="8128003"/>
            </a:xfrm>
            <a:custGeom>
              <a:avLst/>
              <a:gdLst/>
              <a:ahLst/>
              <a:cxnLst/>
              <a:rect r="r" b="b" t="t" l="l"/>
              <a:pathLst>
                <a:path h="8128003" w="7193280">
                  <a:moveTo>
                    <a:pt x="0" y="0"/>
                  </a:moveTo>
                  <a:lnTo>
                    <a:pt x="7193280" y="0"/>
                  </a:lnTo>
                  <a:lnTo>
                    <a:pt x="7193280" y="8128003"/>
                  </a:lnTo>
                  <a:lnTo>
                    <a:pt x="0" y="8128003"/>
                  </a:lnTo>
                  <a:close/>
                </a:path>
              </a:pathLst>
            </a:custGeom>
            <a:solidFill>
              <a:srgbClr val="F2F8F6"/>
            </a:solidFill>
          </p:spPr>
        </p:sp>
      </p:grpSp>
      <p:sp>
        <p:nvSpPr>
          <p:cNvPr name="TextBox 12" id="12"/>
          <p:cNvSpPr txBox="true"/>
          <p:nvPr/>
        </p:nvSpPr>
        <p:spPr>
          <a:xfrm rot="0">
            <a:off x="978408" y="3288761"/>
            <a:ext cx="4992624" cy="4389628"/>
          </a:xfrm>
          <a:prstGeom prst="rect">
            <a:avLst/>
          </a:prstGeom>
        </p:spPr>
        <p:txBody>
          <a:bodyPr anchor="t" rtlCol="false" tIns="0" lIns="0" bIns="0" rIns="0">
            <a:spAutoFit/>
          </a:bodyPr>
          <a:lstStyle/>
          <a:p>
            <a:pPr algn="l">
              <a:lnSpc>
                <a:spcPts val="4255"/>
              </a:lnSpc>
            </a:pPr>
            <a:r>
              <a:rPr lang="en-US" sz="3199">
                <a:solidFill>
                  <a:srgbClr val="171C2A"/>
                </a:solidFill>
                <a:latin typeface="Helvetica World"/>
                <a:ea typeface="Helvetica World"/>
                <a:cs typeface="Helvetica World"/>
                <a:sym typeface="Helvetica World"/>
              </a:rPr>
              <a:t>Type d'intervention, diagnostic (CIM-10), acte </a:t>
            </a:r>
            <a:r>
              <a:rPr lang="en-US" sz="3199" b="true">
                <a:solidFill>
                  <a:srgbClr val="171C2A"/>
                </a:solidFill>
                <a:latin typeface="Helvetica World Bold"/>
                <a:ea typeface="Helvetica World Bold"/>
                <a:cs typeface="Helvetica World Bold"/>
                <a:sym typeface="Helvetica World Bold"/>
              </a:rPr>
              <a:t>(CCAM)</a:t>
            </a:r>
            <a:r>
              <a:rPr lang="en-US" sz="3199">
                <a:solidFill>
                  <a:srgbClr val="171C2A"/>
                </a:solidFill>
                <a:latin typeface="Helvetica World"/>
                <a:ea typeface="Helvetica World"/>
                <a:cs typeface="Helvetica World"/>
                <a:sym typeface="Helvetica World"/>
              </a:rPr>
              <a:t>, </a:t>
            </a:r>
            <a:r>
              <a:rPr lang="en-US" sz="3199" b="true">
                <a:solidFill>
                  <a:srgbClr val="171C2A"/>
                </a:solidFill>
                <a:latin typeface="Helvetica World Bold"/>
                <a:ea typeface="Helvetica World Bold"/>
                <a:cs typeface="Helvetica World Bold"/>
                <a:sym typeface="Helvetica World Bold"/>
              </a:rPr>
              <a:t>praticien</a:t>
            </a:r>
            <a:r>
              <a:rPr lang="en-US" sz="3199">
                <a:solidFill>
                  <a:srgbClr val="171C2A"/>
                </a:solidFill>
                <a:latin typeface="Helvetica World"/>
                <a:ea typeface="Helvetica World"/>
                <a:cs typeface="Helvetica World"/>
                <a:sym typeface="Helvetica World"/>
              </a:rPr>
              <a:t>, anesthésie, sexe, âge, date, nombre d'actes prévus et de diagnostics associés.</a:t>
            </a:r>
            <a:r>
              <a:rPr lang="en-US" sz="3199" b="true">
                <a:solidFill>
                  <a:srgbClr val="2628ED"/>
                </a:solidFill>
                <a:latin typeface="Helvetica World Bold"/>
                <a:ea typeface="Helvetica World Bold"/>
                <a:cs typeface="Helvetica World Bold"/>
                <a:sym typeface="Helvetica World Bold"/>
              </a:rPr>
              <a:t> </a:t>
            </a:r>
            <a:r>
              <a:rPr lang="en-US" sz="3199" b="true">
                <a:solidFill>
                  <a:srgbClr val="171C2A"/>
                </a:solidFill>
                <a:latin typeface="Helvetica World Bold"/>
                <a:ea typeface="Helvetica World Bold"/>
                <a:cs typeface="Helvetica World Bold"/>
                <a:sym typeface="Helvetica World Bold"/>
              </a:rPr>
              <a:t>Toutes connues dès la consultation.</a:t>
            </a:r>
          </a:p>
        </p:txBody>
      </p:sp>
      <p:grpSp>
        <p:nvGrpSpPr>
          <p:cNvPr name="Group 13" id="13"/>
          <p:cNvGrpSpPr/>
          <p:nvPr/>
        </p:nvGrpSpPr>
        <p:grpSpPr>
          <a:xfrm rot="0">
            <a:off x="6446520" y="2120155"/>
            <a:ext cx="5394960" cy="923128"/>
            <a:chOff x="0" y="0"/>
            <a:chExt cx="7193280" cy="1230838"/>
          </a:xfrm>
        </p:grpSpPr>
        <p:sp>
          <p:nvSpPr>
            <p:cNvPr name="Freeform 14" id="14"/>
            <p:cNvSpPr/>
            <p:nvPr/>
          </p:nvSpPr>
          <p:spPr>
            <a:xfrm flipH="false" flipV="false" rot="0">
              <a:off x="0" y="0"/>
              <a:ext cx="7193280" cy="1230838"/>
            </a:xfrm>
            <a:custGeom>
              <a:avLst/>
              <a:gdLst/>
              <a:ahLst/>
              <a:cxnLst/>
              <a:rect r="r" b="b" t="t" l="l"/>
              <a:pathLst>
                <a:path h="1230838" w="7193280">
                  <a:moveTo>
                    <a:pt x="0" y="0"/>
                  </a:moveTo>
                  <a:lnTo>
                    <a:pt x="7193280" y="0"/>
                  </a:lnTo>
                  <a:lnTo>
                    <a:pt x="7193280" y="1230838"/>
                  </a:lnTo>
                  <a:lnTo>
                    <a:pt x="0" y="1230838"/>
                  </a:lnTo>
                  <a:close/>
                </a:path>
              </a:pathLst>
            </a:custGeom>
            <a:solidFill>
              <a:srgbClr val="171C2A"/>
            </a:solidFill>
          </p:spPr>
        </p:sp>
        <p:sp>
          <p:nvSpPr>
            <p:cNvPr name="TextBox 15" id="15"/>
            <p:cNvSpPr txBox="true"/>
            <p:nvPr/>
          </p:nvSpPr>
          <p:spPr>
            <a:xfrm>
              <a:off x="0" y="0"/>
              <a:ext cx="7193280" cy="1230838"/>
            </a:xfrm>
            <a:prstGeom prst="rect">
              <a:avLst/>
            </a:prstGeom>
          </p:spPr>
          <p:txBody>
            <a:bodyPr anchor="ctr" rtlCol="false" tIns="50800" lIns="50800" bIns="50800" rIns="50800"/>
            <a:lstStyle/>
            <a:p>
              <a:pPr algn="l">
                <a:lnSpc>
                  <a:spcPts val="3839"/>
                </a:lnSpc>
              </a:pPr>
              <a:r>
                <a:rPr lang="en-US" sz="3199" b="true">
                  <a:solidFill>
                    <a:srgbClr val="FFFFFF"/>
                  </a:solidFill>
                  <a:latin typeface="Helvetica World Bold"/>
                  <a:ea typeface="Helvetica World Bold"/>
                  <a:cs typeface="Helvetica World Bold"/>
                  <a:sym typeface="Helvetica World Bold"/>
                </a:rPr>
                <a:t>  4</a:t>
              </a:r>
              <a:r>
                <a:rPr lang="en-US" sz="3199" b="true">
                  <a:solidFill>
                    <a:srgbClr val="FFFFFF"/>
                  </a:solidFill>
                  <a:latin typeface="Helvetica World Bold"/>
                  <a:ea typeface="Helvetica World Bold"/>
                  <a:cs typeface="Helvetica World Bold"/>
                  <a:sym typeface="Helvetica World Bold"/>
                </a:rPr>
                <a:t> Prédictions</a:t>
              </a:r>
            </a:p>
          </p:txBody>
        </p:sp>
      </p:grpSp>
      <p:grpSp>
        <p:nvGrpSpPr>
          <p:cNvPr name="Group 16" id="16"/>
          <p:cNvGrpSpPr/>
          <p:nvPr/>
        </p:nvGrpSpPr>
        <p:grpSpPr>
          <a:xfrm rot="0">
            <a:off x="6446520" y="3162269"/>
            <a:ext cx="5394960" cy="6096031"/>
            <a:chOff x="0" y="0"/>
            <a:chExt cx="7193280" cy="8128041"/>
          </a:xfrm>
        </p:grpSpPr>
        <p:sp>
          <p:nvSpPr>
            <p:cNvPr name="Freeform 17" id="17"/>
            <p:cNvSpPr/>
            <p:nvPr/>
          </p:nvSpPr>
          <p:spPr>
            <a:xfrm flipH="false" flipV="false" rot="0">
              <a:off x="0" y="0"/>
              <a:ext cx="7193280" cy="8128003"/>
            </a:xfrm>
            <a:custGeom>
              <a:avLst/>
              <a:gdLst/>
              <a:ahLst/>
              <a:cxnLst/>
              <a:rect r="r" b="b" t="t" l="l"/>
              <a:pathLst>
                <a:path h="8128003" w="7193280">
                  <a:moveTo>
                    <a:pt x="0" y="0"/>
                  </a:moveTo>
                  <a:lnTo>
                    <a:pt x="7193280" y="0"/>
                  </a:lnTo>
                  <a:lnTo>
                    <a:pt x="7193280" y="8128003"/>
                  </a:lnTo>
                  <a:lnTo>
                    <a:pt x="0" y="8128003"/>
                  </a:lnTo>
                  <a:close/>
                </a:path>
              </a:pathLst>
            </a:custGeom>
            <a:solidFill>
              <a:srgbClr val="F2F8F6"/>
            </a:solidFill>
          </p:spPr>
        </p:sp>
      </p:grpSp>
      <p:sp>
        <p:nvSpPr>
          <p:cNvPr name="TextBox 18" id="18"/>
          <p:cNvSpPr txBox="true"/>
          <p:nvPr/>
        </p:nvSpPr>
        <p:spPr>
          <a:xfrm rot="0">
            <a:off x="6647688" y="3326861"/>
            <a:ext cx="4992624" cy="5686425"/>
          </a:xfrm>
          <a:prstGeom prst="rect">
            <a:avLst/>
          </a:prstGeom>
        </p:spPr>
        <p:txBody>
          <a:bodyPr anchor="t" rtlCol="false" tIns="0" lIns="0" bIns="0" rIns="0">
            <a:spAutoFit/>
          </a:bodyPr>
          <a:lstStyle/>
          <a:p>
            <a:pPr algn="l" marL="690879" indent="-345439" lvl="1">
              <a:lnSpc>
                <a:spcPts val="3839"/>
              </a:lnSpc>
              <a:buFont typeface="Arial"/>
              <a:buChar char="•"/>
            </a:pPr>
            <a:r>
              <a:rPr lang="en-US" b="true" sz="3199">
                <a:solidFill>
                  <a:srgbClr val="171C2A"/>
                </a:solidFill>
                <a:latin typeface="Helvetica World Bold"/>
                <a:ea typeface="Helvetica World Bold"/>
                <a:cs typeface="Helvetica World Bold"/>
                <a:sym typeface="Helvetica World Bold"/>
              </a:rPr>
              <a:t>Orientation</a:t>
            </a:r>
            <a:r>
              <a:rPr lang="en-US" sz="3199">
                <a:solidFill>
                  <a:srgbClr val="171C2A"/>
                </a:solidFill>
                <a:latin typeface="Helvetica World"/>
                <a:ea typeface="Helvetica World"/>
                <a:cs typeface="Helvetica World"/>
                <a:sym typeface="Helvetica World"/>
              </a:rPr>
              <a:t> : lit ou ambulatoire</a:t>
            </a:r>
          </a:p>
          <a:p>
            <a:pPr algn="l" marL="690879" indent="-345439" lvl="1">
              <a:lnSpc>
                <a:spcPts val="3839"/>
              </a:lnSpc>
              <a:buFont typeface="Arial"/>
              <a:buChar char="•"/>
            </a:pPr>
            <a:r>
              <a:rPr lang="en-US" b="true" sz="3199">
                <a:solidFill>
                  <a:srgbClr val="171C2A"/>
                </a:solidFill>
                <a:latin typeface="Helvetica World Bold"/>
                <a:ea typeface="Helvetica World Bold"/>
                <a:cs typeface="Helvetica World Bold"/>
                <a:sym typeface="Helvetica World Bold"/>
              </a:rPr>
              <a:t>Durée</a:t>
            </a:r>
            <a:r>
              <a:rPr lang="en-US" sz="3199">
                <a:solidFill>
                  <a:srgbClr val="171C2A"/>
                </a:solidFill>
                <a:latin typeface="Helvetica World"/>
                <a:ea typeface="Helvetica World"/>
                <a:cs typeface="Helvetica World"/>
                <a:sym typeface="Helvetica World"/>
              </a:rPr>
              <a:t> d'occupation de salle</a:t>
            </a:r>
          </a:p>
          <a:p>
            <a:pPr algn="l" marL="690879" indent="-345439" lvl="1">
              <a:lnSpc>
                <a:spcPts val="3839"/>
              </a:lnSpc>
              <a:buFont typeface="Arial"/>
              <a:buChar char="•"/>
            </a:pPr>
            <a:r>
              <a:rPr lang="en-US" b="true" sz="3199">
                <a:solidFill>
                  <a:srgbClr val="171C2A"/>
                </a:solidFill>
                <a:latin typeface="Helvetica World Bold"/>
                <a:ea typeface="Helvetica World Bold"/>
                <a:cs typeface="Helvetica World Bold"/>
                <a:sym typeface="Helvetica World Bold"/>
              </a:rPr>
              <a:t>Nuits</a:t>
            </a:r>
            <a:r>
              <a:rPr lang="en-US" sz="3199">
                <a:solidFill>
                  <a:srgbClr val="171C2A"/>
                </a:solidFill>
                <a:latin typeface="Helvetica World"/>
                <a:ea typeface="Helvetica World"/>
                <a:cs typeface="Helvetica World"/>
                <a:sym typeface="Helvetica World"/>
              </a:rPr>
              <a:t> avant, nuits après</a:t>
            </a:r>
          </a:p>
          <a:p>
            <a:pPr algn="l" marL="690879" indent="-345439" lvl="1">
              <a:lnSpc>
                <a:spcPts val="3839"/>
              </a:lnSpc>
              <a:buFont typeface="Arial"/>
              <a:buChar char="•"/>
            </a:pPr>
            <a:r>
              <a:rPr lang="en-US" b="true" sz="3199">
                <a:solidFill>
                  <a:srgbClr val="171C2A"/>
                </a:solidFill>
                <a:latin typeface="Helvetica World Bold"/>
                <a:ea typeface="Helvetica World Bold"/>
                <a:cs typeface="Helvetica World Bold"/>
                <a:sym typeface="Helvetica World Bold"/>
              </a:rPr>
              <a:t>Pondération de priorité : </a:t>
            </a:r>
            <a:r>
              <a:rPr lang="en-US" sz="3199">
                <a:solidFill>
                  <a:srgbClr val="171C2A"/>
                </a:solidFill>
                <a:latin typeface="Helvetica World"/>
                <a:ea typeface="Helvetica World"/>
                <a:cs typeface="Helvetica World"/>
                <a:sym typeface="Helvetica World"/>
              </a:rPr>
              <a:t>de 1 à 4</a:t>
            </a:r>
          </a:p>
          <a:p>
            <a:pPr algn="l" marL="690879" indent="-345439" lvl="1">
              <a:lnSpc>
                <a:spcPts val="3839"/>
              </a:lnSpc>
              <a:buFont typeface="Arial"/>
              <a:buChar char="•"/>
            </a:pPr>
            <a:r>
              <a:rPr lang="en-US" b="true" sz="3199">
                <a:solidFill>
                  <a:srgbClr val="171C2A"/>
                </a:solidFill>
                <a:latin typeface="Helvetica World Bold"/>
                <a:ea typeface="Helvetica World Bold"/>
                <a:cs typeface="Helvetica World Bold"/>
                <a:sym typeface="Helvetica World Bold"/>
              </a:rPr>
              <a:t>Score d’urgence : </a:t>
            </a:r>
          </a:p>
          <a:p>
            <a:pPr algn="l">
              <a:lnSpc>
                <a:spcPts val="3839"/>
              </a:lnSpc>
            </a:pPr>
            <a:r>
              <a:rPr lang="en-US" sz="3199" b="true">
                <a:solidFill>
                  <a:srgbClr val="171C2A"/>
                </a:solidFill>
                <a:latin typeface="Helvetica World Bold"/>
                <a:ea typeface="Helvetica World Bold"/>
                <a:cs typeface="Helvetica World Bold"/>
                <a:sym typeface="Helvetica World Bold"/>
              </a:rPr>
              <a:t>     </a:t>
            </a:r>
            <a:r>
              <a:rPr lang="en-US" sz="3199">
                <a:solidFill>
                  <a:srgbClr val="171C2A"/>
                </a:solidFill>
                <a:latin typeface="Helvetica World"/>
                <a:ea typeface="Helvetica World"/>
                <a:cs typeface="Helvetica World"/>
                <a:sym typeface="Helvetica World"/>
              </a:rPr>
              <a:t>de 1 à 10</a:t>
            </a:r>
          </a:p>
          <a:p>
            <a:pPr algn="l">
              <a:lnSpc>
                <a:spcPts val="3600"/>
              </a:lnSpc>
            </a:pPr>
            <a:r>
              <a:rPr lang="en-US" sz="3000">
                <a:solidFill>
                  <a:srgbClr val="171C2A"/>
                </a:solidFill>
                <a:latin typeface="Helvetica World"/>
                <a:ea typeface="Helvetica World"/>
                <a:cs typeface="Helvetica World"/>
                <a:sym typeface="Helvetica World"/>
              </a:rPr>
              <a:t>    </a:t>
            </a:r>
            <a:r>
              <a:rPr lang="en-US" sz="3000" i="true">
                <a:solidFill>
                  <a:srgbClr val="171C2A"/>
                </a:solidFill>
                <a:latin typeface="Helvetica World Italics"/>
                <a:ea typeface="Helvetica World Italics"/>
                <a:cs typeface="Helvetica World Italics"/>
                <a:sym typeface="Helvetica World Italics"/>
              </a:rPr>
              <a:t>À</a:t>
            </a:r>
            <a:r>
              <a:rPr lang="en-US" sz="3000" i="true">
                <a:solidFill>
                  <a:srgbClr val="171C2A"/>
                </a:solidFill>
                <a:latin typeface="Helvetica World Italics"/>
                <a:ea typeface="Helvetica World Italics"/>
                <a:cs typeface="Helvetica World Italics"/>
                <a:sym typeface="Helvetica World Italics"/>
              </a:rPr>
              <a:t> l’aide de</a:t>
            </a:r>
          </a:p>
          <a:p>
            <a:pPr algn="l">
              <a:lnSpc>
                <a:spcPts val="3600"/>
              </a:lnSpc>
            </a:pPr>
            <a:r>
              <a:rPr lang="en-US" sz="3000" i="true">
                <a:solidFill>
                  <a:srgbClr val="171C2A"/>
                </a:solidFill>
                <a:latin typeface="Helvetica World Italics"/>
                <a:ea typeface="Helvetica World Italics"/>
                <a:cs typeface="Helvetica World Italics"/>
                <a:sym typeface="Helvetica World Italics"/>
              </a:rPr>
              <a:t>    </a:t>
            </a:r>
            <a:r>
              <a:rPr lang="en-US" sz="3000" i="true" b="true">
                <a:solidFill>
                  <a:srgbClr val="171C2A"/>
                </a:solidFill>
                <a:latin typeface="Helvetica World Bold Italics"/>
                <a:ea typeface="Helvetica World Bold Italics"/>
                <a:cs typeface="Helvetica World Bold Italics"/>
                <a:sym typeface="Helvetica World Bold Italics"/>
              </a:rPr>
              <a:t>HistGradientBoosting</a:t>
            </a:r>
            <a:r>
              <a:rPr lang="en-US" sz="3000" i="true">
                <a:solidFill>
                  <a:srgbClr val="171C2A"/>
                </a:solidFill>
                <a:latin typeface="Helvetica World Italics"/>
                <a:ea typeface="Helvetica World Italics"/>
                <a:cs typeface="Helvetica World Italics"/>
                <a:sym typeface="Helvetica World Italics"/>
              </a:rPr>
              <a:t>  </a:t>
            </a:r>
          </a:p>
        </p:txBody>
      </p:sp>
      <p:grpSp>
        <p:nvGrpSpPr>
          <p:cNvPr name="Group 19" id="19"/>
          <p:cNvGrpSpPr/>
          <p:nvPr/>
        </p:nvGrpSpPr>
        <p:grpSpPr>
          <a:xfrm rot="0">
            <a:off x="12115800" y="2723508"/>
            <a:ext cx="5394960" cy="5558234"/>
            <a:chOff x="0" y="0"/>
            <a:chExt cx="7193280" cy="7410979"/>
          </a:xfrm>
        </p:grpSpPr>
        <p:sp>
          <p:nvSpPr>
            <p:cNvPr name="Freeform 20" id="20"/>
            <p:cNvSpPr/>
            <p:nvPr/>
          </p:nvSpPr>
          <p:spPr>
            <a:xfrm flipH="false" flipV="false" rot="0">
              <a:off x="0" y="0"/>
              <a:ext cx="7193280" cy="7410948"/>
            </a:xfrm>
            <a:custGeom>
              <a:avLst/>
              <a:gdLst/>
              <a:ahLst/>
              <a:cxnLst/>
              <a:rect r="r" b="b" t="t" l="l"/>
              <a:pathLst>
                <a:path h="7410948" w="7193280">
                  <a:moveTo>
                    <a:pt x="0" y="0"/>
                  </a:moveTo>
                  <a:lnTo>
                    <a:pt x="7193280" y="0"/>
                  </a:lnTo>
                  <a:lnTo>
                    <a:pt x="7193280" y="7410948"/>
                  </a:lnTo>
                  <a:lnTo>
                    <a:pt x="0" y="7410948"/>
                  </a:lnTo>
                  <a:close/>
                </a:path>
              </a:pathLst>
            </a:custGeom>
            <a:solidFill>
              <a:srgbClr val="2628ED"/>
            </a:solidFill>
          </p:spPr>
        </p:sp>
      </p:grpSp>
      <p:sp>
        <p:nvSpPr>
          <p:cNvPr name="TextBox 21" id="21"/>
          <p:cNvSpPr txBox="true"/>
          <p:nvPr/>
        </p:nvSpPr>
        <p:spPr>
          <a:xfrm rot="0">
            <a:off x="12317730" y="3024290"/>
            <a:ext cx="4937760" cy="4892675"/>
          </a:xfrm>
          <a:prstGeom prst="rect">
            <a:avLst/>
          </a:prstGeom>
        </p:spPr>
        <p:txBody>
          <a:bodyPr anchor="t" rtlCol="false" tIns="0" lIns="0" bIns="0" rIns="0">
            <a:spAutoFit/>
          </a:bodyPr>
          <a:lstStyle/>
          <a:p>
            <a:pPr algn="l">
              <a:lnSpc>
                <a:spcPts val="3839"/>
              </a:lnSpc>
            </a:pPr>
            <a:r>
              <a:rPr lang="en-US" sz="3199" b="true">
                <a:solidFill>
                  <a:srgbClr val="FFFFFF"/>
                </a:solidFill>
                <a:latin typeface="Helvetica World Bold"/>
                <a:ea typeface="Helvetica World Bold"/>
                <a:cs typeface="Helvetica World Bold"/>
                <a:sym typeface="Helvetica World Bold"/>
              </a:rPr>
              <a:t>Protocole :</a:t>
            </a:r>
          </a:p>
          <a:p>
            <a:pPr algn="l">
              <a:lnSpc>
                <a:spcPts val="3839"/>
              </a:lnSpc>
            </a:pPr>
          </a:p>
          <a:p>
            <a:pPr algn="l">
              <a:lnSpc>
                <a:spcPts val="5279"/>
              </a:lnSpc>
            </a:pPr>
            <a:r>
              <a:rPr lang="en-US" sz="4399" b="true">
                <a:solidFill>
                  <a:srgbClr val="FFFFFF"/>
                </a:solidFill>
                <a:latin typeface="Helvetica World Bold"/>
                <a:ea typeface="Helvetica World Bold"/>
                <a:cs typeface="Helvetica World Bold"/>
                <a:sym typeface="Helvetica World Bold"/>
              </a:rPr>
              <a:t>80% Entrainement / 20% Tests</a:t>
            </a:r>
          </a:p>
          <a:p>
            <a:pPr algn="l">
              <a:lnSpc>
                <a:spcPts val="3839"/>
              </a:lnSpc>
            </a:pPr>
          </a:p>
          <a:p>
            <a:pPr algn="l">
              <a:lnSpc>
                <a:spcPts val="3840"/>
              </a:lnSpc>
            </a:pPr>
            <a:r>
              <a:rPr lang="en-US" sz="3200">
                <a:solidFill>
                  <a:srgbClr val="FFFFFF"/>
                </a:solidFill>
                <a:latin typeface="Helvetica World"/>
                <a:ea typeface="Helvetica World"/>
                <a:cs typeface="Helvetica World"/>
                <a:sym typeface="Helvetica World"/>
              </a:rPr>
              <a:t>Chaque modèle est comparé à la règle simple qu'appliquerait un planificateur médian.</a:t>
            </a:r>
          </a:p>
        </p:txBody>
      </p:sp>
      <p:grpSp>
        <p:nvGrpSpPr>
          <p:cNvPr name="Group 22" id="22"/>
          <p:cNvGrpSpPr/>
          <p:nvPr/>
        </p:nvGrpSpPr>
        <p:grpSpPr>
          <a:xfrm rot="0">
            <a:off x="453390" y="9699939"/>
            <a:ext cx="2230494" cy="396881"/>
            <a:chOff x="0" y="0"/>
            <a:chExt cx="2973991" cy="529175"/>
          </a:xfrm>
        </p:grpSpPr>
        <p:sp>
          <p:nvSpPr>
            <p:cNvPr name="Freeform 23" id="23"/>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6" id="26"/>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7" id="27"/>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28" id="28"/>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29" id="2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PRÉDIRE : Pourquoi Utilise-t-on du Machine learning?</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453390" y="9699939"/>
            <a:ext cx="2230494" cy="396881"/>
            <a:chOff x="0" y="0"/>
            <a:chExt cx="2973991" cy="529175"/>
          </a:xfrm>
        </p:grpSpPr>
        <p:sp>
          <p:nvSpPr>
            <p:cNvPr name="Freeform 8" id="8"/>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3" id="13"/>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Freeform 14" id="14"/>
          <p:cNvSpPr/>
          <p:nvPr/>
        </p:nvSpPr>
        <p:spPr>
          <a:xfrm flipH="false" flipV="false" rot="0">
            <a:off x="777240" y="1747813"/>
            <a:ext cx="16733520" cy="6044984"/>
          </a:xfrm>
          <a:custGeom>
            <a:avLst/>
            <a:gdLst/>
            <a:ahLst/>
            <a:cxnLst/>
            <a:rect r="r" b="b" t="t" l="l"/>
            <a:pathLst>
              <a:path h="6044984" w="16733520">
                <a:moveTo>
                  <a:pt x="0" y="0"/>
                </a:moveTo>
                <a:lnTo>
                  <a:pt x="16733520" y="0"/>
                </a:lnTo>
                <a:lnTo>
                  <a:pt x="16733520" y="6044984"/>
                </a:lnTo>
                <a:lnTo>
                  <a:pt x="0" y="6044984"/>
                </a:lnTo>
                <a:lnTo>
                  <a:pt x="0" y="0"/>
                </a:lnTo>
                <a:close/>
              </a:path>
            </a:pathLst>
          </a:custGeom>
          <a:blipFill>
            <a:blip r:embed="rId10"/>
            <a:stretch>
              <a:fillRect l="0" t="0" r="0" b="0"/>
            </a:stretch>
          </a:blipFill>
        </p:spPr>
      </p:sp>
      <p:sp>
        <p:nvSpPr>
          <p:cNvPr name="TextBox 15" id="15"/>
          <p:cNvSpPr txBox="true"/>
          <p:nvPr/>
        </p:nvSpPr>
        <p:spPr>
          <a:xfrm rot="0">
            <a:off x="777240" y="8214730"/>
            <a:ext cx="16733520" cy="857250"/>
          </a:xfrm>
          <a:prstGeom prst="rect">
            <a:avLst/>
          </a:prstGeom>
        </p:spPr>
        <p:txBody>
          <a:bodyPr anchor="t" rtlCol="false" tIns="0" lIns="0" bIns="0" rIns="0">
            <a:spAutoFit/>
          </a:bodyPr>
          <a:lstStyle/>
          <a:p>
            <a:pPr algn="l">
              <a:lnSpc>
                <a:spcPts val="3119"/>
              </a:lnSpc>
            </a:pPr>
            <a:r>
              <a:rPr lang="en-US" b="true" sz="2599">
                <a:solidFill>
                  <a:srgbClr val="171C2A"/>
                </a:solidFill>
                <a:latin typeface="Helvetica World Bold"/>
                <a:ea typeface="Helvetica World Bold"/>
                <a:cs typeface="Helvetica World Bold"/>
                <a:sym typeface="Helvetica World Bold"/>
              </a:rPr>
              <a:t>Sur les mêmes 2 896 séjours de test : erreur sur la durée −23 %, erreur sur les nuits −52 %, orientations correctes 92,5 % contre 85,8 %.</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b="true" sz="3200">
                  <a:solidFill>
                    <a:srgbClr val="171C2A"/>
                  </a:solidFill>
                  <a:latin typeface="Helvetica World Bold"/>
                  <a:ea typeface="Helvetica World Bold"/>
                  <a:cs typeface="Helvetica World Bold"/>
                  <a:sym typeface="Helvetica World Bold"/>
                </a:rPr>
                <a:t>PRÉDIRE : RÉSULTATS DU MACHINE LEARNING</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TextBox 7" id="7"/>
          <p:cNvSpPr txBox="true"/>
          <p:nvPr/>
        </p:nvSpPr>
        <p:spPr>
          <a:xfrm rot="0">
            <a:off x="777240" y="8270138"/>
            <a:ext cx="16733520" cy="428625"/>
          </a:xfrm>
          <a:prstGeom prst="rect">
            <a:avLst/>
          </a:prstGeom>
        </p:spPr>
        <p:txBody>
          <a:bodyPr anchor="t" rtlCol="false" tIns="0" lIns="0" bIns="0" rIns="0">
            <a:spAutoFit/>
          </a:bodyPr>
          <a:lstStyle/>
          <a:p>
            <a:pPr algn="l">
              <a:lnSpc>
                <a:spcPts val="3119"/>
              </a:lnSpc>
            </a:pPr>
            <a:r>
              <a:rPr lang="en-US" b="true" sz="2599">
                <a:solidFill>
                  <a:srgbClr val="171C2A"/>
                </a:solidFill>
                <a:latin typeface="Helvetica World Bold"/>
                <a:ea typeface="Helvetica World Bold"/>
                <a:cs typeface="Helvetica World Bold"/>
                <a:sym typeface="Helvetica World Bold"/>
              </a:rPr>
              <a:t>Erreur moyenne de 14,8 min (R² = 0,67) ; 67 % des durées bien estimées à ±15 min, 89 % à ±30 min.</a:t>
            </a:r>
          </a:p>
        </p:txBody>
      </p:sp>
      <p:grpSp>
        <p:nvGrpSpPr>
          <p:cNvPr name="Group 8" id="8"/>
          <p:cNvGrpSpPr/>
          <p:nvPr/>
        </p:nvGrpSpPr>
        <p:grpSpPr>
          <a:xfrm rot="0">
            <a:off x="777240" y="1988287"/>
            <a:ext cx="16733520" cy="5921092"/>
            <a:chOff x="0" y="0"/>
            <a:chExt cx="22311360" cy="7894790"/>
          </a:xfrm>
        </p:grpSpPr>
        <p:sp>
          <p:nvSpPr>
            <p:cNvPr name="Freeform 9" id="9" descr="duree_pred.png"/>
            <p:cNvSpPr/>
            <p:nvPr/>
          </p:nvSpPr>
          <p:spPr>
            <a:xfrm flipH="false" flipV="false" rot="0">
              <a:off x="0" y="0"/>
              <a:ext cx="22311361" cy="7894828"/>
            </a:xfrm>
            <a:custGeom>
              <a:avLst/>
              <a:gdLst/>
              <a:ahLst/>
              <a:cxnLst/>
              <a:rect r="r" b="b" t="t" l="l"/>
              <a:pathLst>
                <a:path h="7894828" w="22311361">
                  <a:moveTo>
                    <a:pt x="0" y="0"/>
                  </a:moveTo>
                  <a:lnTo>
                    <a:pt x="22311361" y="0"/>
                  </a:lnTo>
                  <a:lnTo>
                    <a:pt x="22311361" y="7894828"/>
                  </a:lnTo>
                  <a:lnTo>
                    <a:pt x="0" y="7894828"/>
                  </a:lnTo>
                  <a:lnTo>
                    <a:pt x="0" y="0"/>
                  </a:lnTo>
                  <a:close/>
                </a:path>
              </a:pathLst>
            </a:custGeom>
            <a:blipFill>
              <a:blip r:embed="rId4"/>
              <a:stretch>
                <a:fillRect l="0" t="0" r="0" b="0"/>
              </a:stretch>
            </a:blipFill>
          </p:spPr>
        </p:sp>
      </p:grpSp>
      <p:grpSp>
        <p:nvGrpSpPr>
          <p:cNvPr name="Group 10" id="10"/>
          <p:cNvGrpSpPr/>
          <p:nvPr/>
        </p:nvGrpSpPr>
        <p:grpSpPr>
          <a:xfrm rot="0">
            <a:off x="453390" y="9699939"/>
            <a:ext cx="2230494" cy="396881"/>
            <a:chOff x="0" y="0"/>
            <a:chExt cx="2973991" cy="529175"/>
          </a:xfrm>
        </p:grpSpPr>
        <p:sp>
          <p:nvSpPr>
            <p:cNvPr name="Freeform 11" id="11"/>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6" id="16"/>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b="true" sz="3200">
                  <a:solidFill>
                    <a:srgbClr val="171C2A"/>
                  </a:solidFill>
                  <a:latin typeface="Helvetica World Bold"/>
                  <a:ea typeface="Helvetica World Bold"/>
                  <a:cs typeface="Helvetica World Bold"/>
                  <a:sym typeface="Helvetica World Bold"/>
                </a:rPr>
                <a:t>PRÉDIRE : RÉSULTATS DU MACHINE LEARNING</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aphicFrame>
        <p:nvGraphicFramePr>
          <p:cNvPr name="Table 7" id="7"/>
          <p:cNvGraphicFramePr>
            <a:graphicFrameLocks noGrp="true"/>
          </p:cNvGraphicFramePr>
          <p:nvPr/>
        </p:nvGraphicFramePr>
        <p:xfrm>
          <a:off x="777240" y="2931795"/>
          <a:ext cx="8585200" cy="2590800"/>
        </p:xfrm>
        <a:graphic>
          <a:graphicData uri="http://schemas.openxmlformats.org/drawingml/2006/table">
            <a:tbl>
              <a:tblPr/>
              <a:tblGrid>
                <a:gridCol w="2648626"/>
                <a:gridCol w="2968287"/>
                <a:gridCol w="2968287"/>
              </a:tblGrid>
              <a:tr h="866700">
                <a:tc>
                  <a:txBody>
                    <a:bodyPr anchor="t" rtlCol="false"/>
                    <a:lstStyle/>
                    <a:p>
                      <a:pPr algn="l">
                        <a:lnSpc>
                          <a:spcPts val="2879"/>
                        </a:lnSpc>
                        <a:defRPr/>
                      </a:pPr>
                      <a:r>
                        <a:rPr lang="en-US" sz="2400" b="true">
                          <a:solidFill>
                            <a:srgbClr val="171C2A"/>
                          </a:solidFill>
                          <a:latin typeface="Helvetica World Bold"/>
                          <a:ea typeface="Helvetica World Bold"/>
                          <a:cs typeface="Helvetica World Bold"/>
                          <a:sym typeface="Helvetica World Bold"/>
                        </a:rPr>
                        <a:t>Réel \ Prédit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sz="2400" b="true">
                          <a:solidFill>
                            <a:srgbClr val="171C2A"/>
                          </a:solidFill>
                          <a:latin typeface="Helvetica World Bold"/>
                          <a:ea typeface="Helvetica World Bold"/>
                          <a:cs typeface="Helvetica World Bold"/>
                          <a:sym typeface="Helvetica World Bold"/>
                        </a:rPr>
                        <a:t>Ambulatoire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sz="2400" b="true">
                          <a:solidFill>
                            <a:srgbClr val="171C2A"/>
                          </a:solidFill>
                          <a:latin typeface="Helvetica World Bold"/>
                          <a:ea typeface="Helvetica World Bold"/>
                          <a:cs typeface="Helvetica World Bold"/>
                          <a:sym typeface="Helvetica World Bold"/>
                        </a:rPr>
                        <a:t>Hospitalisé</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57400">
                <a:tc>
                  <a:txBody>
                    <a:bodyPr anchor="t" rtlCol="false"/>
                    <a:lstStyle/>
                    <a:p>
                      <a:pPr algn="l">
                        <a:lnSpc>
                          <a:spcPts val="2879"/>
                        </a:lnSpc>
                        <a:defRPr/>
                      </a:pPr>
                      <a:r>
                        <a:rPr lang="en-US" sz="2400" b="true">
                          <a:solidFill>
                            <a:srgbClr val="171C2A"/>
                          </a:solidFill>
                          <a:latin typeface="Helvetica World Bold"/>
                          <a:ea typeface="Helvetica World Bold"/>
                          <a:cs typeface="Helvetica World Bold"/>
                          <a:sym typeface="Helvetica World Bold"/>
                        </a:rPr>
                        <a:t>Ambulatoire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sz="2400">
                          <a:solidFill>
                            <a:srgbClr val="171C2A"/>
                          </a:solidFill>
                          <a:latin typeface="Helvetica World"/>
                          <a:ea typeface="Helvetica World"/>
                          <a:cs typeface="Helvetica World"/>
                          <a:sym typeface="Helvetica World"/>
                        </a:rPr>
                        <a:t>1 515  (95,2 %)</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D9DEFC"/>
                    </a:solidFill>
                  </a:tcPr>
                </a:tc>
                <a:tc>
                  <a:txBody>
                    <a:bodyPr anchor="t" rtlCol="false"/>
                    <a:lstStyle/>
                    <a:p>
                      <a:pPr algn="ctr">
                        <a:lnSpc>
                          <a:spcPts val="2879"/>
                        </a:lnSpc>
                        <a:defRPr/>
                      </a:pPr>
                      <a:r>
                        <a:rPr lang="en-US" sz="2400">
                          <a:solidFill>
                            <a:srgbClr val="171C2A"/>
                          </a:solidFill>
                          <a:latin typeface="Helvetica World"/>
                          <a:ea typeface="Helvetica World"/>
                          <a:cs typeface="Helvetica World"/>
                          <a:sym typeface="Helvetica World"/>
                        </a:rPr>
                        <a:t>77  (4,8 %)</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66700">
                <a:tc>
                  <a:txBody>
                    <a:bodyPr anchor="t" rtlCol="false"/>
                    <a:lstStyle/>
                    <a:p>
                      <a:pPr algn="l">
                        <a:lnSpc>
                          <a:spcPts val="2879"/>
                        </a:lnSpc>
                        <a:defRPr/>
                      </a:pPr>
                      <a:r>
                        <a:rPr lang="en-US" sz="2400" b="true">
                          <a:solidFill>
                            <a:srgbClr val="171C2A"/>
                          </a:solidFill>
                          <a:latin typeface="Helvetica World Bold"/>
                          <a:ea typeface="Helvetica World Bold"/>
                          <a:cs typeface="Helvetica World Bold"/>
                          <a:sym typeface="Helvetica World Bold"/>
                        </a:rPr>
                        <a:t>Hospitalisé</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sz="2400">
                          <a:solidFill>
                            <a:srgbClr val="171C2A"/>
                          </a:solidFill>
                          <a:latin typeface="Helvetica World"/>
                          <a:ea typeface="Helvetica World"/>
                          <a:cs typeface="Helvetica World"/>
                          <a:sym typeface="Helvetica World"/>
                        </a:rPr>
                        <a:t>139  (10,7 %)</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sz="2400">
                          <a:solidFill>
                            <a:srgbClr val="171C2A"/>
                          </a:solidFill>
                          <a:latin typeface="Helvetica World"/>
                          <a:ea typeface="Helvetica World"/>
                          <a:cs typeface="Helvetica World"/>
                          <a:sym typeface="Helvetica World"/>
                        </a:rPr>
                        <a:t>1 165  (89,3 %)</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D9DEFC"/>
                    </a:solidFill>
                  </a:tcPr>
                </a:tc>
              </a:tr>
            </a:tbl>
          </a:graphicData>
        </a:graphic>
      </p:graphicFrame>
      <p:grpSp>
        <p:nvGrpSpPr>
          <p:cNvPr name="Group 8" id="8"/>
          <p:cNvGrpSpPr/>
          <p:nvPr/>
        </p:nvGrpSpPr>
        <p:grpSpPr>
          <a:xfrm rot="0">
            <a:off x="453390" y="9699939"/>
            <a:ext cx="2230494" cy="396881"/>
            <a:chOff x="0" y="0"/>
            <a:chExt cx="2973991" cy="529175"/>
          </a:xfrm>
        </p:grpSpPr>
        <p:sp>
          <p:nvSpPr>
            <p:cNvPr name="Freeform 9" id="9"/>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4" id="14"/>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Freeform 15" id="15"/>
          <p:cNvSpPr/>
          <p:nvPr/>
        </p:nvSpPr>
        <p:spPr>
          <a:xfrm flipH="false" flipV="false" rot="0">
            <a:off x="9812844" y="1773243"/>
            <a:ext cx="7697916" cy="6270938"/>
          </a:xfrm>
          <a:custGeom>
            <a:avLst/>
            <a:gdLst/>
            <a:ahLst/>
            <a:cxnLst/>
            <a:rect r="r" b="b" t="t" l="l"/>
            <a:pathLst>
              <a:path h="6270938" w="7697916">
                <a:moveTo>
                  <a:pt x="0" y="0"/>
                </a:moveTo>
                <a:lnTo>
                  <a:pt x="7697916" y="0"/>
                </a:lnTo>
                <a:lnTo>
                  <a:pt x="7697916" y="6270939"/>
                </a:lnTo>
                <a:lnTo>
                  <a:pt x="0" y="6270939"/>
                </a:lnTo>
                <a:lnTo>
                  <a:pt x="0" y="0"/>
                </a:lnTo>
                <a:close/>
              </a:path>
            </a:pathLst>
          </a:custGeom>
          <a:blipFill>
            <a:blip r:embed="rId10"/>
            <a:stretch>
              <a:fillRect l="0" t="0" r="0" b="0"/>
            </a:stretch>
          </a:blipFill>
        </p:spPr>
      </p:sp>
      <p:sp>
        <p:nvSpPr>
          <p:cNvPr name="TextBox 16" id="16"/>
          <p:cNvSpPr txBox="true"/>
          <p:nvPr/>
        </p:nvSpPr>
        <p:spPr>
          <a:xfrm rot="0">
            <a:off x="777240" y="8044182"/>
            <a:ext cx="16733520" cy="857250"/>
          </a:xfrm>
          <a:prstGeom prst="rect">
            <a:avLst/>
          </a:prstGeom>
        </p:spPr>
        <p:txBody>
          <a:bodyPr anchor="t" rtlCol="false" tIns="0" lIns="0" bIns="0" rIns="0">
            <a:spAutoFit/>
          </a:bodyPr>
          <a:lstStyle/>
          <a:p>
            <a:pPr algn="l">
              <a:lnSpc>
                <a:spcPts val="3119"/>
              </a:lnSpc>
            </a:pPr>
            <a:r>
              <a:rPr lang="en-US" b="true" sz="2599">
                <a:solidFill>
                  <a:srgbClr val="171C2A"/>
                </a:solidFill>
                <a:latin typeface="Helvetica World Bold"/>
                <a:ea typeface="Helvetica World Bold"/>
                <a:cs typeface="Helvetica World Bold"/>
                <a:sym typeface="Helvetica World Bold"/>
              </a:rPr>
              <a:t>Pour un patient hospitalisé, le nombre de nuits est exact dans 56 % des cas et juste à une nuit près dans 93 %.</a:t>
            </a:r>
          </a:p>
        </p:txBody>
      </p:sp>
      <p:sp>
        <p:nvSpPr>
          <p:cNvPr name="TextBox 17" id="17"/>
          <p:cNvSpPr txBox="true"/>
          <p:nvPr/>
        </p:nvSpPr>
        <p:spPr>
          <a:xfrm rot="0">
            <a:off x="777240" y="2355723"/>
            <a:ext cx="8595360" cy="464820"/>
          </a:xfrm>
          <a:prstGeom prst="rect">
            <a:avLst/>
          </a:prstGeom>
        </p:spPr>
        <p:txBody>
          <a:bodyPr anchor="t" rtlCol="false" tIns="0" lIns="0" bIns="0" rIns="0">
            <a:spAutoFit/>
          </a:bodyPr>
          <a:lstStyle/>
          <a:p>
            <a:pPr algn="l">
              <a:lnSpc>
                <a:spcPts val="3359"/>
              </a:lnSpc>
            </a:pPr>
            <a:r>
              <a:rPr lang="en-US" sz="2799" b="true">
                <a:solidFill>
                  <a:srgbClr val="171C2A"/>
                </a:solidFill>
                <a:latin typeface="Helvetica World Bold"/>
                <a:ea typeface="Helvetica World Bold"/>
                <a:cs typeface="Helvetica World Bold"/>
                <a:sym typeface="Helvetica World Bold"/>
              </a:rPr>
              <a:t>Matrice de confusion sur les 2896 tests</a:t>
            </a:r>
          </a:p>
        </p:txBody>
      </p:sp>
      <p:sp>
        <p:nvSpPr>
          <p:cNvPr name="TextBox 18" id="18"/>
          <p:cNvSpPr txBox="true"/>
          <p:nvPr/>
        </p:nvSpPr>
        <p:spPr>
          <a:xfrm rot="0">
            <a:off x="453390" y="5663566"/>
            <a:ext cx="8595360" cy="1313815"/>
          </a:xfrm>
          <a:prstGeom prst="rect">
            <a:avLst/>
          </a:prstGeom>
        </p:spPr>
        <p:txBody>
          <a:bodyPr anchor="t" rtlCol="false" tIns="0" lIns="0" bIns="0" rIns="0">
            <a:spAutoFit/>
          </a:bodyPr>
          <a:lstStyle/>
          <a:p>
            <a:pPr algn="l" marL="604519" indent="-302260" lvl="1">
              <a:lnSpc>
                <a:spcPts val="5039"/>
              </a:lnSpc>
              <a:buFont typeface="Arial"/>
              <a:buChar char="•"/>
            </a:pPr>
            <a:r>
              <a:rPr lang="en-US" b="true" sz="2799">
                <a:solidFill>
                  <a:srgbClr val="171C2A"/>
                </a:solidFill>
                <a:latin typeface="Helvetica World Bold"/>
                <a:ea typeface="Helvetica World Bold"/>
                <a:cs typeface="Helvetica World Bold"/>
                <a:sym typeface="Helvetica World Bold"/>
              </a:rPr>
              <a:t>92,5 %</a:t>
            </a:r>
            <a:r>
              <a:rPr lang="en-US" sz="2799">
                <a:solidFill>
                  <a:srgbClr val="171C2A"/>
                </a:solidFill>
                <a:latin typeface="Helvetica World"/>
                <a:ea typeface="Helvetica World"/>
                <a:cs typeface="Helvetica World"/>
                <a:sym typeface="Helvetica World"/>
              </a:rPr>
              <a:t> d'orientations correctes</a:t>
            </a:r>
          </a:p>
          <a:p>
            <a:pPr algn="l" marL="604519" indent="-302260" lvl="1">
              <a:lnSpc>
                <a:spcPts val="5039"/>
              </a:lnSpc>
              <a:buFont typeface="Arial"/>
              <a:buChar char="•"/>
            </a:pPr>
            <a:r>
              <a:rPr lang="en-US" b="true" sz="2799">
                <a:solidFill>
                  <a:srgbClr val="171C2A"/>
                </a:solidFill>
                <a:latin typeface="Helvetica World Bold"/>
                <a:ea typeface="Helvetica World Bold"/>
                <a:cs typeface="Helvetica World Bold"/>
                <a:sym typeface="Helvetica World Bold"/>
              </a:rPr>
              <a:t>85,8 %</a:t>
            </a:r>
            <a:r>
              <a:rPr lang="en-US" sz="2799">
                <a:solidFill>
                  <a:srgbClr val="171C2A"/>
                </a:solidFill>
                <a:latin typeface="Helvetica World"/>
                <a:ea typeface="Helvetica World"/>
                <a:cs typeface="Helvetica World"/>
                <a:sym typeface="Helvetica World"/>
              </a:rPr>
              <a:t> Règle par utilisation de la médiane </a:t>
            </a:r>
          </a:p>
        </p:txBody>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PRÉDIRE : LES LIMITES DE NOTRE OUTIL</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TextBox 7" id="7"/>
          <p:cNvSpPr txBox="true"/>
          <p:nvPr/>
        </p:nvSpPr>
        <p:spPr>
          <a:xfrm rot="0">
            <a:off x="777240" y="8140709"/>
            <a:ext cx="16733520" cy="457200"/>
          </a:xfrm>
          <a:prstGeom prst="rect">
            <a:avLst/>
          </a:prstGeom>
        </p:spPr>
        <p:txBody>
          <a:bodyPr anchor="t" rtlCol="false" tIns="0" lIns="0" bIns="0" rIns="0">
            <a:spAutoFit/>
          </a:bodyPr>
          <a:lstStyle/>
          <a:p>
            <a:pPr algn="ctr">
              <a:lnSpc>
                <a:spcPts val="3359"/>
              </a:lnSpc>
            </a:pPr>
            <a:r>
              <a:rPr lang="en-US" b="true" sz="2799">
                <a:solidFill>
                  <a:srgbClr val="171C2A"/>
                </a:solidFill>
                <a:latin typeface="Helvetica World Bold"/>
                <a:ea typeface="Helvetica World Bold"/>
                <a:cs typeface="Helvetica World Bold"/>
                <a:sym typeface="Helvetica World Bold"/>
              </a:rPr>
              <a:t>Le modèle réduit l'incertitude, il ne la supprime pas : la décision reste au chirurgien.</a:t>
            </a:r>
          </a:p>
        </p:txBody>
      </p:sp>
      <p:grpSp>
        <p:nvGrpSpPr>
          <p:cNvPr name="Group 8" id="8"/>
          <p:cNvGrpSpPr/>
          <p:nvPr/>
        </p:nvGrpSpPr>
        <p:grpSpPr>
          <a:xfrm rot="0">
            <a:off x="777240" y="2022993"/>
            <a:ext cx="8183880" cy="871188"/>
            <a:chOff x="0" y="0"/>
            <a:chExt cx="10911840" cy="1161584"/>
          </a:xfrm>
        </p:grpSpPr>
        <p:sp>
          <p:nvSpPr>
            <p:cNvPr name="Freeform 9" id="9"/>
            <p:cNvSpPr/>
            <p:nvPr/>
          </p:nvSpPr>
          <p:spPr>
            <a:xfrm flipH="false" flipV="false" rot="0">
              <a:off x="0" y="0"/>
              <a:ext cx="10911840" cy="1161584"/>
            </a:xfrm>
            <a:custGeom>
              <a:avLst/>
              <a:gdLst/>
              <a:ahLst/>
              <a:cxnLst/>
              <a:rect r="r" b="b" t="t" l="l"/>
              <a:pathLst>
                <a:path h="1161584" w="10911840">
                  <a:moveTo>
                    <a:pt x="0" y="0"/>
                  </a:moveTo>
                  <a:lnTo>
                    <a:pt x="10911840" y="0"/>
                  </a:lnTo>
                  <a:lnTo>
                    <a:pt x="10911840" y="1161584"/>
                  </a:lnTo>
                  <a:lnTo>
                    <a:pt x="0" y="1161584"/>
                  </a:lnTo>
                  <a:close/>
                </a:path>
              </a:pathLst>
            </a:custGeom>
            <a:solidFill>
              <a:srgbClr val="171C2A"/>
            </a:solidFill>
          </p:spPr>
        </p:sp>
        <p:sp>
          <p:nvSpPr>
            <p:cNvPr name="TextBox 10" id="10"/>
            <p:cNvSpPr txBox="true"/>
            <p:nvPr/>
          </p:nvSpPr>
          <p:spPr>
            <a:xfrm>
              <a:off x="0" y="9525"/>
              <a:ext cx="1091184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Limites identifiées</a:t>
              </a:r>
            </a:p>
          </p:txBody>
        </p:sp>
      </p:grpSp>
      <p:grpSp>
        <p:nvGrpSpPr>
          <p:cNvPr name="Group 11" id="11"/>
          <p:cNvGrpSpPr/>
          <p:nvPr/>
        </p:nvGrpSpPr>
        <p:grpSpPr>
          <a:xfrm rot="0">
            <a:off x="777240" y="2888355"/>
            <a:ext cx="8183880" cy="4727194"/>
            <a:chOff x="0" y="0"/>
            <a:chExt cx="10911840" cy="6302926"/>
          </a:xfrm>
        </p:grpSpPr>
        <p:sp>
          <p:nvSpPr>
            <p:cNvPr name="Freeform 12" id="12"/>
            <p:cNvSpPr/>
            <p:nvPr/>
          </p:nvSpPr>
          <p:spPr>
            <a:xfrm flipH="false" flipV="false" rot="0">
              <a:off x="0" y="0"/>
              <a:ext cx="10911840" cy="6302896"/>
            </a:xfrm>
            <a:custGeom>
              <a:avLst/>
              <a:gdLst/>
              <a:ahLst/>
              <a:cxnLst/>
              <a:rect r="r" b="b" t="t" l="l"/>
              <a:pathLst>
                <a:path h="6302896" w="10911840">
                  <a:moveTo>
                    <a:pt x="0" y="0"/>
                  </a:moveTo>
                  <a:lnTo>
                    <a:pt x="10911840" y="0"/>
                  </a:lnTo>
                  <a:lnTo>
                    <a:pt x="10911840" y="6302896"/>
                  </a:lnTo>
                  <a:lnTo>
                    <a:pt x="0" y="6302896"/>
                  </a:lnTo>
                  <a:close/>
                </a:path>
              </a:pathLst>
            </a:custGeom>
            <a:solidFill>
              <a:srgbClr val="F2F8F6"/>
            </a:solidFill>
          </p:spPr>
        </p:sp>
      </p:grpSp>
      <p:sp>
        <p:nvSpPr>
          <p:cNvPr name="TextBox 13" id="13"/>
          <p:cNvSpPr txBox="true"/>
          <p:nvPr/>
        </p:nvSpPr>
        <p:spPr>
          <a:xfrm rot="0">
            <a:off x="978408" y="3052947"/>
            <a:ext cx="7781544" cy="4267835"/>
          </a:xfrm>
          <a:prstGeom prst="rect">
            <a:avLst/>
          </a:prstGeom>
        </p:spPr>
        <p:txBody>
          <a:bodyPr anchor="t" rtlCol="false" tIns="0" lIns="0" bIns="0" rIns="0">
            <a:spAutoFit/>
          </a:bodyPr>
          <a:lstStyle/>
          <a:p>
            <a:pPr algn="l" marL="386080" indent="-193040" lvl="1">
              <a:lnSpc>
                <a:spcPts val="4160"/>
              </a:lnSpc>
              <a:buFont typeface="Arial"/>
              <a:buChar char="•"/>
            </a:pPr>
            <a:r>
              <a:rPr lang="en-US" b="true" sz="3200">
                <a:solidFill>
                  <a:srgbClr val="171C2A"/>
                </a:solidFill>
                <a:latin typeface="Helvetica World Bold"/>
                <a:ea typeface="Helvetica World Bold"/>
                <a:cs typeface="Helvetica World Bold"/>
                <a:sym typeface="Helvetica World Bold"/>
              </a:rPr>
              <a:t>Durée et nuits :</a:t>
            </a:r>
            <a:r>
              <a:rPr lang="en-US" sz="3200">
                <a:solidFill>
                  <a:srgbClr val="171C2A"/>
                </a:solidFill>
                <a:latin typeface="Helvetica World"/>
                <a:ea typeface="Helvetica World"/>
                <a:cs typeface="Helvetica World"/>
                <a:sym typeface="Helvetica World"/>
              </a:rPr>
              <a:t> 33 % des durées sont hors de ±15 min et 11 % hors de ±30 min. Pour les nuits, 7 % des séjours dépassent une nuit d’écart </a:t>
            </a:r>
          </a:p>
          <a:p>
            <a:pPr algn="l" marL="386080" indent="-193040" lvl="1">
              <a:lnSpc>
                <a:spcPts val="4160"/>
              </a:lnSpc>
              <a:buFont typeface="Arial"/>
              <a:buChar char="•"/>
            </a:pPr>
            <a:r>
              <a:rPr lang="en-US" b="true" sz="3200">
                <a:solidFill>
                  <a:srgbClr val="171C2A"/>
                </a:solidFill>
                <a:latin typeface="Helvetica World Bold"/>
                <a:ea typeface="Helvetica World Bold"/>
                <a:cs typeface="Helvetica World Bold"/>
                <a:sym typeface="Helvetica World Bold"/>
              </a:rPr>
              <a:t>Une seule clinique, 2019-2022 :</a:t>
            </a:r>
            <a:r>
              <a:rPr lang="en-US" sz="3200">
                <a:solidFill>
                  <a:srgbClr val="171C2A"/>
                </a:solidFill>
                <a:latin typeface="Helvetica World"/>
                <a:ea typeface="Helvetica World"/>
                <a:cs typeface="Helvetica World"/>
                <a:sym typeface="Helvetica World"/>
              </a:rPr>
              <a:t> la généralisation à un autre établissement n’est pas testée, et les pratiques évoluent depuis.</a:t>
            </a:r>
          </a:p>
        </p:txBody>
      </p:sp>
      <p:grpSp>
        <p:nvGrpSpPr>
          <p:cNvPr name="Group 14" id="14"/>
          <p:cNvGrpSpPr/>
          <p:nvPr/>
        </p:nvGrpSpPr>
        <p:grpSpPr>
          <a:xfrm rot="0">
            <a:off x="9326880" y="2022993"/>
            <a:ext cx="8183880" cy="872458"/>
            <a:chOff x="0" y="0"/>
            <a:chExt cx="10911840" cy="1163277"/>
          </a:xfrm>
        </p:grpSpPr>
        <p:sp>
          <p:nvSpPr>
            <p:cNvPr name="Freeform 15" id="15"/>
            <p:cNvSpPr/>
            <p:nvPr/>
          </p:nvSpPr>
          <p:spPr>
            <a:xfrm flipH="false" flipV="false" rot="0">
              <a:off x="0" y="0"/>
              <a:ext cx="10911840" cy="1163277"/>
            </a:xfrm>
            <a:custGeom>
              <a:avLst/>
              <a:gdLst/>
              <a:ahLst/>
              <a:cxnLst/>
              <a:rect r="r" b="b" t="t" l="l"/>
              <a:pathLst>
                <a:path h="1163277" w="10911840">
                  <a:moveTo>
                    <a:pt x="0" y="0"/>
                  </a:moveTo>
                  <a:lnTo>
                    <a:pt x="10911840" y="0"/>
                  </a:lnTo>
                  <a:lnTo>
                    <a:pt x="10911840" y="1163277"/>
                  </a:lnTo>
                  <a:lnTo>
                    <a:pt x="0" y="1163277"/>
                  </a:lnTo>
                  <a:close/>
                </a:path>
              </a:pathLst>
            </a:custGeom>
            <a:solidFill>
              <a:srgbClr val="2628ED"/>
            </a:solidFill>
          </p:spPr>
        </p:sp>
        <p:sp>
          <p:nvSpPr>
            <p:cNvPr name="TextBox 16" id="16"/>
            <p:cNvSpPr txBox="true"/>
            <p:nvPr/>
          </p:nvSpPr>
          <p:spPr>
            <a:xfrm>
              <a:off x="0" y="9525"/>
              <a:ext cx="10911840" cy="1153752"/>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Protection</a:t>
              </a:r>
              <a:r>
                <a:rPr lang="en-US" sz="2999" b="true">
                  <a:solidFill>
                    <a:srgbClr val="FFFFFF"/>
                  </a:solidFill>
                  <a:latin typeface="Helvetica World Bold"/>
                  <a:ea typeface="Helvetica World Bold"/>
                  <a:cs typeface="Helvetica World Bold"/>
                  <a:sym typeface="Helvetica World Bold"/>
                </a:rPr>
                <a:t> dans l'application</a:t>
              </a:r>
            </a:p>
          </p:txBody>
        </p:sp>
      </p:grpSp>
      <p:grpSp>
        <p:nvGrpSpPr>
          <p:cNvPr name="Group 17" id="17"/>
          <p:cNvGrpSpPr/>
          <p:nvPr/>
        </p:nvGrpSpPr>
        <p:grpSpPr>
          <a:xfrm rot="0">
            <a:off x="9326880" y="2888355"/>
            <a:ext cx="8183880" cy="4727194"/>
            <a:chOff x="0" y="0"/>
            <a:chExt cx="10911840" cy="6302926"/>
          </a:xfrm>
        </p:grpSpPr>
        <p:sp>
          <p:nvSpPr>
            <p:cNvPr name="Freeform 18" id="18"/>
            <p:cNvSpPr/>
            <p:nvPr/>
          </p:nvSpPr>
          <p:spPr>
            <a:xfrm flipH="false" flipV="false" rot="0">
              <a:off x="0" y="0"/>
              <a:ext cx="10911840" cy="6302896"/>
            </a:xfrm>
            <a:custGeom>
              <a:avLst/>
              <a:gdLst/>
              <a:ahLst/>
              <a:cxnLst/>
              <a:rect r="r" b="b" t="t" l="l"/>
              <a:pathLst>
                <a:path h="6302896" w="10911840">
                  <a:moveTo>
                    <a:pt x="0" y="0"/>
                  </a:moveTo>
                  <a:lnTo>
                    <a:pt x="10911840" y="0"/>
                  </a:lnTo>
                  <a:lnTo>
                    <a:pt x="10911840" y="6302896"/>
                  </a:lnTo>
                  <a:lnTo>
                    <a:pt x="0" y="6302896"/>
                  </a:lnTo>
                  <a:close/>
                </a:path>
              </a:pathLst>
            </a:custGeom>
            <a:solidFill>
              <a:srgbClr val="F2F8F6"/>
            </a:solidFill>
          </p:spPr>
        </p:sp>
      </p:grpSp>
      <p:sp>
        <p:nvSpPr>
          <p:cNvPr name="TextBox 19" id="19"/>
          <p:cNvSpPr txBox="true"/>
          <p:nvPr/>
        </p:nvSpPr>
        <p:spPr>
          <a:xfrm rot="0">
            <a:off x="9613451" y="3581251"/>
            <a:ext cx="7830634" cy="3079369"/>
          </a:xfrm>
          <a:prstGeom prst="rect">
            <a:avLst/>
          </a:prstGeom>
        </p:spPr>
        <p:txBody>
          <a:bodyPr anchor="t" rtlCol="false" tIns="0" lIns="0" bIns="0" rIns="0">
            <a:spAutoFit/>
          </a:bodyPr>
          <a:lstStyle/>
          <a:p>
            <a:pPr algn="l" marL="386079" indent="-193040" lvl="1">
              <a:lnSpc>
                <a:spcPts val="3967"/>
              </a:lnSpc>
              <a:buFont typeface="Arial"/>
              <a:buChar char="•"/>
            </a:pPr>
            <a:r>
              <a:rPr lang="en-US" sz="3199">
                <a:solidFill>
                  <a:srgbClr val="171C2A"/>
                </a:solidFill>
                <a:latin typeface="Helvetica World"/>
                <a:ea typeface="Helvetica World"/>
                <a:cs typeface="Helvetica World"/>
                <a:sym typeface="Helvetica World"/>
              </a:rPr>
              <a:t>Chaque valeur est une </a:t>
            </a:r>
            <a:r>
              <a:rPr lang="en-US" b="true" sz="3199">
                <a:solidFill>
                  <a:srgbClr val="171C2A"/>
                </a:solidFill>
                <a:latin typeface="Helvetica World Bold"/>
                <a:ea typeface="Helvetica World Bold"/>
                <a:cs typeface="Helvetica World Bold"/>
                <a:sym typeface="Helvetica World Bold"/>
              </a:rPr>
              <a:t>proposition</a:t>
            </a:r>
            <a:r>
              <a:rPr lang="en-US" sz="3199">
                <a:solidFill>
                  <a:srgbClr val="171C2A"/>
                </a:solidFill>
                <a:latin typeface="Helvetica World"/>
                <a:ea typeface="Helvetica World"/>
                <a:cs typeface="Helvetica World"/>
                <a:sym typeface="Helvetica World"/>
              </a:rPr>
              <a:t> que le chirurgien valide ou corrige.</a:t>
            </a:r>
          </a:p>
          <a:p>
            <a:pPr algn="l">
              <a:lnSpc>
                <a:spcPts val="3967"/>
              </a:lnSpc>
            </a:pPr>
          </a:p>
          <a:p>
            <a:pPr algn="l" marL="386079" indent="-193040" lvl="1">
              <a:lnSpc>
                <a:spcPts val="3967"/>
              </a:lnSpc>
              <a:buFont typeface="Arial"/>
              <a:buChar char="•"/>
            </a:pPr>
            <a:r>
              <a:rPr lang="en-US" b="true" sz="3199">
                <a:solidFill>
                  <a:srgbClr val="171C2A"/>
                </a:solidFill>
                <a:latin typeface="Helvetica World Bold"/>
                <a:ea typeface="Helvetica World Bold"/>
                <a:cs typeface="Helvetica World Bold"/>
                <a:sym typeface="Helvetica World Bold"/>
              </a:rPr>
              <a:t>Prédiction et valeur retenue conservées : </a:t>
            </a:r>
            <a:r>
              <a:rPr lang="en-US" sz="3199">
                <a:solidFill>
                  <a:srgbClr val="171C2A"/>
                </a:solidFill>
                <a:latin typeface="Helvetica World"/>
                <a:ea typeface="Helvetica World"/>
                <a:cs typeface="Helvetica World"/>
                <a:sym typeface="Helvetica World"/>
              </a:rPr>
              <a:t>écart mesuré en continu.</a:t>
            </a:r>
          </a:p>
          <a:p>
            <a:pPr algn="l">
              <a:lnSpc>
                <a:spcPts val="3967"/>
              </a:lnSpc>
            </a:pPr>
          </a:p>
        </p:txBody>
      </p:sp>
      <p:grpSp>
        <p:nvGrpSpPr>
          <p:cNvPr name="Group 20" id="20"/>
          <p:cNvGrpSpPr/>
          <p:nvPr/>
        </p:nvGrpSpPr>
        <p:grpSpPr>
          <a:xfrm rot="0">
            <a:off x="453390" y="9699939"/>
            <a:ext cx="2230494" cy="396881"/>
            <a:chOff x="0" y="0"/>
            <a:chExt cx="2973991" cy="529175"/>
          </a:xfrm>
        </p:grpSpPr>
        <p:sp>
          <p:nvSpPr>
            <p:cNvPr name="Freeform 21" id="21"/>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5" id="25"/>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26" id="26"/>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27" id="2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marL="0" indent="0" lvl="0">
                <a:lnSpc>
                  <a:spcPts val="3840"/>
                </a:lnSpc>
                <a:spcBef>
                  <a:spcPct val="0"/>
                </a:spcBef>
              </a:pPr>
              <a:r>
                <a:rPr lang="en-US" b="true" sz="3200" strike="noStrike" u="none">
                  <a:solidFill>
                    <a:srgbClr val="171C2A"/>
                  </a:solidFill>
                  <a:latin typeface="Helvetica World Bold"/>
                  <a:ea typeface="Helvetica World Bold"/>
                  <a:cs typeface="Helvetica World Bold"/>
                  <a:sym typeface="Helvetica World Bold"/>
                </a:rPr>
                <a:t>PLANIFIER : UNE AFFECTATION EN DEUX NIVEAUX STATIQUES</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615315" y="2784136"/>
            <a:ext cx="8147685" cy="874363"/>
            <a:chOff x="0" y="0"/>
            <a:chExt cx="10863580" cy="1165817"/>
          </a:xfrm>
        </p:grpSpPr>
        <p:sp>
          <p:nvSpPr>
            <p:cNvPr name="Freeform 8" id="8"/>
            <p:cNvSpPr/>
            <p:nvPr/>
          </p:nvSpPr>
          <p:spPr>
            <a:xfrm flipH="false" flipV="false" rot="0">
              <a:off x="0" y="0"/>
              <a:ext cx="10863580" cy="1165817"/>
            </a:xfrm>
            <a:custGeom>
              <a:avLst/>
              <a:gdLst/>
              <a:ahLst/>
              <a:cxnLst/>
              <a:rect r="r" b="b" t="t" l="l"/>
              <a:pathLst>
                <a:path h="1165817" w="10863580">
                  <a:moveTo>
                    <a:pt x="0" y="0"/>
                  </a:moveTo>
                  <a:lnTo>
                    <a:pt x="10863580" y="0"/>
                  </a:lnTo>
                  <a:lnTo>
                    <a:pt x="10863580" y="1165817"/>
                  </a:lnTo>
                  <a:lnTo>
                    <a:pt x="0" y="1165817"/>
                  </a:lnTo>
                  <a:close/>
                </a:path>
              </a:pathLst>
            </a:custGeom>
            <a:solidFill>
              <a:srgbClr val="171C2A"/>
            </a:solidFill>
          </p:spPr>
        </p:sp>
        <p:sp>
          <p:nvSpPr>
            <p:cNvPr name="TextBox 9" id="9"/>
            <p:cNvSpPr txBox="true"/>
            <p:nvPr/>
          </p:nvSpPr>
          <p:spPr>
            <a:xfrm>
              <a:off x="0" y="9525"/>
              <a:ext cx="10863580" cy="1156292"/>
            </a:xfrm>
            <a:prstGeom prst="rect">
              <a:avLst/>
            </a:prstGeom>
          </p:spPr>
          <p:txBody>
            <a:bodyPr anchor="ctr" rtlCol="false" tIns="50800" lIns="50800" bIns="50800" rIns="50800"/>
            <a:lstStyle/>
            <a:p>
              <a:pPr algn="l" marL="0" indent="0" lvl="0">
                <a:lnSpc>
                  <a:spcPts val="3599"/>
                </a:lnSpc>
                <a:spcBef>
                  <a:spcPct val="0"/>
                </a:spcBef>
              </a:pPr>
              <a:r>
                <a:rPr lang="en-US" b="true" sz="2999" strike="noStrike" u="none">
                  <a:solidFill>
                    <a:srgbClr val="FFFFFF"/>
                  </a:solidFill>
                  <a:latin typeface="Helvetica World Bold"/>
                  <a:ea typeface="Helvetica World Bold"/>
                  <a:cs typeface="Helvetica World Bold"/>
                  <a:sym typeface="Helvetica World Bold"/>
                </a:rPr>
                <a:t>  Niveau 1 · Disposer les vacations</a:t>
              </a:r>
            </a:p>
          </p:txBody>
        </p:sp>
      </p:grpSp>
      <p:grpSp>
        <p:nvGrpSpPr>
          <p:cNvPr name="Group 10" id="10"/>
          <p:cNvGrpSpPr/>
          <p:nvPr/>
        </p:nvGrpSpPr>
        <p:grpSpPr>
          <a:xfrm rot="0">
            <a:off x="615315" y="3655657"/>
            <a:ext cx="8147685" cy="4552264"/>
            <a:chOff x="0" y="0"/>
            <a:chExt cx="10287000" cy="5747539"/>
          </a:xfrm>
        </p:grpSpPr>
        <p:sp>
          <p:nvSpPr>
            <p:cNvPr name="Freeform 11" id="11"/>
            <p:cNvSpPr/>
            <p:nvPr/>
          </p:nvSpPr>
          <p:spPr>
            <a:xfrm flipH="false" flipV="false" rot="0">
              <a:off x="0" y="0"/>
              <a:ext cx="10287000" cy="5747577"/>
            </a:xfrm>
            <a:custGeom>
              <a:avLst/>
              <a:gdLst/>
              <a:ahLst/>
              <a:cxnLst/>
              <a:rect r="r" b="b" t="t" l="l"/>
              <a:pathLst>
                <a:path h="5747577" w="10287000">
                  <a:moveTo>
                    <a:pt x="0" y="0"/>
                  </a:moveTo>
                  <a:lnTo>
                    <a:pt x="10287000" y="0"/>
                  </a:lnTo>
                  <a:lnTo>
                    <a:pt x="10287000" y="5747577"/>
                  </a:lnTo>
                  <a:lnTo>
                    <a:pt x="0" y="5747577"/>
                  </a:lnTo>
                  <a:close/>
                </a:path>
              </a:pathLst>
            </a:custGeom>
            <a:solidFill>
              <a:srgbClr val="F2F8F6"/>
            </a:solidFill>
          </p:spPr>
        </p:sp>
      </p:grpSp>
      <p:sp>
        <p:nvSpPr>
          <p:cNvPr name="TextBox 12" id="12"/>
          <p:cNvSpPr txBox="true"/>
          <p:nvPr/>
        </p:nvSpPr>
        <p:spPr>
          <a:xfrm rot="0">
            <a:off x="615315" y="3914737"/>
            <a:ext cx="7334250" cy="3238754"/>
          </a:xfrm>
          <a:prstGeom prst="rect">
            <a:avLst/>
          </a:prstGeom>
        </p:spPr>
        <p:txBody>
          <a:bodyPr anchor="t" rtlCol="false" tIns="0" lIns="0" bIns="0" rIns="0">
            <a:spAutoFit/>
          </a:bodyPr>
          <a:lstStyle/>
          <a:p>
            <a:pPr algn="l" marL="690879" indent="-345439" lvl="1">
              <a:lnSpc>
                <a:spcPts val="4287"/>
              </a:lnSpc>
              <a:spcBef>
                <a:spcPct val="0"/>
              </a:spcBef>
              <a:buFont typeface="Arial"/>
              <a:buChar char="•"/>
            </a:pPr>
            <a:r>
              <a:rPr lang="en-US" sz="3199" strike="noStrike" u="none">
                <a:solidFill>
                  <a:srgbClr val="171C2A"/>
                </a:solidFill>
                <a:latin typeface="Helvetica World"/>
                <a:ea typeface="Helvetica World"/>
                <a:cs typeface="Helvetica World"/>
                <a:sym typeface="Helvetica World"/>
              </a:rPr>
              <a:t>Placer les chirurgiens sur les plages de bloc, en partant du planning initial</a:t>
            </a:r>
          </a:p>
          <a:p>
            <a:pPr algn="l" marL="690879" indent="-345439" lvl="1">
              <a:lnSpc>
                <a:spcPts val="4287"/>
              </a:lnSpc>
              <a:spcBef>
                <a:spcPct val="0"/>
              </a:spcBef>
              <a:buFont typeface="Arial"/>
              <a:buChar char="•"/>
            </a:pPr>
            <a:r>
              <a:rPr lang="en-US" sz="3199" strike="noStrike" u="none">
                <a:solidFill>
                  <a:srgbClr val="171C2A"/>
                </a:solidFill>
                <a:latin typeface="Helvetica World"/>
                <a:ea typeface="Helvetica World"/>
                <a:cs typeface="Helvetica World"/>
                <a:sym typeface="Helvetica World"/>
              </a:rPr>
              <a:t>Entrée : 4 salles, 16 à 18 praticiens,      </a:t>
            </a:r>
            <a:r>
              <a:rPr lang="en-US" sz="3199" strike="noStrike" u="none">
                <a:solidFill>
                  <a:srgbClr val="171C2A"/>
                </a:solidFill>
                <a:latin typeface="Helvetica World"/>
                <a:ea typeface="Helvetica World"/>
                <a:cs typeface="Helvetica World"/>
                <a:sym typeface="Helvetica World"/>
              </a:rPr>
              <a:t>≈ 150 h de vacations par semaine</a:t>
            </a:r>
          </a:p>
          <a:p>
            <a:pPr algn="l" marL="690879" indent="-345439" lvl="1">
              <a:lnSpc>
                <a:spcPts val="4287"/>
              </a:lnSpc>
              <a:spcBef>
                <a:spcPct val="0"/>
              </a:spcBef>
              <a:buFont typeface="Arial"/>
              <a:buChar char="•"/>
            </a:pPr>
            <a:r>
              <a:rPr lang="en-US" sz="3199" strike="noStrike" u="none">
                <a:solidFill>
                  <a:srgbClr val="171C2A"/>
                </a:solidFill>
                <a:latin typeface="Helvetica World"/>
                <a:ea typeface="Helvetica World"/>
                <a:cs typeface="Helvetica World"/>
                <a:sym typeface="Helvetica World"/>
              </a:rPr>
              <a:t>Sortie : la grille des vacations (salle, jour, chirurgien)</a:t>
            </a:r>
          </a:p>
        </p:txBody>
      </p:sp>
      <p:sp>
        <p:nvSpPr>
          <p:cNvPr name="AutoShape 13" id="13"/>
          <p:cNvSpPr/>
          <p:nvPr/>
        </p:nvSpPr>
        <p:spPr>
          <a:xfrm>
            <a:off x="8871585" y="5747347"/>
            <a:ext cx="1085850" cy="0"/>
          </a:xfrm>
          <a:prstGeom prst="line">
            <a:avLst/>
          </a:prstGeom>
          <a:ln cap="rnd" w="38100">
            <a:solidFill>
              <a:srgbClr val="171C2A"/>
            </a:solidFill>
            <a:prstDash val="solid"/>
            <a:headEnd type="none" len="sm" w="sm"/>
            <a:tailEnd type="triangle" len="med" w="lg"/>
          </a:ln>
        </p:spPr>
      </p:sp>
      <p:grpSp>
        <p:nvGrpSpPr>
          <p:cNvPr name="Group 14" id="14"/>
          <p:cNvGrpSpPr/>
          <p:nvPr/>
        </p:nvGrpSpPr>
        <p:grpSpPr>
          <a:xfrm rot="0">
            <a:off x="453390" y="9699939"/>
            <a:ext cx="2230494" cy="396881"/>
            <a:chOff x="0" y="0"/>
            <a:chExt cx="2973991" cy="529175"/>
          </a:xfrm>
        </p:grpSpPr>
        <p:sp>
          <p:nvSpPr>
            <p:cNvPr name="Freeform 15" id="15"/>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20" id="20"/>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grpSp>
        <p:nvGrpSpPr>
          <p:cNvPr name="Group 21" id="21"/>
          <p:cNvGrpSpPr/>
          <p:nvPr/>
        </p:nvGrpSpPr>
        <p:grpSpPr>
          <a:xfrm rot="0">
            <a:off x="9957435" y="2783167"/>
            <a:ext cx="7715250" cy="872490"/>
            <a:chOff x="0" y="0"/>
            <a:chExt cx="10287000" cy="1163320"/>
          </a:xfrm>
        </p:grpSpPr>
        <p:sp>
          <p:nvSpPr>
            <p:cNvPr name="Freeform 22" id="22"/>
            <p:cNvSpPr/>
            <p:nvPr/>
          </p:nvSpPr>
          <p:spPr>
            <a:xfrm flipH="false" flipV="false" rot="0">
              <a:off x="0" y="0"/>
              <a:ext cx="10287000" cy="1163320"/>
            </a:xfrm>
            <a:custGeom>
              <a:avLst/>
              <a:gdLst/>
              <a:ahLst/>
              <a:cxnLst/>
              <a:rect r="r" b="b" t="t" l="l"/>
              <a:pathLst>
                <a:path h="1163320" w="10287000">
                  <a:moveTo>
                    <a:pt x="0" y="0"/>
                  </a:moveTo>
                  <a:lnTo>
                    <a:pt x="10287000" y="0"/>
                  </a:lnTo>
                  <a:lnTo>
                    <a:pt x="10287000" y="1163320"/>
                  </a:lnTo>
                  <a:lnTo>
                    <a:pt x="0" y="1163320"/>
                  </a:lnTo>
                  <a:close/>
                </a:path>
              </a:pathLst>
            </a:custGeom>
            <a:solidFill>
              <a:srgbClr val="171C2A"/>
            </a:solidFill>
          </p:spPr>
        </p:sp>
        <p:sp>
          <p:nvSpPr>
            <p:cNvPr name="TextBox 23" id="23"/>
            <p:cNvSpPr txBox="true"/>
            <p:nvPr/>
          </p:nvSpPr>
          <p:spPr>
            <a:xfrm>
              <a:off x="0" y="-38100"/>
              <a:ext cx="10287000" cy="120142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9957435" y="3655657"/>
            <a:ext cx="7715250" cy="4552264"/>
            <a:chOff x="0" y="0"/>
            <a:chExt cx="10287000" cy="6069685"/>
          </a:xfrm>
        </p:grpSpPr>
        <p:sp>
          <p:nvSpPr>
            <p:cNvPr name="Freeform 25" id="25"/>
            <p:cNvSpPr/>
            <p:nvPr/>
          </p:nvSpPr>
          <p:spPr>
            <a:xfrm flipH="false" flipV="false" rot="0">
              <a:off x="0" y="0"/>
              <a:ext cx="10287000" cy="6069685"/>
            </a:xfrm>
            <a:custGeom>
              <a:avLst/>
              <a:gdLst/>
              <a:ahLst/>
              <a:cxnLst/>
              <a:rect r="r" b="b" t="t" l="l"/>
              <a:pathLst>
                <a:path h="6069685" w="10287000">
                  <a:moveTo>
                    <a:pt x="0" y="0"/>
                  </a:moveTo>
                  <a:lnTo>
                    <a:pt x="10287000" y="0"/>
                  </a:lnTo>
                  <a:lnTo>
                    <a:pt x="10287000" y="6069685"/>
                  </a:lnTo>
                  <a:lnTo>
                    <a:pt x="0" y="6069685"/>
                  </a:lnTo>
                  <a:close/>
                </a:path>
              </a:pathLst>
            </a:custGeom>
            <a:solidFill>
              <a:srgbClr val="F2F8F6"/>
            </a:solidFill>
          </p:spPr>
        </p:sp>
        <p:sp>
          <p:nvSpPr>
            <p:cNvPr name="TextBox 26" id="26"/>
            <p:cNvSpPr txBox="true"/>
            <p:nvPr/>
          </p:nvSpPr>
          <p:spPr>
            <a:xfrm>
              <a:off x="0" y="-38100"/>
              <a:ext cx="10287000" cy="6107785"/>
            </a:xfrm>
            <a:prstGeom prst="rect">
              <a:avLst/>
            </a:prstGeom>
          </p:spPr>
          <p:txBody>
            <a:bodyPr anchor="ctr" rtlCol="false" tIns="50800" lIns="50800" bIns="50800" rIns="50800"/>
            <a:lstStyle/>
            <a:p>
              <a:pPr algn="l">
                <a:lnSpc>
                  <a:spcPts val="1679"/>
                </a:lnSpc>
              </a:pPr>
            </a:p>
          </p:txBody>
        </p:sp>
      </p:grpSp>
      <p:sp>
        <p:nvSpPr>
          <p:cNvPr name="TextBox 27" id="27"/>
          <p:cNvSpPr txBox="true"/>
          <p:nvPr/>
        </p:nvSpPr>
        <p:spPr>
          <a:xfrm rot="0">
            <a:off x="9957435" y="2973667"/>
            <a:ext cx="7715250" cy="476250"/>
          </a:xfrm>
          <a:prstGeom prst="rect">
            <a:avLst/>
          </a:prstGeom>
        </p:spPr>
        <p:txBody>
          <a:bodyPr anchor="t" rtlCol="false" tIns="0" lIns="0" bIns="0" rIns="0">
            <a:spAutoFit/>
          </a:bodyPr>
          <a:lstStyle/>
          <a:p>
            <a:pPr algn="l">
              <a:lnSpc>
                <a:spcPts val="3600"/>
              </a:lnSpc>
            </a:pPr>
            <a:r>
              <a:rPr lang="en-US" sz="3000" b="true">
                <a:solidFill>
                  <a:srgbClr val="FFFFFF"/>
                </a:solidFill>
                <a:latin typeface="Arimo Bold"/>
                <a:ea typeface="Arimo Bold"/>
                <a:cs typeface="Arimo Bold"/>
                <a:sym typeface="Arimo Bold"/>
              </a:rPr>
              <a:t>  Niveau 2 · Placer les patients</a:t>
            </a:r>
          </a:p>
        </p:txBody>
      </p:sp>
      <p:sp>
        <p:nvSpPr>
          <p:cNvPr name="TextBox 28" id="28"/>
          <p:cNvSpPr txBox="true"/>
          <p:nvPr/>
        </p:nvSpPr>
        <p:spPr>
          <a:xfrm rot="0">
            <a:off x="9858375" y="3905212"/>
            <a:ext cx="7334250" cy="3849751"/>
          </a:xfrm>
          <a:prstGeom prst="rect">
            <a:avLst/>
          </a:prstGeom>
        </p:spPr>
        <p:txBody>
          <a:bodyPr anchor="t" rtlCol="false" tIns="0" lIns="0" bIns="0" rIns="0">
            <a:spAutoFit/>
          </a:bodyPr>
          <a:lstStyle/>
          <a:p>
            <a:pPr algn="l" marL="690879" indent="-345439" lvl="1">
              <a:lnSpc>
                <a:spcPts val="4351"/>
              </a:lnSpc>
              <a:buFont typeface="Arial"/>
              <a:buChar char="•"/>
            </a:pPr>
            <a:r>
              <a:rPr lang="en-US" sz="3199">
                <a:solidFill>
                  <a:srgbClr val="171C2A"/>
                </a:solidFill>
                <a:latin typeface="Helvetica World"/>
                <a:ea typeface="Helvetica World"/>
                <a:cs typeface="Helvetica World"/>
                <a:sym typeface="Helvetica World"/>
              </a:rPr>
              <a:t>Affecter chaque patient à une vacation compatible</a:t>
            </a:r>
          </a:p>
          <a:p>
            <a:pPr algn="l" marL="690879" indent="-345439" lvl="1">
              <a:lnSpc>
                <a:spcPts val="4351"/>
              </a:lnSpc>
              <a:buFont typeface="Arial"/>
              <a:buChar char="•"/>
            </a:pPr>
            <a:r>
              <a:rPr lang="en-US" sz="3199">
                <a:solidFill>
                  <a:srgbClr val="171C2A"/>
                </a:solidFill>
                <a:latin typeface="Helvetica World"/>
                <a:ea typeface="Helvetica World"/>
                <a:cs typeface="Helvetica World"/>
                <a:sym typeface="Helvetica World"/>
              </a:rPr>
              <a:t>Entrée : la grille + durée, nuits et urgence prédites</a:t>
            </a:r>
          </a:p>
          <a:p>
            <a:pPr algn="l" marL="690879" indent="-345439" lvl="1">
              <a:lnSpc>
                <a:spcPts val="4351"/>
              </a:lnSpc>
              <a:buFont typeface="Arial"/>
              <a:buChar char="•"/>
            </a:pPr>
            <a:r>
              <a:rPr lang="en-US" sz="3199">
                <a:solidFill>
                  <a:srgbClr val="171C2A"/>
                </a:solidFill>
                <a:latin typeface="Helvetica World"/>
                <a:ea typeface="Helvetica World"/>
                <a:cs typeface="Helvetica World"/>
                <a:sym typeface="Helvetica World"/>
              </a:rPr>
              <a:t>Objectif : maîtriser les dépassements, lisser les lits et les places</a:t>
            </a:r>
          </a:p>
        </p:txBody>
      </p:sp>
      <p:sp>
        <p:nvSpPr>
          <p:cNvPr name="TextBox 29" id="2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PLANIFIER : LA FONCTION OBJECTIF </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777240" y="1645920"/>
            <a:ext cx="16733520" cy="1143000"/>
            <a:chOff x="0" y="0"/>
            <a:chExt cx="22311360" cy="1524000"/>
          </a:xfrm>
        </p:grpSpPr>
        <p:sp>
          <p:nvSpPr>
            <p:cNvPr name="Freeform 8" id="8"/>
            <p:cNvSpPr/>
            <p:nvPr/>
          </p:nvSpPr>
          <p:spPr>
            <a:xfrm flipH="false" flipV="false" rot="0">
              <a:off x="0" y="0"/>
              <a:ext cx="22311361" cy="1524000"/>
            </a:xfrm>
            <a:custGeom>
              <a:avLst/>
              <a:gdLst/>
              <a:ahLst/>
              <a:cxnLst/>
              <a:rect r="r" b="b" t="t" l="l"/>
              <a:pathLst>
                <a:path h="1524000" w="22311361">
                  <a:moveTo>
                    <a:pt x="0" y="0"/>
                  </a:moveTo>
                  <a:lnTo>
                    <a:pt x="22311361" y="0"/>
                  </a:lnTo>
                  <a:lnTo>
                    <a:pt x="22311361" y="1524000"/>
                  </a:lnTo>
                  <a:lnTo>
                    <a:pt x="0" y="1524000"/>
                  </a:lnTo>
                  <a:close/>
                </a:path>
              </a:pathLst>
            </a:custGeom>
            <a:solidFill>
              <a:srgbClr val="2628ED"/>
            </a:solidFill>
          </p:spPr>
        </p:sp>
        <p:sp>
          <p:nvSpPr>
            <p:cNvPr name="TextBox 9" id="9"/>
            <p:cNvSpPr txBox="true"/>
            <p:nvPr/>
          </p:nvSpPr>
          <p:spPr>
            <a:xfrm>
              <a:off x="0" y="0"/>
              <a:ext cx="22311360" cy="1524000"/>
            </a:xfrm>
            <a:prstGeom prst="rect">
              <a:avLst/>
            </a:prstGeom>
          </p:spPr>
          <p:txBody>
            <a:bodyPr anchor="ctr" rtlCol="false" tIns="50800" lIns="50800" bIns="50800" rIns="50800"/>
            <a:lstStyle/>
            <a:p>
              <a:pPr algn="ctr">
                <a:lnSpc>
                  <a:spcPts val="4799"/>
                </a:lnSpc>
              </a:pPr>
              <a:r>
                <a:rPr lang="en-US" sz="3999" b="true">
                  <a:solidFill>
                    <a:srgbClr val="FFFFFF"/>
                  </a:solidFill>
                  <a:latin typeface="Helvetica World Bold"/>
                  <a:ea typeface="Helvetica World Bold"/>
                  <a:cs typeface="Helvetica World Bold"/>
                  <a:sym typeface="Helvetica World Bold"/>
                </a:rPr>
                <a:t>F = α · Pbloc + β · Plits + γ · Pambu</a:t>
              </a:r>
            </a:p>
          </p:txBody>
        </p:sp>
      </p:grpSp>
      <p:grpSp>
        <p:nvGrpSpPr>
          <p:cNvPr name="Group 10" id="10"/>
          <p:cNvGrpSpPr/>
          <p:nvPr/>
        </p:nvGrpSpPr>
        <p:grpSpPr>
          <a:xfrm rot="0">
            <a:off x="453390" y="9699939"/>
            <a:ext cx="2230494" cy="396881"/>
            <a:chOff x="0" y="0"/>
            <a:chExt cx="2973991" cy="529175"/>
          </a:xfrm>
        </p:grpSpPr>
        <p:sp>
          <p:nvSpPr>
            <p:cNvPr name="Freeform 11" id="11"/>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6" id="16"/>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grpSp>
        <p:nvGrpSpPr>
          <p:cNvPr name="Group 17" id="17"/>
          <p:cNvGrpSpPr/>
          <p:nvPr/>
        </p:nvGrpSpPr>
        <p:grpSpPr>
          <a:xfrm rot="0">
            <a:off x="9243060" y="7171667"/>
            <a:ext cx="8267700" cy="2471122"/>
            <a:chOff x="0" y="0"/>
            <a:chExt cx="11023600" cy="3294830"/>
          </a:xfrm>
        </p:grpSpPr>
        <p:grpSp>
          <p:nvGrpSpPr>
            <p:cNvPr name="Group 18" id="18"/>
            <p:cNvGrpSpPr/>
            <p:nvPr/>
          </p:nvGrpSpPr>
          <p:grpSpPr>
            <a:xfrm rot="0">
              <a:off x="0" y="0"/>
              <a:ext cx="11023600" cy="3294830"/>
              <a:chOff x="0" y="0"/>
              <a:chExt cx="11023600" cy="3294830"/>
            </a:xfrm>
          </p:grpSpPr>
          <p:sp>
            <p:nvSpPr>
              <p:cNvPr name="Freeform 19" id="19"/>
              <p:cNvSpPr/>
              <p:nvPr/>
            </p:nvSpPr>
            <p:spPr>
              <a:xfrm flipH="false" flipV="false" rot="0">
                <a:off x="0" y="0"/>
                <a:ext cx="11023600" cy="3294855"/>
              </a:xfrm>
              <a:custGeom>
                <a:avLst/>
                <a:gdLst/>
                <a:ahLst/>
                <a:cxnLst/>
                <a:rect r="r" b="b" t="t" l="l"/>
                <a:pathLst>
                  <a:path h="3294855" w="11023600">
                    <a:moveTo>
                      <a:pt x="0" y="0"/>
                    </a:moveTo>
                    <a:lnTo>
                      <a:pt x="11023600" y="0"/>
                    </a:lnTo>
                    <a:lnTo>
                      <a:pt x="11023600" y="3294855"/>
                    </a:lnTo>
                    <a:lnTo>
                      <a:pt x="0" y="3294855"/>
                    </a:lnTo>
                    <a:close/>
                  </a:path>
                </a:pathLst>
              </a:custGeom>
              <a:solidFill>
                <a:srgbClr val="F2F8F6"/>
              </a:solidFill>
            </p:spPr>
          </p:sp>
        </p:grpSp>
        <p:sp>
          <p:nvSpPr>
            <p:cNvPr name="TextBox 20" id="20"/>
            <p:cNvSpPr txBox="true"/>
            <p:nvPr/>
          </p:nvSpPr>
          <p:spPr>
            <a:xfrm rot="0">
              <a:off x="411049" y="170688"/>
              <a:ext cx="10276237" cy="706934"/>
            </a:xfrm>
            <a:prstGeom prst="rect">
              <a:avLst/>
            </a:prstGeom>
          </p:spPr>
          <p:txBody>
            <a:bodyPr anchor="t" rtlCol="false" tIns="0" lIns="0" bIns="0" rIns="0">
              <a:spAutoFit/>
            </a:bodyPr>
            <a:lstStyle/>
            <a:p>
              <a:pPr algn="l">
                <a:lnSpc>
                  <a:spcPts val="3838"/>
                </a:lnSpc>
              </a:pPr>
              <a:r>
                <a:rPr lang="en-US" sz="3198" b="true">
                  <a:solidFill>
                    <a:srgbClr val="2628ED"/>
                  </a:solidFill>
                  <a:latin typeface="Helvetica World Bold"/>
                  <a:ea typeface="Helvetica World Bold"/>
                  <a:cs typeface="Helvetica World Bold"/>
                  <a:sym typeface="Helvetica World Bold"/>
                </a:rPr>
                <a:t>Pbloc · le bloc</a:t>
              </a:r>
            </a:p>
          </p:txBody>
        </p:sp>
        <p:sp>
          <p:nvSpPr>
            <p:cNvPr name="TextBox 21" id="21"/>
            <p:cNvSpPr txBox="true"/>
            <p:nvPr/>
          </p:nvSpPr>
          <p:spPr>
            <a:xfrm rot="0">
              <a:off x="411049" y="1165695"/>
              <a:ext cx="10276237" cy="1676372"/>
            </a:xfrm>
            <a:prstGeom prst="rect">
              <a:avLst/>
            </a:prstGeom>
          </p:spPr>
          <p:txBody>
            <a:bodyPr anchor="t" rtlCol="false" tIns="0" lIns="0" bIns="0" rIns="0">
              <a:spAutoFit/>
            </a:bodyPr>
            <a:lstStyle/>
            <a:p>
              <a:pPr algn="l">
                <a:lnSpc>
                  <a:spcPts val="3358"/>
                </a:lnSpc>
              </a:pPr>
              <a:r>
                <a:rPr lang="en-US" sz="2799">
                  <a:solidFill>
                    <a:srgbClr val="171C2A"/>
                  </a:solidFill>
                  <a:latin typeface="Helvetica World"/>
                  <a:ea typeface="Helvetica World"/>
                  <a:cs typeface="Helvetica World"/>
                  <a:sym typeface="Helvetica World"/>
                </a:rPr>
                <a:t>Patients non programmés, dépassement des vacations, salle inoccupée ; reports pondérés par la priorité.</a:t>
              </a:r>
            </a:p>
          </p:txBody>
        </p:sp>
      </p:grpSp>
      <p:grpSp>
        <p:nvGrpSpPr>
          <p:cNvPr name="Group 22" id="22"/>
          <p:cNvGrpSpPr/>
          <p:nvPr/>
        </p:nvGrpSpPr>
        <p:grpSpPr>
          <a:xfrm rot="0">
            <a:off x="9243060" y="5131880"/>
            <a:ext cx="8267700" cy="1994258"/>
            <a:chOff x="0" y="0"/>
            <a:chExt cx="11023600" cy="2659011"/>
          </a:xfrm>
        </p:grpSpPr>
        <p:grpSp>
          <p:nvGrpSpPr>
            <p:cNvPr name="Group 23" id="23"/>
            <p:cNvGrpSpPr/>
            <p:nvPr/>
          </p:nvGrpSpPr>
          <p:grpSpPr>
            <a:xfrm rot="0">
              <a:off x="0" y="0"/>
              <a:ext cx="11023600" cy="2659011"/>
              <a:chOff x="0" y="0"/>
              <a:chExt cx="11023600" cy="2659011"/>
            </a:xfrm>
          </p:grpSpPr>
          <p:sp>
            <p:nvSpPr>
              <p:cNvPr name="Freeform 24" id="24"/>
              <p:cNvSpPr/>
              <p:nvPr/>
            </p:nvSpPr>
            <p:spPr>
              <a:xfrm flipH="false" flipV="false" rot="0">
                <a:off x="0" y="0"/>
                <a:ext cx="11023600" cy="2659037"/>
              </a:xfrm>
              <a:custGeom>
                <a:avLst/>
                <a:gdLst/>
                <a:ahLst/>
                <a:cxnLst/>
                <a:rect r="r" b="b" t="t" l="l"/>
                <a:pathLst>
                  <a:path h="2659037" w="11023600">
                    <a:moveTo>
                      <a:pt x="0" y="0"/>
                    </a:moveTo>
                    <a:lnTo>
                      <a:pt x="11023600" y="0"/>
                    </a:lnTo>
                    <a:lnTo>
                      <a:pt x="11023600" y="2659037"/>
                    </a:lnTo>
                    <a:lnTo>
                      <a:pt x="0" y="2659037"/>
                    </a:lnTo>
                    <a:close/>
                  </a:path>
                </a:pathLst>
              </a:custGeom>
              <a:solidFill>
                <a:srgbClr val="F2F8F6"/>
              </a:solidFill>
            </p:spPr>
          </p:sp>
        </p:grpSp>
        <p:sp>
          <p:nvSpPr>
            <p:cNvPr name="TextBox 25" id="25"/>
            <p:cNvSpPr txBox="true"/>
            <p:nvPr/>
          </p:nvSpPr>
          <p:spPr>
            <a:xfrm rot="0">
              <a:off x="411049" y="170688"/>
              <a:ext cx="10276237" cy="706934"/>
            </a:xfrm>
            <a:prstGeom prst="rect">
              <a:avLst/>
            </a:prstGeom>
          </p:spPr>
          <p:txBody>
            <a:bodyPr anchor="t" rtlCol="false" tIns="0" lIns="0" bIns="0" rIns="0">
              <a:spAutoFit/>
            </a:bodyPr>
            <a:lstStyle/>
            <a:p>
              <a:pPr algn="l">
                <a:lnSpc>
                  <a:spcPts val="3838"/>
                </a:lnSpc>
              </a:pPr>
              <a:r>
                <a:rPr lang="en-US" sz="3198" b="true">
                  <a:solidFill>
                    <a:srgbClr val="2628ED"/>
                  </a:solidFill>
                  <a:latin typeface="Helvetica World Bold"/>
                  <a:ea typeface="Helvetica World Bold"/>
                  <a:cs typeface="Helvetica World Bold"/>
                  <a:sym typeface="Helvetica World Bold"/>
                </a:rPr>
                <a:t>Plits · l'hospitalisation</a:t>
              </a:r>
            </a:p>
          </p:txBody>
        </p:sp>
        <p:sp>
          <p:nvSpPr>
            <p:cNvPr name="TextBox 26" id="26"/>
            <p:cNvSpPr txBox="true"/>
            <p:nvPr/>
          </p:nvSpPr>
          <p:spPr>
            <a:xfrm rot="0">
              <a:off x="411049" y="1165695"/>
              <a:ext cx="10276237" cy="1117572"/>
            </a:xfrm>
            <a:prstGeom prst="rect">
              <a:avLst/>
            </a:prstGeom>
          </p:spPr>
          <p:txBody>
            <a:bodyPr anchor="t" rtlCol="false" tIns="0" lIns="0" bIns="0" rIns="0">
              <a:spAutoFit/>
            </a:bodyPr>
            <a:lstStyle/>
            <a:p>
              <a:pPr algn="l">
                <a:lnSpc>
                  <a:spcPts val="3358"/>
                </a:lnSpc>
              </a:pPr>
              <a:r>
                <a:rPr lang="en-US" sz="2799">
                  <a:solidFill>
                    <a:srgbClr val="171C2A"/>
                  </a:solidFill>
                  <a:latin typeface="Helvetica World"/>
                  <a:ea typeface="Helvetica World"/>
                  <a:cs typeface="Helvetica World"/>
                  <a:sym typeface="Helvetica World"/>
                </a:rPr>
                <a:t>Lits au-delà de la capacité, nuit par nuit ; occupation irrégulière.</a:t>
              </a:r>
            </a:p>
          </p:txBody>
        </p:sp>
      </p:grpSp>
      <p:grpSp>
        <p:nvGrpSpPr>
          <p:cNvPr name="Group 27" id="27"/>
          <p:cNvGrpSpPr/>
          <p:nvPr/>
        </p:nvGrpSpPr>
        <p:grpSpPr>
          <a:xfrm rot="0">
            <a:off x="9243060" y="3112770"/>
            <a:ext cx="8267700" cy="1973580"/>
            <a:chOff x="0" y="0"/>
            <a:chExt cx="11023600" cy="2631440"/>
          </a:xfrm>
        </p:grpSpPr>
        <p:grpSp>
          <p:nvGrpSpPr>
            <p:cNvPr name="Group 28" id="28"/>
            <p:cNvGrpSpPr/>
            <p:nvPr/>
          </p:nvGrpSpPr>
          <p:grpSpPr>
            <a:xfrm rot="0">
              <a:off x="0" y="0"/>
              <a:ext cx="11023600" cy="2631440"/>
              <a:chOff x="0" y="0"/>
              <a:chExt cx="11023600" cy="2631440"/>
            </a:xfrm>
          </p:grpSpPr>
          <p:sp>
            <p:nvSpPr>
              <p:cNvPr name="Freeform 29" id="29"/>
              <p:cNvSpPr/>
              <p:nvPr/>
            </p:nvSpPr>
            <p:spPr>
              <a:xfrm flipH="false" flipV="false" rot="0">
                <a:off x="0" y="0"/>
                <a:ext cx="11023600" cy="2631466"/>
              </a:xfrm>
              <a:custGeom>
                <a:avLst/>
                <a:gdLst/>
                <a:ahLst/>
                <a:cxnLst/>
                <a:rect r="r" b="b" t="t" l="l"/>
                <a:pathLst>
                  <a:path h="2631466" w="11023600">
                    <a:moveTo>
                      <a:pt x="0" y="0"/>
                    </a:moveTo>
                    <a:lnTo>
                      <a:pt x="11023600" y="0"/>
                    </a:lnTo>
                    <a:lnTo>
                      <a:pt x="11023600" y="2631466"/>
                    </a:lnTo>
                    <a:lnTo>
                      <a:pt x="0" y="2631466"/>
                    </a:lnTo>
                    <a:close/>
                  </a:path>
                </a:pathLst>
              </a:custGeom>
              <a:solidFill>
                <a:srgbClr val="F2F8F6"/>
              </a:solidFill>
            </p:spPr>
          </p:sp>
        </p:grpSp>
        <p:sp>
          <p:nvSpPr>
            <p:cNvPr name="TextBox 30" id="30"/>
            <p:cNvSpPr txBox="true"/>
            <p:nvPr/>
          </p:nvSpPr>
          <p:spPr>
            <a:xfrm rot="0">
              <a:off x="411049" y="170688"/>
              <a:ext cx="10276237" cy="706934"/>
            </a:xfrm>
            <a:prstGeom prst="rect">
              <a:avLst/>
            </a:prstGeom>
          </p:spPr>
          <p:txBody>
            <a:bodyPr anchor="t" rtlCol="false" tIns="0" lIns="0" bIns="0" rIns="0">
              <a:spAutoFit/>
            </a:bodyPr>
            <a:lstStyle/>
            <a:p>
              <a:pPr algn="l">
                <a:lnSpc>
                  <a:spcPts val="3838"/>
                </a:lnSpc>
              </a:pPr>
              <a:r>
                <a:rPr lang="en-US" sz="3198" b="true">
                  <a:solidFill>
                    <a:srgbClr val="2628ED"/>
                  </a:solidFill>
                  <a:latin typeface="Helvetica World Bold"/>
                  <a:ea typeface="Helvetica World Bold"/>
                  <a:cs typeface="Helvetica World Bold"/>
                  <a:sym typeface="Helvetica World Bold"/>
                </a:rPr>
                <a:t>Pambu · l'ambulatoire</a:t>
              </a:r>
            </a:p>
          </p:txBody>
        </p:sp>
        <p:sp>
          <p:nvSpPr>
            <p:cNvPr name="TextBox 31" id="31"/>
            <p:cNvSpPr txBox="true"/>
            <p:nvPr/>
          </p:nvSpPr>
          <p:spPr>
            <a:xfrm rot="0">
              <a:off x="411049" y="1165695"/>
              <a:ext cx="10276237" cy="1117572"/>
            </a:xfrm>
            <a:prstGeom prst="rect">
              <a:avLst/>
            </a:prstGeom>
          </p:spPr>
          <p:txBody>
            <a:bodyPr anchor="t" rtlCol="false" tIns="0" lIns="0" bIns="0" rIns="0">
              <a:spAutoFit/>
            </a:bodyPr>
            <a:lstStyle/>
            <a:p>
              <a:pPr algn="l">
                <a:lnSpc>
                  <a:spcPts val="3358"/>
                </a:lnSpc>
              </a:pPr>
              <a:r>
                <a:rPr lang="en-US" sz="2799">
                  <a:solidFill>
                    <a:srgbClr val="171C2A"/>
                  </a:solidFill>
                  <a:latin typeface="Helvetica World"/>
                  <a:ea typeface="Helvetica World"/>
                  <a:cs typeface="Helvetica World"/>
                  <a:sym typeface="Helvetica World"/>
                </a:rPr>
                <a:t>Places au-delà de la capacité, par demi-journée ; occupation irrégulière.</a:t>
              </a:r>
            </a:p>
          </p:txBody>
        </p:sp>
      </p:grpSp>
      <p:sp>
        <p:nvSpPr>
          <p:cNvPr name="Freeform 32" id="32"/>
          <p:cNvSpPr/>
          <p:nvPr/>
        </p:nvSpPr>
        <p:spPr>
          <a:xfrm flipH="false" flipV="false" rot="0">
            <a:off x="573405" y="3876721"/>
            <a:ext cx="8669655" cy="4474315"/>
          </a:xfrm>
          <a:custGeom>
            <a:avLst/>
            <a:gdLst/>
            <a:ahLst/>
            <a:cxnLst/>
            <a:rect r="r" b="b" t="t" l="l"/>
            <a:pathLst>
              <a:path h="4474315" w="8669655">
                <a:moveTo>
                  <a:pt x="0" y="0"/>
                </a:moveTo>
                <a:lnTo>
                  <a:pt x="8669655" y="0"/>
                </a:lnTo>
                <a:lnTo>
                  <a:pt x="8669655" y="4474315"/>
                </a:lnTo>
                <a:lnTo>
                  <a:pt x="0" y="4474315"/>
                </a:lnTo>
                <a:lnTo>
                  <a:pt x="0" y="0"/>
                </a:lnTo>
                <a:close/>
              </a:path>
            </a:pathLst>
          </a:custGeom>
          <a:blipFill>
            <a:blip r:embed="rId10"/>
            <a:stretch>
              <a:fillRect l="0" t="0" r="0" b="0"/>
            </a:stretch>
          </a:blipFill>
        </p:spPr>
      </p:sp>
      <p:sp>
        <p:nvSpPr>
          <p:cNvPr name="TextBox 33" id="33"/>
          <p:cNvSpPr txBox="true"/>
          <p:nvPr/>
        </p:nvSpPr>
        <p:spPr>
          <a:xfrm rot="0">
            <a:off x="1004054" y="8351036"/>
            <a:ext cx="7808357" cy="1009650"/>
          </a:xfrm>
          <a:prstGeom prst="rect">
            <a:avLst/>
          </a:prstGeom>
        </p:spPr>
        <p:txBody>
          <a:bodyPr anchor="t" rtlCol="false" tIns="0" lIns="0" bIns="0" rIns="0">
            <a:spAutoFit/>
          </a:bodyPr>
          <a:lstStyle/>
          <a:p>
            <a:pPr algn="ctr">
              <a:lnSpc>
                <a:spcPts val="4002"/>
              </a:lnSpc>
            </a:pPr>
            <a:r>
              <a:rPr lang="en-US" sz="3335">
                <a:solidFill>
                  <a:srgbClr val="171C2A"/>
                </a:solidFill>
                <a:latin typeface="Helvetica World"/>
                <a:ea typeface="Helvetica World"/>
                <a:cs typeface="Helvetica World"/>
                <a:sym typeface="Helvetica World"/>
              </a:rPr>
              <a:t>(voir ANNEXE A pour </a:t>
            </a:r>
          </a:p>
          <a:p>
            <a:pPr algn="ctr">
              <a:lnSpc>
                <a:spcPts val="4002"/>
              </a:lnSpc>
            </a:pPr>
            <a:r>
              <a:rPr lang="en-US" sz="3335">
                <a:solidFill>
                  <a:srgbClr val="171C2A"/>
                </a:solidFill>
                <a:latin typeface="Helvetica World"/>
                <a:ea typeface="Helvetica World"/>
                <a:cs typeface="Helvetica World"/>
                <a:sym typeface="Helvetica World"/>
              </a:rPr>
              <a:t>l’explicitation des coefficients)</a:t>
            </a:r>
          </a:p>
        </p:txBody>
      </p:sp>
      <p:sp>
        <p:nvSpPr>
          <p:cNvPr name="TextBox 34" id="3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PLANIFIER : LA FONCTION OBJECTIF </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777240" y="1645920"/>
            <a:ext cx="16733520" cy="1143000"/>
            <a:chOff x="0" y="0"/>
            <a:chExt cx="22311360" cy="1524000"/>
          </a:xfrm>
        </p:grpSpPr>
        <p:sp>
          <p:nvSpPr>
            <p:cNvPr name="Freeform 8" id="8"/>
            <p:cNvSpPr/>
            <p:nvPr/>
          </p:nvSpPr>
          <p:spPr>
            <a:xfrm flipH="false" flipV="false" rot="0">
              <a:off x="0" y="0"/>
              <a:ext cx="22311361" cy="1524000"/>
            </a:xfrm>
            <a:custGeom>
              <a:avLst/>
              <a:gdLst/>
              <a:ahLst/>
              <a:cxnLst/>
              <a:rect r="r" b="b" t="t" l="l"/>
              <a:pathLst>
                <a:path h="1524000" w="22311361">
                  <a:moveTo>
                    <a:pt x="0" y="0"/>
                  </a:moveTo>
                  <a:lnTo>
                    <a:pt x="22311361" y="0"/>
                  </a:lnTo>
                  <a:lnTo>
                    <a:pt x="22311361" y="1524000"/>
                  </a:lnTo>
                  <a:lnTo>
                    <a:pt x="0" y="1524000"/>
                  </a:lnTo>
                  <a:close/>
                </a:path>
              </a:pathLst>
            </a:custGeom>
            <a:solidFill>
              <a:srgbClr val="2628ED"/>
            </a:solidFill>
          </p:spPr>
        </p:sp>
        <p:sp>
          <p:nvSpPr>
            <p:cNvPr name="TextBox 9" id="9"/>
            <p:cNvSpPr txBox="true"/>
            <p:nvPr/>
          </p:nvSpPr>
          <p:spPr>
            <a:xfrm>
              <a:off x="0" y="0"/>
              <a:ext cx="22311360" cy="1524000"/>
            </a:xfrm>
            <a:prstGeom prst="rect">
              <a:avLst/>
            </a:prstGeom>
          </p:spPr>
          <p:txBody>
            <a:bodyPr anchor="ctr" rtlCol="false" tIns="50800" lIns="50800" bIns="50800" rIns="50800"/>
            <a:lstStyle/>
            <a:p>
              <a:pPr algn="ctr">
                <a:lnSpc>
                  <a:spcPts val="4799"/>
                </a:lnSpc>
              </a:pPr>
              <a:r>
                <a:rPr lang="en-US" sz="3999" b="true">
                  <a:solidFill>
                    <a:srgbClr val="FFFFFF"/>
                  </a:solidFill>
                  <a:latin typeface="Helvetica World Bold"/>
                  <a:ea typeface="Helvetica World Bold"/>
                  <a:cs typeface="Helvetica World Bold"/>
                  <a:sym typeface="Helvetica World Bold"/>
                </a:rPr>
                <a:t>F = α · Pbloc + β · Plits + γ · Pambu</a:t>
              </a:r>
            </a:p>
          </p:txBody>
        </p:sp>
      </p:grpSp>
      <p:grpSp>
        <p:nvGrpSpPr>
          <p:cNvPr name="Group 10" id="10"/>
          <p:cNvGrpSpPr/>
          <p:nvPr/>
        </p:nvGrpSpPr>
        <p:grpSpPr>
          <a:xfrm rot="0">
            <a:off x="453390" y="9699939"/>
            <a:ext cx="2230494" cy="396881"/>
            <a:chOff x="0" y="0"/>
            <a:chExt cx="2973991" cy="529175"/>
          </a:xfrm>
        </p:grpSpPr>
        <p:sp>
          <p:nvSpPr>
            <p:cNvPr name="Freeform 11" id="11"/>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6" id="16"/>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Freeform 17" id="17"/>
          <p:cNvSpPr/>
          <p:nvPr/>
        </p:nvSpPr>
        <p:spPr>
          <a:xfrm flipH="false" flipV="false" rot="0">
            <a:off x="573405" y="3876721"/>
            <a:ext cx="8669655" cy="4474315"/>
          </a:xfrm>
          <a:custGeom>
            <a:avLst/>
            <a:gdLst/>
            <a:ahLst/>
            <a:cxnLst/>
            <a:rect r="r" b="b" t="t" l="l"/>
            <a:pathLst>
              <a:path h="4474315" w="8669655">
                <a:moveTo>
                  <a:pt x="0" y="0"/>
                </a:moveTo>
                <a:lnTo>
                  <a:pt x="8669655" y="0"/>
                </a:lnTo>
                <a:lnTo>
                  <a:pt x="8669655" y="4474315"/>
                </a:lnTo>
                <a:lnTo>
                  <a:pt x="0" y="4474315"/>
                </a:lnTo>
                <a:lnTo>
                  <a:pt x="0" y="0"/>
                </a:lnTo>
                <a:close/>
              </a:path>
            </a:pathLst>
          </a:custGeom>
          <a:blipFill>
            <a:blip r:embed="rId10"/>
            <a:stretch>
              <a:fillRect l="0" t="0" r="0" b="0"/>
            </a:stretch>
          </a:blipFill>
        </p:spPr>
      </p:sp>
      <p:sp>
        <p:nvSpPr>
          <p:cNvPr name="TextBox 18" id="18"/>
          <p:cNvSpPr txBox="true"/>
          <p:nvPr/>
        </p:nvSpPr>
        <p:spPr>
          <a:xfrm rot="0">
            <a:off x="9450943" y="3961701"/>
            <a:ext cx="7808357" cy="2460625"/>
          </a:xfrm>
          <a:prstGeom prst="rect">
            <a:avLst/>
          </a:prstGeom>
        </p:spPr>
        <p:txBody>
          <a:bodyPr anchor="t" rtlCol="false" tIns="0" lIns="0" bIns="0" rIns="0">
            <a:spAutoFit/>
          </a:bodyPr>
          <a:lstStyle/>
          <a:p>
            <a:pPr algn="l">
              <a:lnSpc>
                <a:spcPts val="4002"/>
              </a:lnSpc>
            </a:pPr>
            <a:r>
              <a:rPr lang="en-US" sz="3335" b="true">
                <a:solidFill>
                  <a:srgbClr val="171C2A"/>
                </a:solidFill>
                <a:latin typeface="Helvetica World Bold"/>
                <a:ea typeface="Helvetica World Bold"/>
                <a:cs typeface="Helvetica World Bold"/>
                <a:sym typeface="Helvetica World Bold"/>
              </a:rPr>
              <a:t>α_2, β_2, γ_2 : réglés par des tests</a:t>
            </a:r>
          </a:p>
          <a:p>
            <a:pPr algn="l">
              <a:lnSpc>
                <a:spcPts val="3762"/>
              </a:lnSpc>
            </a:pPr>
            <a:r>
              <a:rPr lang="en-US" sz="3135">
                <a:solidFill>
                  <a:srgbClr val="171C2A"/>
                </a:solidFill>
                <a:latin typeface="Helvetica World"/>
                <a:ea typeface="Helvetica World"/>
                <a:cs typeface="Helvetica World"/>
                <a:sym typeface="Helvetica World"/>
              </a:rPr>
              <a:t>Chaque combinaison de poids est jugée sur des indicateurs bruts du programme obtenu (patients placés, débordements, lissage) ; on retient la meilleure après les tests.</a:t>
            </a:r>
          </a:p>
        </p:txBody>
      </p:sp>
      <p:sp>
        <p:nvSpPr>
          <p:cNvPr name="TextBox 19" id="19"/>
          <p:cNvSpPr txBox="true"/>
          <p:nvPr/>
        </p:nvSpPr>
        <p:spPr>
          <a:xfrm rot="0">
            <a:off x="9450943" y="6508051"/>
            <a:ext cx="7307417" cy="1979295"/>
          </a:xfrm>
          <a:prstGeom prst="rect">
            <a:avLst/>
          </a:prstGeom>
        </p:spPr>
        <p:txBody>
          <a:bodyPr anchor="t" rtlCol="false" tIns="0" lIns="0" bIns="0" rIns="0">
            <a:spAutoFit/>
          </a:bodyPr>
          <a:lstStyle/>
          <a:p>
            <a:pPr algn="just">
              <a:lnSpc>
                <a:spcPts val="4013"/>
              </a:lnSpc>
            </a:pPr>
            <a:r>
              <a:rPr lang="en-US" sz="3344" b="true">
                <a:solidFill>
                  <a:srgbClr val="171C2A"/>
                </a:solidFill>
                <a:latin typeface="Helvetica World Bold"/>
                <a:ea typeface="Helvetica World Bold"/>
                <a:cs typeface="Helvetica World Bold"/>
                <a:sym typeface="Helvetica World Bold"/>
              </a:rPr>
              <a:t>Ce que montrent les tests</a:t>
            </a:r>
          </a:p>
          <a:p>
            <a:pPr algn="just">
              <a:lnSpc>
                <a:spcPts val="3773"/>
              </a:lnSpc>
            </a:pPr>
            <a:r>
              <a:rPr lang="en-US" sz="3144">
                <a:solidFill>
                  <a:srgbClr val="171C2A"/>
                </a:solidFill>
                <a:latin typeface="Helvetica World"/>
                <a:ea typeface="Helvetica World"/>
                <a:cs typeface="Helvetica World"/>
                <a:sym typeface="Helvetica World"/>
              </a:rPr>
              <a:t>α_2 = β_2 = γ_2 = 1 ; λ fixés (8 000, 100/min, 1/min, 5 000, 20)</a:t>
            </a:r>
          </a:p>
          <a:p>
            <a:pPr algn="just">
              <a:lnSpc>
                <a:spcPts val="3773"/>
              </a:lnSpc>
            </a:pPr>
            <a:r>
              <a:rPr lang="en-US" sz="3144">
                <a:solidFill>
                  <a:srgbClr val="171C2A"/>
                </a:solidFill>
                <a:latin typeface="Helvetica World"/>
                <a:ea typeface="Helvetica World"/>
                <a:cs typeface="Helvetica World"/>
                <a:sym typeface="Helvetica World"/>
              </a:rPr>
              <a:t>Score du départ réduit de 32 à 60 %</a:t>
            </a:r>
          </a:p>
        </p:txBody>
      </p:sp>
      <p:sp>
        <p:nvSpPr>
          <p:cNvPr name="TextBox 20" id="20"/>
          <p:cNvSpPr txBox="true"/>
          <p:nvPr/>
        </p:nvSpPr>
        <p:spPr>
          <a:xfrm rot="0">
            <a:off x="1004054" y="8351036"/>
            <a:ext cx="7808357" cy="1009650"/>
          </a:xfrm>
          <a:prstGeom prst="rect">
            <a:avLst/>
          </a:prstGeom>
        </p:spPr>
        <p:txBody>
          <a:bodyPr anchor="t" rtlCol="false" tIns="0" lIns="0" bIns="0" rIns="0">
            <a:spAutoFit/>
          </a:bodyPr>
          <a:lstStyle/>
          <a:p>
            <a:pPr algn="ctr">
              <a:lnSpc>
                <a:spcPts val="4002"/>
              </a:lnSpc>
            </a:pPr>
            <a:r>
              <a:rPr lang="en-US" sz="3335">
                <a:solidFill>
                  <a:srgbClr val="171C2A"/>
                </a:solidFill>
                <a:latin typeface="Helvetica World"/>
                <a:ea typeface="Helvetica World"/>
                <a:cs typeface="Helvetica World"/>
                <a:sym typeface="Helvetica World"/>
              </a:rPr>
              <a:t>(voir ANNEXE A pour </a:t>
            </a:r>
          </a:p>
          <a:p>
            <a:pPr algn="ctr">
              <a:lnSpc>
                <a:spcPts val="4002"/>
              </a:lnSpc>
            </a:pPr>
            <a:r>
              <a:rPr lang="en-US" sz="3335">
                <a:solidFill>
                  <a:srgbClr val="171C2A"/>
                </a:solidFill>
                <a:latin typeface="Helvetica World"/>
                <a:ea typeface="Helvetica World"/>
                <a:cs typeface="Helvetica World"/>
                <a:sym typeface="Helvetica World"/>
              </a:rPr>
              <a:t>l’explicitation des coefficients)</a:t>
            </a:r>
          </a:p>
        </p:txBody>
      </p:sp>
      <p:sp>
        <p:nvSpPr>
          <p:cNvPr name="TextBox 21" id="2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PLANIFIER : LES MÉTAHEURISTIQUES ET HYBRIDATION</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777240" y="2270566"/>
            <a:ext cx="5394960" cy="871188"/>
            <a:chOff x="0" y="0"/>
            <a:chExt cx="7193280" cy="1161584"/>
          </a:xfrm>
        </p:grpSpPr>
        <p:sp>
          <p:nvSpPr>
            <p:cNvPr name="Freeform 8" id="8"/>
            <p:cNvSpPr/>
            <p:nvPr/>
          </p:nvSpPr>
          <p:spPr>
            <a:xfrm flipH="false" flipV="false" rot="0">
              <a:off x="0" y="0"/>
              <a:ext cx="7193280" cy="1161584"/>
            </a:xfrm>
            <a:custGeom>
              <a:avLst/>
              <a:gdLst/>
              <a:ahLst/>
              <a:cxnLst/>
              <a:rect r="r" b="b" t="t" l="l"/>
              <a:pathLst>
                <a:path h="1161584" w="7193280">
                  <a:moveTo>
                    <a:pt x="0" y="0"/>
                  </a:moveTo>
                  <a:lnTo>
                    <a:pt x="7193280" y="0"/>
                  </a:lnTo>
                  <a:lnTo>
                    <a:pt x="7193280" y="1161584"/>
                  </a:lnTo>
                  <a:lnTo>
                    <a:pt x="0" y="1161584"/>
                  </a:lnTo>
                  <a:close/>
                </a:path>
              </a:pathLst>
            </a:custGeom>
            <a:solidFill>
              <a:srgbClr val="171C2A"/>
            </a:solidFill>
          </p:spPr>
        </p:sp>
        <p:sp>
          <p:nvSpPr>
            <p:cNvPr name="TextBox 9" id="9"/>
            <p:cNvSpPr txBox="true"/>
            <p:nvPr/>
          </p:nvSpPr>
          <p:spPr>
            <a:xfrm>
              <a:off x="0" y="9525"/>
              <a:ext cx="719328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Algorithme génétique</a:t>
              </a:r>
            </a:p>
          </p:txBody>
        </p:sp>
      </p:grpSp>
      <p:grpSp>
        <p:nvGrpSpPr>
          <p:cNvPr name="Group 10" id="10"/>
          <p:cNvGrpSpPr/>
          <p:nvPr/>
        </p:nvGrpSpPr>
        <p:grpSpPr>
          <a:xfrm rot="0">
            <a:off x="777240" y="3141754"/>
            <a:ext cx="5394960" cy="3008119"/>
            <a:chOff x="0" y="0"/>
            <a:chExt cx="7193280" cy="4010825"/>
          </a:xfrm>
        </p:grpSpPr>
        <p:sp>
          <p:nvSpPr>
            <p:cNvPr name="Freeform 11" id="11"/>
            <p:cNvSpPr/>
            <p:nvPr/>
          </p:nvSpPr>
          <p:spPr>
            <a:xfrm flipH="false" flipV="false" rot="0">
              <a:off x="0" y="0"/>
              <a:ext cx="7193280" cy="4010795"/>
            </a:xfrm>
            <a:custGeom>
              <a:avLst/>
              <a:gdLst/>
              <a:ahLst/>
              <a:cxnLst/>
              <a:rect r="r" b="b" t="t" l="l"/>
              <a:pathLst>
                <a:path h="4010795" w="7193280">
                  <a:moveTo>
                    <a:pt x="0" y="0"/>
                  </a:moveTo>
                  <a:lnTo>
                    <a:pt x="7193280" y="0"/>
                  </a:lnTo>
                  <a:lnTo>
                    <a:pt x="7193280" y="4010795"/>
                  </a:lnTo>
                  <a:lnTo>
                    <a:pt x="0" y="4010795"/>
                  </a:lnTo>
                  <a:close/>
                </a:path>
              </a:pathLst>
            </a:custGeom>
            <a:solidFill>
              <a:srgbClr val="F2F8F6"/>
            </a:solidFill>
          </p:spPr>
        </p:sp>
      </p:grpSp>
      <p:sp>
        <p:nvSpPr>
          <p:cNvPr name="TextBox 12" id="12"/>
          <p:cNvSpPr txBox="true"/>
          <p:nvPr/>
        </p:nvSpPr>
        <p:spPr>
          <a:xfrm rot="0">
            <a:off x="978408" y="3351786"/>
            <a:ext cx="4992624" cy="3583429"/>
          </a:xfrm>
          <a:prstGeom prst="rect">
            <a:avLst/>
          </a:prstGeom>
        </p:spPr>
        <p:txBody>
          <a:bodyPr anchor="t" rtlCol="false" tIns="0" lIns="0" bIns="0" rIns="0">
            <a:spAutoFit/>
          </a:bodyPr>
          <a:lstStyle/>
          <a:p>
            <a:pPr algn="l">
              <a:lnSpc>
                <a:spcPts val="3840"/>
              </a:lnSpc>
            </a:pPr>
            <a:r>
              <a:rPr lang="en-US" sz="3200" b="true">
                <a:solidFill>
                  <a:srgbClr val="2628ED"/>
                </a:solidFill>
                <a:latin typeface="Helvetica World Bold"/>
                <a:ea typeface="Helvetica World Bold"/>
                <a:cs typeface="Helvetica World Bold"/>
                <a:sym typeface="Helvetica World Bold"/>
              </a:rPr>
              <a:t>DIVERSIFIER</a:t>
            </a:r>
          </a:p>
          <a:p>
            <a:pPr algn="l">
              <a:lnSpc>
                <a:spcPts val="3840"/>
              </a:lnSpc>
            </a:pPr>
            <a:r>
              <a:rPr lang="en-US" sz="3200">
                <a:solidFill>
                  <a:srgbClr val="171C2A"/>
                </a:solidFill>
                <a:latin typeface="Helvetica World"/>
                <a:ea typeface="Helvetica World"/>
                <a:cs typeface="Helvetica World"/>
                <a:sym typeface="Helvetica World"/>
              </a:rPr>
              <a:t>Une population de programmes se croise et mute : explore des régions éloignées.</a:t>
            </a:r>
          </a:p>
        </p:txBody>
      </p:sp>
      <p:grpSp>
        <p:nvGrpSpPr>
          <p:cNvPr name="Group 13" id="13"/>
          <p:cNvGrpSpPr/>
          <p:nvPr/>
        </p:nvGrpSpPr>
        <p:grpSpPr>
          <a:xfrm rot="0">
            <a:off x="6446520" y="2270566"/>
            <a:ext cx="5394960" cy="871188"/>
            <a:chOff x="0" y="0"/>
            <a:chExt cx="7193280" cy="1161584"/>
          </a:xfrm>
        </p:grpSpPr>
        <p:sp>
          <p:nvSpPr>
            <p:cNvPr name="Freeform 14" id="14"/>
            <p:cNvSpPr/>
            <p:nvPr/>
          </p:nvSpPr>
          <p:spPr>
            <a:xfrm flipH="false" flipV="false" rot="0">
              <a:off x="0" y="0"/>
              <a:ext cx="7193280" cy="1161584"/>
            </a:xfrm>
            <a:custGeom>
              <a:avLst/>
              <a:gdLst/>
              <a:ahLst/>
              <a:cxnLst/>
              <a:rect r="r" b="b" t="t" l="l"/>
              <a:pathLst>
                <a:path h="1161584" w="7193280">
                  <a:moveTo>
                    <a:pt x="0" y="0"/>
                  </a:moveTo>
                  <a:lnTo>
                    <a:pt x="7193280" y="0"/>
                  </a:lnTo>
                  <a:lnTo>
                    <a:pt x="7193280" y="1161584"/>
                  </a:lnTo>
                  <a:lnTo>
                    <a:pt x="0" y="1161584"/>
                  </a:lnTo>
                  <a:close/>
                </a:path>
              </a:pathLst>
            </a:custGeom>
            <a:solidFill>
              <a:srgbClr val="171C2A"/>
            </a:solidFill>
          </p:spPr>
        </p:sp>
        <p:sp>
          <p:nvSpPr>
            <p:cNvPr name="TextBox 15" id="15"/>
            <p:cNvSpPr txBox="true"/>
            <p:nvPr/>
          </p:nvSpPr>
          <p:spPr>
            <a:xfrm>
              <a:off x="0" y="9525"/>
              <a:ext cx="719328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Recuit simulé</a:t>
              </a:r>
            </a:p>
          </p:txBody>
        </p:sp>
      </p:grpSp>
      <p:grpSp>
        <p:nvGrpSpPr>
          <p:cNvPr name="Group 16" id="16"/>
          <p:cNvGrpSpPr/>
          <p:nvPr/>
        </p:nvGrpSpPr>
        <p:grpSpPr>
          <a:xfrm rot="0">
            <a:off x="6446520" y="3141754"/>
            <a:ext cx="5394960" cy="3008119"/>
            <a:chOff x="0" y="0"/>
            <a:chExt cx="7193280" cy="4010825"/>
          </a:xfrm>
        </p:grpSpPr>
        <p:sp>
          <p:nvSpPr>
            <p:cNvPr name="Freeform 17" id="17"/>
            <p:cNvSpPr/>
            <p:nvPr/>
          </p:nvSpPr>
          <p:spPr>
            <a:xfrm flipH="false" flipV="false" rot="0">
              <a:off x="0" y="0"/>
              <a:ext cx="7193280" cy="4010795"/>
            </a:xfrm>
            <a:custGeom>
              <a:avLst/>
              <a:gdLst/>
              <a:ahLst/>
              <a:cxnLst/>
              <a:rect r="r" b="b" t="t" l="l"/>
              <a:pathLst>
                <a:path h="4010795" w="7193280">
                  <a:moveTo>
                    <a:pt x="0" y="0"/>
                  </a:moveTo>
                  <a:lnTo>
                    <a:pt x="7193280" y="0"/>
                  </a:lnTo>
                  <a:lnTo>
                    <a:pt x="7193280" y="4010795"/>
                  </a:lnTo>
                  <a:lnTo>
                    <a:pt x="0" y="4010795"/>
                  </a:lnTo>
                  <a:close/>
                </a:path>
              </a:pathLst>
            </a:custGeom>
            <a:solidFill>
              <a:srgbClr val="F2F8F6"/>
            </a:solidFill>
          </p:spPr>
        </p:sp>
      </p:grpSp>
      <p:sp>
        <p:nvSpPr>
          <p:cNvPr name="TextBox 18" id="18"/>
          <p:cNvSpPr txBox="true"/>
          <p:nvPr/>
        </p:nvSpPr>
        <p:spPr>
          <a:xfrm rot="0">
            <a:off x="6647688" y="3351786"/>
            <a:ext cx="4992624" cy="3583429"/>
          </a:xfrm>
          <a:prstGeom prst="rect">
            <a:avLst/>
          </a:prstGeom>
        </p:spPr>
        <p:txBody>
          <a:bodyPr anchor="t" rtlCol="false" tIns="0" lIns="0" bIns="0" rIns="0">
            <a:spAutoFit/>
          </a:bodyPr>
          <a:lstStyle/>
          <a:p>
            <a:pPr algn="l">
              <a:lnSpc>
                <a:spcPts val="3840"/>
              </a:lnSpc>
            </a:pPr>
            <a:r>
              <a:rPr lang="en-US" sz="3200" b="true">
                <a:solidFill>
                  <a:srgbClr val="2628ED"/>
                </a:solidFill>
                <a:latin typeface="Helvetica World Bold"/>
                <a:ea typeface="Helvetica World Bold"/>
                <a:cs typeface="Helvetica World Bold"/>
                <a:sym typeface="Helvetica World Bold"/>
              </a:rPr>
              <a:t>EXPLORER</a:t>
            </a:r>
          </a:p>
          <a:p>
            <a:pPr algn="l">
              <a:lnSpc>
                <a:spcPts val="3840"/>
              </a:lnSpc>
            </a:pPr>
            <a:r>
              <a:rPr lang="en-US" sz="3200">
                <a:solidFill>
                  <a:srgbClr val="171C2A"/>
                </a:solidFill>
                <a:latin typeface="Helvetica World"/>
                <a:ea typeface="Helvetica World"/>
                <a:cs typeface="Helvetica World"/>
                <a:sym typeface="Helvetica World"/>
              </a:rPr>
              <a:t>Accepte parfois une solution moins bonne, de moins en moins souvent : sort des optimums locaux.</a:t>
            </a:r>
          </a:p>
        </p:txBody>
      </p:sp>
      <p:grpSp>
        <p:nvGrpSpPr>
          <p:cNvPr name="Group 19" id="19"/>
          <p:cNvGrpSpPr/>
          <p:nvPr/>
        </p:nvGrpSpPr>
        <p:grpSpPr>
          <a:xfrm rot="0">
            <a:off x="12115800" y="2270566"/>
            <a:ext cx="5394960" cy="871188"/>
            <a:chOff x="0" y="0"/>
            <a:chExt cx="7193280" cy="1161584"/>
          </a:xfrm>
        </p:grpSpPr>
        <p:sp>
          <p:nvSpPr>
            <p:cNvPr name="Freeform 20" id="20"/>
            <p:cNvSpPr/>
            <p:nvPr/>
          </p:nvSpPr>
          <p:spPr>
            <a:xfrm flipH="false" flipV="false" rot="0">
              <a:off x="0" y="0"/>
              <a:ext cx="7193280" cy="1161584"/>
            </a:xfrm>
            <a:custGeom>
              <a:avLst/>
              <a:gdLst/>
              <a:ahLst/>
              <a:cxnLst/>
              <a:rect r="r" b="b" t="t" l="l"/>
              <a:pathLst>
                <a:path h="1161584" w="7193280">
                  <a:moveTo>
                    <a:pt x="0" y="0"/>
                  </a:moveTo>
                  <a:lnTo>
                    <a:pt x="7193280" y="0"/>
                  </a:lnTo>
                  <a:lnTo>
                    <a:pt x="7193280" y="1161584"/>
                  </a:lnTo>
                  <a:lnTo>
                    <a:pt x="0" y="1161584"/>
                  </a:lnTo>
                  <a:close/>
                </a:path>
              </a:pathLst>
            </a:custGeom>
            <a:solidFill>
              <a:srgbClr val="171C2A"/>
            </a:solidFill>
          </p:spPr>
        </p:sp>
        <p:sp>
          <p:nvSpPr>
            <p:cNvPr name="TextBox 21" id="21"/>
            <p:cNvSpPr txBox="true"/>
            <p:nvPr/>
          </p:nvSpPr>
          <p:spPr>
            <a:xfrm>
              <a:off x="0" y="9525"/>
              <a:ext cx="719328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Recherche taboue</a:t>
              </a:r>
            </a:p>
          </p:txBody>
        </p:sp>
      </p:grpSp>
      <p:grpSp>
        <p:nvGrpSpPr>
          <p:cNvPr name="Group 22" id="22"/>
          <p:cNvGrpSpPr/>
          <p:nvPr/>
        </p:nvGrpSpPr>
        <p:grpSpPr>
          <a:xfrm rot="0">
            <a:off x="12115800" y="3141754"/>
            <a:ext cx="5394960" cy="3008119"/>
            <a:chOff x="0" y="0"/>
            <a:chExt cx="7193280" cy="4010825"/>
          </a:xfrm>
        </p:grpSpPr>
        <p:sp>
          <p:nvSpPr>
            <p:cNvPr name="Freeform 23" id="23"/>
            <p:cNvSpPr/>
            <p:nvPr/>
          </p:nvSpPr>
          <p:spPr>
            <a:xfrm flipH="false" flipV="false" rot="0">
              <a:off x="0" y="0"/>
              <a:ext cx="7193280" cy="4010795"/>
            </a:xfrm>
            <a:custGeom>
              <a:avLst/>
              <a:gdLst/>
              <a:ahLst/>
              <a:cxnLst/>
              <a:rect r="r" b="b" t="t" l="l"/>
              <a:pathLst>
                <a:path h="4010795" w="7193280">
                  <a:moveTo>
                    <a:pt x="0" y="0"/>
                  </a:moveTo>
                  <a:lnTo>
                    <a:pt x="7193280" y="0"/>
                  </a:lnTo>
                  <a:lnTo>
                    <a:pt x="7193280" y="4010795"/>
                  </a:lnTo>
                  <a:lnTo>
                    <a:pt x="0" y="4010795"/>
                  </a:lnTo>
                  <a:close/>
                </a:path>
              </a:pathLst>
            </a:custGeom>
            <a:solidFill>
              <a:srgbClr val="F2F8F6"/>
            </a:solidFill>
          </p:spPr>
        </p:sp>
      </p:grpSp>
      <p:sp>
        <p:nvSpPr>
          <p:cNvPr name="TextBox 24" id="24"/>
          <p:cNvSpPr txBox="true"/>
          <p:nvPr/>
        </p:nvSpPr>
        <p:spPr>
          <a:xfrm rot="0">
            <a:off x="12316968" y="3351786"/>
            <a:ext cx="4992624" cy="3583429"/>
          </a:xfrm>
          <a:prstGeom prst="rect">
            <a:avLst/>
          </a:prstGeom>
        </p:spPr>
        <p:txBody>
          <a:bodyPr anchor="t" rtlCol="false" tIns="0" lIns="0" bIns="0" rIns="0">
            <a:spAutoFit/>
          </a:bodyPr>
          <a:lstStyle/>
          <a:p>
            <a:pPr algn="l">
              <a:lnSpc>
                <a:spcPts val="3840"/>
              </a:lnSpc>
            </a:pPr>
            <a:r>
              <a:rPr lang="en-US" sz="3200" b="true">
                <a:solidFill>
                  <a:srgbClr val="2628ED"/>
                </a:solidFill>
                <a:latin typeface="Helvetica World Bold"/>
                <a:ea typeface="Helvetica World Bold"/>
                <a:cs typeface="Helvetica World Bold"/>
                <a:sym typeface="Helvetica World Bold"/>
              </a:rPr>
              <a:t>AFFINER</a:t>
            </a:r>
          </a:p>
          <a:p>
            <a:pPr algn="l">
              <a:lnSpc>
                <a:spcPts val="3840"/>
              </a:lnSpc>
            </a:pPr>
            <a:r>
              <a:rPr lang="en-US" sz="3200">
                <a:solidFill>
                  <a:srgbClr val="171C2A"/>
                </a:solidFill>
                <a:latin typeface="Helvetica World"/>
                <a:ea typeface="Helvetica World"/>
                <a:cs typeface="Helvetica World"/>
                <a:sym typeface="Helvetica World"/>
              </a:rPr>
              <a:t>Meilleur voisin à chaque pas, mouvements récents interdits : intensifie autour d'une bonne solution.</a:t>
            </a:r>
          </a:p>
        </p:txBody>
      </p:sp>
      <p:grpSp>
        <p:nvGrpSpPr>
          <p:cNvPr name="Group 25" id="25"/>
          <p:cNvGrpSpPr/>
          <p:nvPr/>
        </p:nvGrpSpPr>
        <p:grpSpPr>
          <a:xfrm rot="0">
            <a:off x="777240" y="6663122"/>
            <a:ext cx="16733520" cy="2057400"/>
            <a:chOff x="0" y="0"/>
            <a:chExt cx="22311360" cy="2743200"/>
          </a:xfrm>
        </p:grpSpPr>
        <p:sp>
          <p:nvSpPr>
            <p:cNvPr name="Freeform 26" id="26"/>
            <p:cNvSpPr/>
            <p:nvPr/>
          </p:nvSpPr>
          <p:spPr>
            <a:xfrm flipH="false" flipV="false" rot="0">
              <a:off x="0" y="0"/>
              <a:ext cx="22311361" cy="2743200"/>
            </a:xfrm>
            <a:custGeom>
              <a:avLst/>
              <a:gdLst/>
              <a:ahLst/>
              <a:cxnLst/>
              <a:rect r="r" b="b" t="t" l="l"/>
              <a:pathLst>
                <a:path h="2743200" w="22311361">
                  <a:moveTo>
                    <a:pt x="0" y="0"/>
                  </a:moveTo>
                  <a:lnTo>
                    <a:pt x="22311361" y="0"/>
                  </a:lnTo>
                  <a:lnTo>
                    <a:pt x="22311361" y="2743200"/>
                  </a:lnTo>
                  <a:lnTo>
                    <a:pt x="0" y="2743200"/>
                  </a:lnTo>
                  <a:close/>
                </a:path>
              </a:pathLst>
            </a:custGeom>
            <a:solidFill>
              <a:srgbClr val="171C2A"/>
            </a:solidFill>
          </p:spPr>
        </p:sp>
      </p:grpSp>
      <p:grpSp>
        <p:nvGrpSpPr>
          <p:cNvPr name="Group 27" id="27"/>
          <p:cNvGrpSpPr/>
          <p:nvPr/>
        </p:nvGrpSpPr>
        <p:grpSpPr>
          <a:xfrm rot="0">
            <a:off x="1051560" y="6663122"/>
            <a:ext cx="3291840" cy="2057399"/>
            <a:chOff x="0" y="0"/>
            <a:chExt cx="4389120" cy="2743199"/>
          </a:xfrm>
        </p:grpSpPr>
        <p:sp>
          <p:nvSpPr>
            <p:cNvPr name="Freeform 28" id="28"/>
            <p:cNvSpPr/>
            <p:nvPr/>
          </p:nvSpPr>
          <p:spPr>
            <a:xfrm flipH="false" flipV="false" rot="0">
              <a:off x="0" y="0"/>
              <a:ext cx="4389120" cy="2743197"/>
            </a:xfrm>
            <a:custGeom>
              <a:avLst/>
              <a:gdLst/>
              <a:ahLst/>
              <a:cxnLst/>
              <a:rect r="r" b="b" t="t" l="l"/>
              <a:pathLst>
                <a:path h="2743197" w="4389120">
                  <a:moveTo>
                    <a:pt x="0" y="0"/>
                  </a:moveTo>
                  <a:lnTo>
                    <a:pt x="4389120" y="0"/>
                  </a:lnTo>
                  <a:lnTo>
                    <a:pt x="4389120" y="2743197"/>
                  </a:lnTo>
                  <a:lnTo>
                    <a:pt x="0" y="2743197"/>
                  </a:lnTo>
                  <a:close/>
                </a:path>
              </a:pathLst>
            </a:custGeom>
            <a:blipFill>
              <a:blip r:embed="rId3">
                <a:alphaModFix amt="0"/>
              </a:blip>
              <a:stretch>
                <a:fillRect l="-30189" t="0" r="-30189" b="0"/>
              </a:stretch>
            </a:blipFill>
          </p:spPr>
        </p:sp>
        <p:sp>
          <p:nvSpPr>
            <p:cNvPr name="TextBox 29" id="29"/>
            <p:cNvSpPr txBox="true"/>
            <p:nvPr/>
          </p:nvSpPr>
          <p:spPr>
            <a:xfrm>
              <a:off x="0" y="0"/>
              <a:ext cx="4389120" cy="2743199"/>
            </a:xfrm>
            <a:prstGeom prst="rect">
              <a:avLst/>
            </a:prstGeom>
          </p:spPr>
          <p:txBody>
            <a:bodyPr anchor="ctr" rtlCol="false" tIns="0" lIns="0" bIns="0" rIns="0"/>
            <a:lstStyle/>
            <a:p>
              <a:pPr algn="l">
                <a:lnSpc>
                  <a:spcPts val="4799"/>
                </a:lnSpc>
              </a:pPr>
              <a:r>
                <a:rPr lang="en-US" sz="3999" b="true">
                  <a:solidFill>
                    <a:srgbClr val="FFFFFF"/>
                  </a:solidFill>
                  <a:latin typeface="Helvetica World Bold"/>
                  <a:ea typeface="Helvetica World Bold"/>
                  <a:cs typeface="Helvetica World Bold"/>
                  <a:sym typeface="Helvetica World Bold"/>
                </a:rPr>
                <a:t>Hybride mémétique</a:t>
              </a:r>
            </a:p>
          </p:txBody>
        </p:sp>
      </p:grpSp>
      <p:grpSp>
        <p:nvGrpSpPr>
          <p:cNvPr name="Group 30" id="30"/>
          <p:cNvGrpSpPr/>
          <p:nvPr/>
        </p:nvGrpSpPr>
        <p:grpSpPr>
          <a:xfrm rot="0">
            <a:off x="4617720" y="6663122"/>
            <a:ext cx="12618720" cy="2057399"/>
            <a:chOff x="0" y="0"/>
            <a:chExt cx="16824960" cy="2743199"/>
          </a:xfrm>
        </p:grpSpPr>
        <p:sp>
          <p:nvSpPr>
            <p:cNvPr name="Freeform 31" id="31"/>
            <p:cNvSpPr/>
            <p:nvPr/>
          </p:nvSpPr>
          <p:spPr>
            <a:xfrm flipH="false" flipV="false" rot="0">
              <a:off x="0" y="0"/>
              <a:ext cx="16824961" cy="2743197"/>
            </a:xfrm>
            <a:custGeom>
              <a:avLst/>
              <a:gdLst/>
              <a:ahLst/>
              <a:cxnLst/>
              <a:rect r="r" b="b" t="t" l="l"/>
              <a:pathLst>
                <a:path h="2743197" w="16824961">
                  <a:moveTo>
                    <a:pt x="0" y="0"/>
                  </a:moveTo>
                  <a:lnTo>
                    <a:pt x="16824961" y="0"/>
                  </a:lnTo>
                  <a:lnTo>
                    <a:pt x="16824961" y="2743197"/>
                  </a:lnTo>
                  <a:lnTo>
                    <a:pt x="0" y="2743197"/>
                  </a:lnTo>
                  <a:close/>
                </a:path>
              </a:pathLst>
            </a:custGeom>
            <a:blipFill>
              <a:blip r:embed="rId3">
                <a:alphaModFix amt="0"/>
              </a:blip>
              <a:stretch>
                <a:fillRect l="0" t="-69508" r="0" b="-69508"/>
              </a:stretch>
            </a:blipFill>
          </p:spPr>
        </p:sp>
        <p:sp>
          <p:nvSpPr>
            <p:cNvPr name="TextBox 32" id="32"/>
            <p:cNvSpPr txBox="true"/>
            <p:nvPr/>
          </p:nvSpPr>
          <p:spPr>
            <a:xfrm>
              <a:off x="0" y="9525"/>
              <a:ext cx="16824960" cy="2733674"/>
            </a:xfrm>
            <a:prstGeom prst="rect">
              <a:avLst/>
            </a:prstGeom>
          </p:spPr>
          <p:txBody>
            <a:bodyPr anchor="ctr" rtlCol="false" tIns="0" lIns="0" bIns="0" rIns="0"/>
            <a:lstStyle/>
            <a:p>
              <a:pPr algn="l">
                <a:lnSpc>
                  <a:spcPts val="3599"/>
                </a:lnSpc>
              </a:pPr>
              <a:r>
                <a:rPr lang="en-US" sz="2999">
                  <a:solidFill>
                    <a:srgbClr val="FFFFFF"/>
                  </a:solidFill>
                  <a:latin typeface="Helvetica World"/>
                  <a:ea typeface="Helvetica World"/>
                  <a:cs typeface="Helvetica World"/>
                  <a:sym typeface="Helvetica World"/>
                </a:rPr>
                <a:t>Le génétique explore ; </a:t>
              </a:r>
              <a:r>
                <a:rPr lang="en-US" sz="2999" b="true">
                  <a:solidFill>
                    <a:srgbClr val="5DE5B5"/>
                  </a:solidFill>
                  <a:latin typeface="Helvetica World Bold"/>
                  <a:ea typeface="Helvetica World Bold"/>
                  <a:cs typeface="Helvetica World Bold"/>
                  <a:sym typeface="Helvetica World Bold"/>
                </a:rPr>
                <a:t>les meilleurs enfants</a:t>
              </a:r>
              <a:r>
                <a:rPr lang="en-US" sz="2999">
                  <a:solidFill>
                    <a:srgbClr val="FFFFFF"/>
                  </a:solidFill>
                  <a:latin typeface="Helvetica World"/>
                  <a:ea typeface="Helvetica World"/>
                  <a:cs typeface="Helvetica World"/>
                  <a:sym typeface="Helvetica World"/>
                </a:rPr>
                <a:t> de chaque génération sont affinés par Tabou, puis un recuit et un Tabou finaux consolident le programme. (voir ANNEXE B pour comparaison des scores)</a:t>
              </a:r>
            </a:p>
          </p:txBody>
        </p:sp>
      </p:grpSp>
      <p:grpSp>
        <p:nvGrpSpPr>
          <p:cNvPr name="Group 33" id="33"/>
          <p:cNvGrpSpPr/>
          <p:nvPr/>
        </p:nvGrpSpPr>
        <p:grpSpPr>
          <a:xfrm rot="0">
            <a:off x="453390" y="9699939"/>
            <a:ext cx="2230494" cy="396881"/>
            <a:chOff x="0" y="0"/>
            <a:chExt cx="2973991" cy="529175"/>
          </a:xfrm>
        </p:grpSpPr>
        <p:sp>
          <p:nvSpPr>
            <p:cNvPr name="Freeform 34" id="34"/>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5" id="35"/>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7" id="37"/>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8" id="38"/>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39" id="39"/>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40" id="4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PLANIFIER : LE MÉMÉTIQUE </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453390" y="9699939"/>
            <a:ext cx="2230494" cy="396881"/>
            <a:chOff x="0" y="0"/>
            <a:chExt cx="2973991" cy="529175"/>
          </a:xfrm>
        </p:grpSpPr>
        <p:sp>
          <p:nvSpPr>
            <p:cNvPr name="Freeform 8" id="8"/>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3" id="13"/>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Freeform 14" id="14"/>
          <p:cNvSpPr/>
          <p:nvPr/>
        </p:nvSpPr>
        <p:spPr>
          <a:xfrm flipH="false" flipV="false" rot="0">
            <a:off x="2026607" y="1813820"/>
            <a:ext cx="14234786" cy="6476827"/>
          </a:xfrm>
          <a:custGeom>
            <a:avLst/>
            <a:gdLst/>
            <a:ahLst/>
            <a:cxnLst/>
            <a:rect r="r" b="b" t="t" l="l"/>
            <a:pathLst>
              <a:path h="6476827" w="14234786">
                <a:moveTo>
                  <a:pt x="0" y="0"/>
                </a:moveTo>
                <a:lnTo>
                  <a:pt x="14234786" y="0"/>
                </a:lnTo>
                <a:lnTo>
                  <a:pt x="14234786" y="6476827"/>
                </a:lnTo>
                <a:lnTo>
                  <a:pt x="0" y="6476827"/>
                </a:lnTo>
                <a:lnTo>
                  <a:pt x="0" y="0"/>
                </a:lnTo>
                <a:close/>
              </a:path>
            </a:pathLst>
          </a:custGeom>
          <a:blipFill>
            <a:blip r:embed="rId10"/>
            <a:stretch>
              <a:fillRect l="0" t="0" r="0" b="0"/>
            </a:stretch>
          </a:blipFill>
        </p:spPr>
      </p:sp>
      <p:sp>
        <p:nvSpPr>
          <p:cNvPr name="TextBox 15" id="15"/>
          <p:cNvSpPr txBox="true"/>
          <p:nvPr/>
        </p:nvSpPr>
        <p:spPr>
          <a:xfrm rot="0">
            <a:off x="777240" y="8372475"/>
            <a:ext cx="16733520" cy="904875"/>
          </a:xfrm>
          <a:prstGeom prst="rect">
            <a:avLst/>
          </a:prstGeom>
        </p:spPr>
        <p:txBody>
          <a:bodyPr anchor="t" rtlCol="false" tIns="0" lIns="0" bIns="0" rIns="0">
            <a:spAutoFit/>
          </a:bodyPr>
          <a:lstStyle/>
          <a:p>
            <a:pPr algn="l">
              <a:lnSpc>
                <a:spcPts val="3239"/>
              </a:lnSpc>
            </a:pPr>
            <a:r>
              <a:rPr lang="en-US" b="true" sz="2699">
                <a:solidFill>
                  <a:srgbClr val="171C2A"/>
                </a:solidFill>
                <a:latin typeface="Helvetica World Bold"/>
                <a:ea typeface="Helvetica World Bold"/>
                <a:cs typeface="Helvetica World Bold"/>
                <a:sym typeface="Helvetica World Bold"/>
              </a:rPr>
              <a:t>Les patients sont placés sans débordement par toutes les variantes. Le mémétique lisse le mieux l'hébergement : −4 % face au Tabou, −14 % face au génétique, −26 % face au recuit.</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PLANIFIER : LE MÉMÉTIQUE </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453390" y="9699939"/>
            <a:ext cx="2230494" cy="396881"/>
            <a:chOff x="0" y="0"/>
            <a:chExt cx="2973991" cy="529175"/>
          </a:xfrm>
        </p:grpSpPr>
        <p:sp>
          <p:nvSpPr>
            <p:cNvPr name="Freeform 8" id="8"/>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3" id="13"/>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grpSp>
        <p:nvGrpSpPr>
          <p:cNvPr name="Group 14" id="14"/>
          <p:cNvGrpSpPr/>
          <p:nvPr/>
        </p:nvGrpSpPr>
        <p:grpSpPr>
          <a:xfrm rot="0">
            <a:off x="2173226" y="1776492"/>
            <a:ext cx="13941549" cy="7923447"/>
            <a:chOff x="0" y="0"/>
            <a:chExt cx="18588732" cy="10564596"/>
          </a:xfrm>
        </p:grpSpPr>
        <p:sp>
          <p:nvSpPr>
            <p:cNvPr name="Freeform 15" id="15"/>
            <p:cNvSpPr/>
            <p:nvPr/>
          </p:nvSpPr>
          <p:spPr>
            <a:xfrm flipH="false" flipV="false" rot="0">
              <a:off x="0" y="0"/>
              <a:ext cx="18588732" cy="10564596"/>
            </a:xfrm>
            <a:custGeom>
              <a:avLst/>
              <a:gdLst/>
              <a:ahLst/>
              <a:cxnLst/>
              <a:rect r="r" b="b" t="t" l="l"/>
              <a:pathLst>
                <a:path h="10564596" w="18588732">
                  <a:moveTo>
                    <a:pt x="0" y="0"/>
                  </a:moveTo>
                  <a:lnTo>
                    <a:pt x="18588732" y="0"/>
                  </a:lnTo>
                  <a:lnTo>
                    <a:pt x="18588732" y="10564596"/>
                  </a:lnTo>
                  <a:lnTo>
                    <a:pt x="0" y="10564596"/>
                  </a:lnTo>
                  <a:lnTo>
                    <a:pt x="0" y="0"/>
                  </a:lnTo>
                  <a:close/>
                </a:path>
              </a:pathLst>
            </a:custGeom>
            <a:blipFill>
              <a:blip r:embed="rId10"/>
              <a:stretch>
                <a:fillRect l="0" t="0" r="0" b="0"/>
              </a:stretch>
            </a:blipFill>
          </p:spPr>
        </p:sp>
        <p:sp>
          <p:nvSpPr>
            <p:cNvPr name="Freeform 16" id="16"/>
            <p:cNvSpPr/>
            <p:nvPr/>
          </p:nvSpPr>
          <p:spPr>
            <a:xfrm flipH="false" flipV="false" rot="0">
              <a:off x="15970539" y="2015499"/>
              <a:ext cx="1413926" cy="353482"/>
            </a:xfrm>
            <a:custGeom>
              <a:avLst/>
              <a:gdLst/>
              <a:ahLst/>
              <a:cxnLst/>
              <a:rect r="r" b="b" t="t" l="l"/>
              <a:pathLst>
                <a:path h="353482" w="1413926">
                  <a:moveTo>
                    <a:pt x="0" y="0"/>
                  </a:moveTo>
                  <a:lnTo>
                    <a:pt x="1413926" y="0"/>
                  </a:lnTo>
                  <a:lnTo>
                    <a:pt x="1413926" y="353482"/>
                  </a:lnTo>
                  <a:lnTo>
                    <a:pt x="0" y="353482"/>
                  </a:lnTo>
                  <a:lnTo>
                    <a:pt x="0" y="0"/>
                  </a:lnTo>
                  <a:close/>
                </a:path>
              </a:pathLst>
            </a:custGeom>
            <a:blipFill>
              <a:blip r:embed="rId10"/>
              <a:stretch>
                <a:fillRect l="-1182673" t="-685541" r="-32015" b="-2203184"/>
              </a:stretch>
            </a:blipFill>
          </p:spPr>
        </p:sp>
        <p:grpSp>
          <p:nvGrpSpPr>
            <p:cNvPr name="Group 17" id="17"/>
            <p:cNvGrpSpPr/>
            <p:nvPr/>
          </p:nvGrpSpPr>
          <p:grpSpPr>
            <a:xfrm rot="0">
              <a:off x="17384465" y="2040746"/>
              <a:ext cx="368743" cy="302988"/>
              <a:chOff x="0" y="0"/>
              <a:chExt cx="37518" cy="30828"/>
            </a:xfrm>
          </p:grpSpPr>
          <p:sp>
            <p:nvSpPr>
              <p:cNvPr name="Freeform 18" id="18"/>
              <p:cNvSpPr/>
              <p:nvPr/>
            </p:nvSpPr>
            <p:spPr>
              <a:xfrm flipH="false" flipV="false" rot="0">
                <a:off x="0" y="0"/>
                <a:ext cx="37518" cy="30828"/>
              </a:xfrm>
              <a:custGeom>
                <a:avLst/>
                <a:gdLst/>
                <a:ahLst/>
                <a:cxnLst/>
                <a:rect r="r" b="b" t="t" l="l"/>
                <a:pathLst>
                  <a:path h="30828" w="37518">
                    <a:moveTo>
                      <a:pt x="0" y="0"/>
                    </a:moveTo>
                    <a:lnTo>
                      <a:pt x="37518" y="0"/>
                    </a:lnTo>
                    <a:lnTo>
                      <a:pt x="37518" y="30828"/>
                    </a:lnTo>
                    <a:lnTo>
                      <a:pt x="0" y="30828"/>
                    </a:lnTo>
                    <a:close/>
                  </a:path>
                </a:pathLst>
              </a:custGeom>
              <a:solidFill>
                <a:srgbClr val="FFFFFF"/>
              </a:solidFill>
            </p:spPr>
          </p:sp>
          <p:sp>
            <p:nvSpPr>
              <p:cNvPr name="TextBox 19" id="19"/>
              <p:cNvSpPr txBox="true"/>
              <p:nvPr/>
            </p:nvSpPr>
            <p:spPr>
              <a:xfrm>
                <a:off x="0" y="0"/>
                <a:ext cx="37518" cy="30828"/>
              </a:xfrm>
              <a:prstGeom prst="rect">
                <a:avLst/>
              </a:prstGeom>
            </p:spPr>
            <p:txBody>
              <a:bodyPr anchor="ctr" rtlCol="false" tIns="50800" lIns="50800" bIns="50800" rIns="50800"/>
              <a:lstStyle/>
              <a:p>
                <a:pPr algn="ctr">
                  <a:lnSpc>
                    <a:spcPts val="2645"/>
                  </a:lnSpc>
                </a:pPr>
              </a:p>
            </p:txBody>
          </p:sp>
        </p:grpSp>
      </p:gr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PLANIFIER : UN PROGRAMME LISSÉ</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aphicFrame>
        <p:nvGraphicFramePr>
          <p:cNvPr name="Table 7" id="7"/>
          <p:cNvGraphicFramePr>
            <a:graphicFrameLocks noGrp="true"/>
          </p:cNvGraphicFramePr>
          <p:nvPr/>
        </p:nvGraphicFramePr>
        <p:xfrm>
          <a:off x="10479176" y="2361950"/>
          <a:ext cx="7031584" cy="3670892"/>
        </p:xfrm>
        <a:graphic>
          <a:graphicData uri="http://schemas.openxmlformats.org/drawingml/2006/table">
            <a:tbl>
              <a:tblPr/>
              <a:tblGrid>
                <a:gridCol w="2793369"/>
                <a:gridCol w="1926461"/>
                <a:gridCol w="2311754"/>
              </a:tblGrid>
              <a:tr h="833244">
                <a:tc>
                  <a:txBody>
                    <a:bodyPr anchor="t" rtlCol="false"/>
                    <a:lstStyle/>
                    <a:p>
                      <a:pPr algn="l">
                        <a:lnSpc>
                          <a:spcPts val="2789"/>
                        </a:lnSpc>
                        <a:defRPr/>
                      </a:pPr>
                      <a:r>
                        <a:rPr lang="en-US" sz="2324" b="true">
                          <a:solidFill>
                            <a:srgbClr val="171C2A"/>
                          </a:solidFill>
                          <a:latin typeface="Helvetica World Bold"/>
                          <a:ea typeface="Helvetica World Bold"/>
                          <a:cs typeface="Helvetica World Bold"/>
                          <a:sym typeface="Helvetica World Bold"/>
                        </a:rPr>
                        <a:t>Indicateur</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20129">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789"/>
                        </a:lnSpc>
                        <a:defRPr/>
                      </a:pPr>
                      <a:r>
                        <a:rPr lang="en-US" sz="2324" b="true">
                          <a:solidFill>
                            <a:srgbClr val="171C2A"/>
                          </a:solidFill>
                          <a:latin typeface="Helvetica World Bold"/>
                          <a:ea typeface="Helvetica World Bold"/>
                          <a:cs typeface="Helvetica World Bold"/>
                          <a:sym typeface="Helvetica World Bold"/>
                        </a:rPr>
                        <a:t>Glouton</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20129">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789"/>
                        </a:lnSpc>
                        <a:defRPr/>
                      </a:pPr>
                      <a:r>
                        <a:rPr lang="en-US" sz="2324" b="true">
                          <a:solidFill>
                            <a:srgbClr val="171C2A"/>
                          </a:solidFill>
                          <a:latin typeface="Helvetica World Bold"/>
                          <a:ea typeface="Helvetica World Bold"/>
                          <a:cs typeface="Helvetica World Bold"/>
                          <a:sym typeface="Helvetica World Bold"/>
                        </a:rPr>
                        <a:t>OR'CHESTRE</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20129">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84097">
                <a:tc>
                  <a:txBody>
                    <a:bodyPr anchor="t" rtlCol="false"/>
                    <a:lstStyle/>
                    <a:p>
                      <a:pPr algn="l">
                        <a:lnSpc>
                          <a:spcPts val="2789"/>
                        </a:lnSpc>
                        <a:defRPr/>
                      </a:pPr>
                      <a:r>
                        <a:rPr lang="en-US" sz="2324">
                          <a:solidFill>
                            <a:srgbClr val="171C2A"/>
                          </a:solidFill>
                          <a:latin typeface="Helvetica World"/>
                          <a:ea typeface="Helvetica World"/>
                          <a:cs typeface="Helvetica World"/>
                          <a:sym typeface="Helvetica World"/>
                        </a:rPr>
                        <a:t>Patients placés</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0064">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789"/>
                        </a:lnSpc>
                        <a:defRPr/>
                      </a:pPr>
                      <a:r>
                        <a:rPr lang="en-US" sz="2324">
                          <a:solidFill>
                            <a:srgbClr val="171C2A"/>
                          </a:solidFill>
                          <a:latin typeface="Helvetica World"/>
                          <a:ea typeface="Helvetica World"/>
                          <a:cs typeface="Helvetica World"/>
                          <a:sym typeface="Helvetica World"/>
                        </a:rPr>
                        <a:t>256 / 258</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0064">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789"/>
                        </a:lnSpc>
                        <a:defRPr/>
                      </a:pPr>
                      <a:r>
                        <a:rPr lang="en-US" sz="2324">
                          <a:solidFill>
                            <a:srgbClr val="171C2A"/>
                          </a:solidFill>
                          <a:latin typeface="Helvetica World"/>
                          <a:ea typeface="Helvetica World"/>
                          <a:cs typeface="Helvetica World"/>
                          <a:sym typeface="Helvetica World"/>
                        </a:rPr>
                        <a:t>258 / 258</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0064">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74341">
                <a:tc>
                  <a:txBody>
                    <a:bodyPr anchor="t" rtlCol="false"/>
                    <a:lstStyle/>
                    <a:p>
                      <a:pPr algn="l">
                        <a:lnSpc>
                          <a:spcPts val="2789"/>
                        </a:lnSpc>
                        <a:defRPr/>
                      </a:pPr>
                      <a:r>
                        <a:rPr lang="en-US" sz="2324">
                          <a:solidFill>
                            <a:srgbClr val="171C2A"/>
                          </a:solidFill>
                          <a:latin typeface="Helvetica World"/>
                          <a:ea typeface="Helvetica World"/>
                          <a:cs typeface="Helvetica World"/>
                          <a:sym typeface="Helvetica World"/>
                        </a:rPr>
                        <a:t>Lits au pic</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789"/>
                        </a:lnSpc>
                        <a:defRPr/>
                      </a:pPr>
                      <a:r>
                        <a:rPr lang="en-US" sz="2324">
                          <a:solidFill>
                            <a:srgbClr val="171C2A"/>
                          </a:solidFill>
                          <a:latin typeface="Helvetica World"/>
                          <a:ea typeface="Helvetica World"/>
                          <a:cs typeface="Helvetica World"/>
                          <a:sym typeface="Helvetica World"/>
                        </a:rPr>
                        <a:t>27</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789"/>
                        </a:lnSpc>
                        <a:defRPr/>
                      </a:pPr>
                      <a:r>
                        <a:rPr lang="en-US" sz="2324">
                          <a:solidFill>
                            <a:srgbClr val="171C2A"/>
                          </a:solidFill>
                          <a:latin typeface="Helvetica World"/>
                          <a:ea typeface="Helvetica World"/>
                          <a:cs typeface="Helvetica World"/>
                          <a:sym typeface="Helvetica World"/>
                        </a:rPr>
                        <a:t>21</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85356">
                <a:tc>
                  <a:txBody>
                    <a:bodyPr anchor="t" rtlCol="false"/>
                    <a:lstStyle/>
                    <a:p>
                      <a:pPr algn="l" marL="0" indent="0" lvl="0">
                        <a:lnSpc>
                          <a:spcPts val="2789"/>
                        </a:lnSpc>
                        <a:spcBef>
                          <a:spcPct val="0"/>
                        </a:spcBef>
                        <a:defRPr/>
                      </a:pPr>
                      <a:r>
                        <a:rPr lang="en-US" sz="2324" strike="noStrike" u="none">
                          <a:solidFill>
                            <a:srgbClr val="171C2A"/>
                          </a:solidFill>
                          <a:latin typeface="Helvetica World"/>
                          <a:ea typeface="Helvetica World"/>
                          <a:cs typeface="Helvetica World"/>
                          <a:sym typeface="Helvetica World"/>
                        </a:rPr>
                        <a:t>Écart-type lits</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2789"/>
                        </a:lnSpc>
                        <a:spcBef>
                          <a:spcPct val="0"/>
                        </a:spcBef>
                        <a:defRPr/>
                      </a:pPr>
                      <a:r>
                        <a:rPr lang="en-US" sz="2324" strike="noStrike" u="none">
                          <a:solidFill>
                            <a:srgbClr val="171C2A"/>
                          </a:solidFill>
                          <a:latin typeface="Helvetica World"/>
                          <a:ea typeface="Helvetica World"/>
                          <a:cs typeface="Helvetica World"/>
                          <a:sym typeface="Helvetica World"/>
                        </a:rPr>
                        <a:t>7,4</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marL="0" indent="0" lvl="0">
                        <a:lnSpc>
                          <a:spcPts val="2789"/>
                        </a:lnSpc>
                        <a:spcBef>
                          <a:spcPct val="0"/>
                        </a:spcBef>
                        <a:defRPr/>
                      </a:pPr>
                      <a:r>
                        <a:rPr lang="en-US" sz="2324" strike="noStrike" u="none">
                          <a:solidFill>
                            <a:srgbClr val="171C2A"/>
                          </a:solidFill>
                          <a:latin typeface="Helvetica World"/>
                          <a:ea typeface="Helvetica World"/>
                          <a:cs typeface="Helvetica World"/>
                          <a:sym typeface="Helvetica World"/>
                        </a:rPr>
                        <a:t>3,9</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93853">
                <a:tc>
                  <a:txBody>
                    <a:bodyPr anchor="t" rtlCol="false"/>
                    <a:lstStyle/>
                    <a:p>
                      <a:pPr algn="l">
                        <a:lnSpc>
                          <a:spcPts val="2789"/>
                        </a:lnSpc>
                        <a:defRPr/>
                      </a:pPr>
                      <a:r>
                        <a:rPr lang="en-US" sz="2324">
                          <a:solidFill>
                            <a:srgbClr val="171C2A"/>
                          </a:solidFill>
                          <a:latin typeface="Helvetica World"/>
                          <a:ea typeface="Helvetica World"/>
                          <a:cs typeface="Helvetica World"/>
                          <a:sym typeface="Helvetica World"/>
                        </a:rPr>
                        <a:t>Score global</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20129">
                      <a:solidFill>
                        <a:srgbClr val="171C2A"/>
                      </a:solidFill>
                      <a:prstDash val="solid"/>
                      <a:round/>
                      <a:headEnd type="none" w="med" len="med"/>
                      <a:tailEnd type="none" w="med" len="med"/>
                    </a:lnB>
                    <a:solidFill>
                      <a:srgbClr val="FFFFFF"/>
                    </a:solidFill>
                  </a:tcPr>
                </a:tc>
                <a:tc>
                  <a:txBody>
                    <a:bodyPr anchor="t" rtlCol="false"/>
                    <a:lstStyle/>
                    <a:p>
                      <a:pPr algn="ctr">
                        <a:lnSpc>
                          <a:spcPts val="2789"/>
                        </a:lnSpc>
                        <a:defRPr/>
                      </a:pPr>
                      <a:r>
                        <a:rPr lang="en-US" sz="2324">
                          <a:solidFill>
                            <a:srgbClr val="171C2A"/>
                          </a:solidFill>
                          <a:latin typeface="Helvetica World"/>
                          <a:ea typeface="Helvetica World"/>
                          <a:cs typeface="Helvetica World"/>
                          <a:sym typeface="Helvetica World"/>
                        </a:rPr>
                        <a:t>30 647</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20129">
                      <a:solidFill>
                        <a:srgbClr val="171C2A"/>
                      </a:solidFill>
                      <a:prstDash val="solid"/>
                      <a:round/>
                      <a:headEnd type="none" w="med" len="med"/>
                      <a:tailEnd type="none" w="med" len="med"/>
                    </a:lnB>
                    <a:solidFill>
                      <a:srgbClr val="FFFFFF"/>
                    </a:solidFill>
                  </a:tcPr>
                </a:tc>
                <a:tc>
                  <a:txBody>
                    <a:bodyPr anchor="t" rtlCol="false"/>
                    <a:lstStyle/>
                    <a:p>
                      <a:pPr algn="ctr">
                        <a:lnSpc>
                          <a:spcPts val="2789"/>
                        </a:lnSpc>
                        <a:defRPr/>
                      </a:pPr>
                      <a:r>
                        <a:rPr lang="en-US" sz="2324">
                          <a:solidFill>
                            <a:srgbClr val="171C2A"/>
                          </a:solidFill>
                          <a:latin typeface="Helvetica World"/>
                          <a:ea typeface="Helvetica World"/>
                          <a:cs typeface="Helvetica World"/>
                          <a:sym typeface="Helvetica World"/>
                        </a:rPr>
                        <a:t>15 075</a:t>
                      </a:r>
                      <a:endParaRPr lang="en-US" sz="1100"/>
                    </a:p>
                  </a:txBody>
                  <a:tcPr marL="96617" marR="96617" marT="96617" marB="96617"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20129">
                      <a:solidFill>
                        <a:srgbClr val="171C2A"/>
                      </a:solidFill>
                      <a:prstDash val="solid"/>
                      <a:round/>
                      <a:headEnd type="none" w="med" len="med"/>
                      <a:tailEnd type="none" w="med" len="med"/>
                    </a:lnB>
                    <a:solidFill>
                      <a:srgbClr val="FFFFFF"/>
                    </a:solidFill>
                  </a:tcPr>
                </a:tc>
              </a:tr>
            </a:tbl>
          </a:graphicData>
        </a:graphic>
      </p:graphicFrame>
      <p:grpSp>
        <p:nvGrpSpPr>
          <p:cNvPr name="Group 8" id="8"/>
          <p:cNvGrpSpPr/>
          <p:nvPr/>
        </p:nvGrpSpPr>
        <p:grpSpPr>
          <a:xfrm rot="0">
            <a:off x="453390" y="9699939"/>
            <a:ext cx="2230494" cy="396881"/>
            <a:chOff x="0" y="0"/>
            <a:chExt cx="2973991" cy="529175"/>
          </a:xfrm>
        </p:grpSpPr>
        <p:sp>
          <p:nvSpPr>
            <p:cNvPr name="Freeform 9" id="9"/>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4" id="14"/>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Freeform 15" id="15"/>
          <p:cNvSpPr/>
          <p:nvPr/>
        </p:nvSpPr>
        <p:spPr>
          <a:xfrm flipH="false" flipV="false" rot="0">
            <a:off x="624840" y="2390525"/>
            <a:ext cx="9455541" cy="6329303"/>
          </a:xfrm>
          <a:custGeom>
            <a:avLst/>
            <a:gdLst/>
            <a:ahLst/>
            <a:cxnLst/>
            <a:rect r="r" b="b" t="t" l="l"/>
            <a:pathLst>
              <a:path h="6329303" w="9455541">
                <a:moveTo>
                  <a:pt x="0" y="0"/>
                </a:moveTo>
                <a:lnTo>
                  <a:pt x="9455541" y="0"/>
                </a:lnTo>
                <a:lnTo>
                  <a:pt x="9455541" y="6329303"/>
                </a:lnTo>
                <a:lnTo>
                  <a:pt x="0" y="6329303"/>
                </a:lnTo>
                <a:lnTo>
                  <a:pt x="0" y="0"/>
                </a:lnTo>
                <a:close/>
              </a:path>
            </a:pathLst>
          </a:custGeom>
          <a:blipFill>
            <a:blip r:embed="rId10"/>
            <a:stretch>
              <a:fillRect l="0" t="0" r="0" b="0"/>
            </a:stretch>
          </a:blipFill>
        </p:spPr>
      </p:sp>
      <p:sp>
        <p:nvSpPr>
          <p:cNvPr name="TextBox 16" id="16"/>
          <p:cNvSpPr txBox="true"/>
          <p:nvPr/>
        </p:nvSpPr>
        <p:spPr>
          <a:xfrm rot="0">
            <a:off x="10457706" y="7219438"/>
            <a:ext cx="7053054" cy="1628775"/>
          </a:xfrm>
          <a:prstGeom prst="rect">
            <a:avLst/>
          </a:prstGeom>
        </p:spPr>
        <p:txBody>
          <a:bodyPr anchor="t" rtlCol="false" tIns="0" lIns="0" bIns="0" rIns="0">
            <a:spAutoFit/>
          </a:bodyPr>
          <a:lstStyle/>
          <a:p>
            <a:pPr algn="l">
              <a:lnSpc>
                <a:spcPts val="2999"/>
              </a:lnSpc>
            </a:pPr>
            <a:r>
              <a:rPr lang="en-US" b="true" sz="2499">
                <a:solidFill>
                  <a:srgbClr val="171C2A"/>
                </a:solidFill>
                <a:latin typeface="Helvetica World Bold"/>
                <a:ea typeface="Helvetica World Bold"/>
                <a:cs typeface="Helvetica World Bold"/>
                <a:sym typeface="Helvetica World Bold"/>
              </a:rPr>
              <a:t>Glouton : 2 patients non programmés, pic à 27 lits (la limite). OR'CHESTRE : 258 patients sur 258, pic à 21 lits, écart-type d'occupation des lits divisé par 1,9.</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ADAPTER : LE SYSTÈME MULTI-AGENT</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453390" y="9699939"/>
            <a:ext cx="2230494" cy="396881"/>
            <a:chOff x="0" y="0"/>
            <a:chExt cx="2973991" cy="529175"/>
          </a:xfrm>
        </p:grpSpPr>
        <p:sp>
          <p:nvSpPr>
            <p:cNvPr name="Freeform 8" id="8"/>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3" id="13"/>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Freeform 14" id="14"/>
          <p:cNvSpPr/>
          <p:nvPr/>
        </p:nvSpPr>
        <p:spPr>
          <a:xfrm flipH="false" flipV="false" rot="0">
            <a:off x="2124111" y="1501268"/>
            <a:ext cx="14039778" cy="7897375"/>
          </a:xfrm>
          <a:custGeom>
            <a:avLst/>
            <a:gdLst/>
            <a:ahLst/>
            <a:cxnLst/>
            <a:rect r="r" b="b" t="t" l="l"/>
            <a:pathLst>
              <a:path h="7897375" w="14039778">
                <a:moveTo>
                  <a:pt x="0" y="0"/>
                </a:moveTo>
                <a:lnTo>
                  <a:pt x="14039778" y="0"/>
                </a:lnTo>
                <a:lnTo>
                  <a:pt x="14039778" y="7897375"/>
                </a:lnTo>
                <a:lnTo>
                  <a:pt x="0" y="7897375"/>
                </a:lnTo>
                <a:lnTo>
                  <a:pt x="0" y="0"/>
                </a:lnTo>
                <a:close/>
              </a:path>
            </a:pathLst>
          </a:custGeom>
          <a:blipFill>
            <a:blip r:embed="rId10"/>
            <a:stretch>
              <a:fillRect l="0" t="0" r="0" b="0"/>
            </a:stretch>
          </a:blipFill>
        </p:spPr>
      </p:sp>
      <p:sp>
        <p:nvSpPr>
          <p:cNvPr name="TextBox 15" id="15"/>
          <p:cNvSpPr txBox="true"/>
          <p:nvPr/>
        </p:nvSpPr>
        <p:spPr>
          <a:xfrm rot="0">
            <a:off x="4663131" y="9484368"/>
            <a:ext cx="8582383" cy="523875"/>
          </a:xfrm>
          <a:prstGeom prst="rect">
            <a:avLst/>
          </a:prstGeom>
        </p:spPr>
        <p:txBody>
          <a:bodyPr anchor="t" rtlCol="false" tIns="0" lIns="0" bIns="0" rIns="0">
            <a:spAutoFit/>
          </a:bodyPr>
          <a:lstStyle/>
          <a:p>
            <a:pPr algn="ctr">
              <a:lnSpc>
                <a:spcPts val="3840"/>
              </a:lnSpc>
              <a:spcBef>
                <a:spcPct val="0"/>
              </a:spcBef>
            </a:pPr>
            <a:r>
              <a:rPr lang="en-US" b="true" sz="3200">
                <a:solidFill>
                  <a:srgbClr val="000000"/>
                </a:solidFill>
                <a:latin typeface="Helvetica World Bold"/>
                <a:ea typeface="Helvetica World Bold"/>
                <a:cs typeface="Helvetica World Bold"/>
                <a:sym typeface="Helvetica World Bold"/>
              </a:rPr>
              <a:t>(voir ANNEXE C pour l’explication des liens)</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marL="0" indent="0" lvl="0">
                <a:lnSpc>
                  <a:spcPts val="3840"/>
                </a:lnSpc>
                <a:spcBef>
                  <a:spcPct val="0"/>
                </a:spcBef>
              </a:pPr>
              <a:r>
                <a:rPr lang="en-US" b="true" sz="3200" strike="noStrike" u="none">
                  <a:solidFill>
                    <a:srgbClr val="171C2A"/>
                  </a:solidFill>
                  <a:latin typeface="Helvetica World Bold"/>
                  <a:ea typeface="Helvetica World Bold"/>
                  <a:cs typeface="Helvetica World Bold"/>
                  <a:sym typeface="Helvetica World Bold"/>
                </a:rPr>
                <a:t>ADAPTER : LE SYSTÈME DYNAMIQUE</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453390" y="9699939"/>
            <a:ext cx="2230494" cy="396881"/>
            <a:chOff x="0" y="0"/>
            <a:chExt cx="2973991" cy="529175"/>
          </a:xfrm>
        </p:grpSpPr>
        <p:sp>
          <p:nvSpPr>
            <p:cNvPr name="Freeform 8" id="8"/>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3" id="13"/>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14" id="14"/>
          <p:cNvSpPr txBox="true"/>
          <p:nvPr/>
        </p:nvSpPr>
        <p:spPr>
          <a:xfrm rot="0">
            <a:off x="777240" y="8739188"/>
            <a:ext cx="16733520" cy="428625"/>
          </a:xfrm>
          <a:prstGeom prst="rect">
            <a:avLst/>
          </a:prstGeom>
        </p:spPr>
        <p:txBody>
          <a:bodyPr anchor="t" rtlCol="false" tIns="0" lIns="0" bIns="0" rIns="0">
            <a:spAutoFit/>
          </a:bodyPr>
          <a:lstStyle/>
          <a:p>
            <a:pPr algn="l">
              <a:lnSpc>
                <a:spcPts val="3119"/>
              </a:lnSpc>
            </a:pPr>
            <a:r>
              <a:rPr lang="en-US" b="true" sz="2599">
                <a:solidFill>
                  <a:srgbClr val="171C2A"/>
                </a:solidFill>
                <a:latin typeface="Helvetica World Bold"/>
                <a:ea typeface="Helvetica World Bold"/>
                <a:cs typeface="Helvetica World Bold"/>
                <a:sym typeface="Helvetica World Bold"/>
              </a:rPr>
              <a:t>Les agents ne lisent jamais l'état des autres : tout passe par des messages, journalisés et rejouables.</a:t>
            </a:r>
          </a:p>
        </p:txBody>
      </p:sp>
      <p:grpSp>
        <p:nvGrpSpPr>
          <p:cNvPr name="Group 15" id="15"/>
          <p:cNvGrpSpPr/>
          <p:nvPr/>
        </p:nvGrpSpPr>
        <p:grpSpPr>
          <a:xfrm rot="0">
            <a:off x="7254240" y="1695450"/>
            <a:ext cx="10256520" cy="872490"/>
            <a:chOff x="0" y="0"/>
            <a:chExt cx="13675360" cy="1163320"/>
          </a:xfrm>
        </p:grpSpPr>
        <p:sp>
          <p:nvSpPr>
            <p:cNvPr name="Freeform 16" id="16"/>
            <p:cNvSpPr/>
            <p:nvPr/>
          </p:nvSpPr>
          <p:spPr>
            <a:xfrm flipH="false" flipV="false" rot="0">
              <a:off x="0" y="0"/>
              <a:ext cx="13675361" cy="1163320"/>
            </a:xfrm>
            <a:custGeom>
              <a:avLst/>
              <a:gdLst/>
              <a:ahLst/>
              <a:cxnLst/>
              <a:rect r="r" b="b" t="t" l="l"/>
              <a:pathLst>
                <a:path h="1163320" w="13675361">
                  <a:moveTo>
                    <a:pt x="0" y="0"/>
                  </a:moveTo>
                  <a:lnTo>
                    <a:pt x="13675361" y="0"/>
                  </a:lnTo>
                  <a:lnTo>
                    <a:pt x="13675361" y="1163320"/>
                  </a:lnTo>
                  <a:lnTo>
                    <a:pt x="0" y="1163320"/>
                  </a:lnTo>
                  <a:close/>
                </a:path>
              </a:pathLst>
            </a:custGeom>
            <a:solidFill>
              <a:srgbClr val="171C2A"/>
            </a:solidFill>
          </p:spPr>
        </p:sp>
        <p:sp>
          <p:nvSpPr>
            <p:cNvPr name="TextBox 17" id="17"/>
            <p:cNvSpPr txBox="true"/>
            <p:nvPr/>
          </p:nvSpPr>
          <p:spPr>
            <a:xfrm>
              <a:off x="0" y="-9525"/>
              <a:ext cx="13675360" cy="1172845"/>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7254240" y="2567940"/>
            <a:ext cx="10256520" cy="3704272"/>
            <a:chOff x="0" y="0"/>
            <a:chExt cx="13675360" cy="4939030"/>
          </a:xfrm>
        </p:grpSpPr>
        <p:sp>
          <p:nvSpPr>
            <p:cNvPr name="Freeform 19" id="19"/>
            <p:cNvSpPr/>
            <p:nvPr/>
          </p:nvSpPr>
          <p:spPr>
            <a:xfrm flipH="false" flipV="false" rot="0">
              <a:off x="0" y="0"/>
              <a:ext cx="13675361" cy="4939030"/>
            </a:xfrm>
            <a:custGeom>
              <a:avLst/>
              <a:gdLst/>
              <a:ahLst/>
              <a:cxnLst/>
              <a:rect r="r" b="b" t="t" l="l"/>
              <a:pathLst>
                <a:path h="4939030" w="13675361">
                  <a:moveTo>
                    <a:pt x="0" y="0"/>
                  </a:moveTo>
                  <a:lnTo>
                    <a:pt x="13675361" y="0"/>
                  </a:lnTo>
                  <a:lnTo>
                    <a:pt x="13675361" y="4939030"/>
                  </a:lnTo>
                  <a:lnTo>
                    <a:pt x="0" y="4939030"/>
                  </a:lnTo>
                  <a:close/>
                </a:path>
              </a:pathLst>
            </a:custGeom>
            <a:solidFill>
              <a:srgbClr val="F2F8F6"/>
            </a:solidFill>
          </p:spPr>
        </p:sp>
        <p:sp>
          <p:nvSpPr>
            <p:cNvPr name="TextBox 20" id="20"/>
            <p:cNvSpPr txBox="true"/>
            <p:nvPr/>
          </p:nvSpPr>
          <p:spPr>
            <a:xfrm>
              <a:off x="0" y="-9525"/>
              <a:ext cx="13675360" cy="4948555"/>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7486650" y="2862263"/>
            <a:ext cx="9810750" cy="3550412"/>
          </a:xfrm>
          <a:prstGeom prst="rect">
            <a:avLst/>
          </a:prstGeom>
        </p:spPr>
        <p:txBody>
          <a:bodyPr anchor="t" rtlCol="false" tIns="0" lIns="0" bIns="0" rIns="0">
            <a:spAutoFit/>
          </a:bodyPr>
          <a:lstStyle/>
          <a:p>
            <a:pPr algn="l" marL="349882" indent="-174941" lvl="1">
              <a:lnSpc>
                <a:spcPts val="3798"/>
              </a:lnSpc>
              <a:buFont typeface="Arial"/>
              <a:buChar char="•"/>
            </a:pPr>
            <a:r>
              <a:rPr lang="en-US" b="true" sz="2899">
                <a:solidFill>
                  <a:srgbClr val="171C2A"/>
                </a:solidFill>
                <a:latin typeface="Helvetica World Bold"/>
                <a:ea typeface="Helvetica World Bold"/>
                <a:cs typeface="Helvetica World Bold"/>
                <a:sym typeface="Helvetica World Bold"/>
              </a:rPr>
              <a:t>A</a:t>
            </a:r>
            <a:r>
              <a:rPr lang="en-US" b="true" sz="2899">
                <a:solidFill>
                  <a:srgbClr val="171C2A"/>
                </a:solidFill>
                <a:latin typeface="Helvetica World Bold"/>
                <a:ea typeface="Helvetica World Bold"/>
                <a:cs typeface="Helvetica World Bold"/>
                <a:sym typeface="Helvetica World Bold"/>
              </a:rPr>
              <a:t>ussi bon que la mémétique : 3 923 contre 3 823 ; une urgence est régulée en 4 ms.</a:t>
            </a:r>
          </a:p>
          <a:p>
            <a:pPr algn="l" marL="349882" indent="-174941" lvl="1">
              <a:lnSpc>
                <a:spcPts val="3798"/>
              </a:lnSpc>
              <a:buFont typeface="Arial"/>
              <a:buChar char="•"/>
            </a:pPr>
            <a:r>
              <a:rPr lang="en-US" b="true" sz="2899">
                <a:solidFill>
                  <a:srgbClr val="171C2A"/>
                </a:solidFill>
                <a:latin typeface="Helvetica World Bold"/>
                <a:ea typeface="Helvetica World Bold"/>
                <a:cs typeface="Helvetica World Bold"/>
                <a:sym typeface="Helvetica World Bold"/>
              </a:rPr>
              <a:t>Il affine un programme déjà bon : au moins 93 % des interventions inchangées.</a:t>
            </a:r>
          </a:p>
          <a:p>
            <a:pPr algn="l" marL="349882" indent="-174941" lvl="1">
              <a:lnSpc>
                <a:spcPts val="3798"/>
              </a:lnSpc>
              <a:buFont typeface="Arial"/>
              <a:buChar char="•"/>
            </a:pPr>
            <a:r>
              <a:rPr lang="en-US" b="true" sz="2899">
                <a:solidFill>
                  <a:srgbClr val="171C2A"/>
                </a:solidFill>
                <a:latin typeface="Helvetica World Bold"/>
                <a:ea typeface="Helvetica World Bold"/>
                <a:cs typeface="Helvetica World Bold"/>
                <a:sym typeface="Helvetica World Bold"/>
              </a:rPr>
              <a:t>Nous voulons le résultat le plus rapide et le glouton est pour cette tâche idéal.</a:t>
            </a:r>
          </a:p>
          <a:p>
            <a:pPr algn="l">
              <a:lnSpc>
                <a:spcPts val="3798"/>
              </a:lnSpc>
            </a:pPr>
          </a:p>
        </p:txBody>
      </p:sp>
      <p:sp>
        <p:nvSpPr>
          <p:cNvPr name="TextBox 22" id="22"/>
          <p:cNvSpPr txBox="true"/>
          <p:nvPr/>
        </p:nvSpPr>
        <p:spPr>
          <a:xfrm rot="0">
            <a:off x="7254240" y="1905000"/>
            <a:ext cx="10256520" cy="501650"/>
          </a:xfrm>
          <a:prstGeom prst="rect">
            <a:avLst/>
          </a:prstGeom>
        </p:spPr>
        <p:txBody>
          <a:bodyPr anchor="t" rtlCol="false" tIns="0" lIns="0" bIns="0" rIns="0">
            <a:spAutoFit/>
          </a:bodyPr>
          <a:lstStyle/>
          <a:p>
            <a:pPr algn="l">
              <a:lnSpc>
                <a:spcPts val="3600"/>
              </a:lnSpc>
            </a:pPr>
            <a:r>
              <a:rPr lang="en-US" sz="3000" b="true">
                <a:solidFill>
                  <a:srgbClr val="FFFFFF"/>
                </a:solidFill>
                <a:latin typeface="Helvetica World Bold"/>
                <a:ea typeface="Helvetica World Bold"/>
                <a:cs typeface="Helvetica World Bold"/>
                <a:sym typeface="Helvetica World Bold"/>
              </a:rPr>
              <a:t>  Pourquoi un Glouton par agent ?</a:t>
            </a:r>
          </a:p>
        </p:txBody>
      </p:sp>
      <p:sp>
        <p:nvSpPr>
          <p:cNvPr name="TextBox 23" id="23"/>
          <p:cNvSpPr txBox="true"/>
          <p:nvPr/>
        </p:nvSpPr>
        <p:spPr>
          <a:xfrm rot="0">
            <a:off x="777240" y="6481762"/>
            <a:ext cx="16733520" cy="474345"/>
          </a:xfrm>
          <a:prstGeom prst="rect">
            <a:avLst/>
          </a:prstGeom>
        </p:spPr>
        <p:txBody>
          <a:bodyPr anchor="t" rtlCol="false" tIns="0" lIns="0" bIns="0" rIns="0">
            <a:spAutoFit/>
          </a:bodyPr>
          <a:lstStyle/>
          <a:p>
            <a:pPr algn="l">
              <a:lnSpc>
                <a:spcPts val="3419"/>
              </a:lnSpc>
            </a:pPr>
            <a:r>
              <a:rPr lang="en-US" sz="2849" b="true">
                <a:solidFill>
                  <a:srgbClr val="171C2A"/>
                </a:solidFill>
                <a:latin typeface="Helvetica World Bold"/>
                <a:ea typeface="Helvetica World Bold"/>
                <a:cs typeface="Helvetica World Bold"/>
                <a:sym typeface="Helvetica World Bold"/>
              </a:rPr>
              <a:t>Dynamisme : chaque aléa relance une boucle de décision</a:t>
            </a:r>
          </a:p>
        </p:txBody>
      </p:sp>
      <p:grpSp>
        <p:nvGrpSpPr>
          <p:cNvPr name="Group 24" id="24"/>
          <p:cNvGrpSpPr/>
          <p:nvPr/>
        </p:nvGrpSpPr>
        <p:grpSpPr>
          <a:xfrm rot="0">
            <a:off x="777240" y="7158038"/>
            <a:ext cx="3683317" cy="1047750"/>
            <a:chOff x="0" y="0"/>
            <a:chExt cx="4911090" cy="1397000"/>
          </a:xfrm>
        </p:grpSpPr>
        <p:sp>
          <p:nvSpPr>
            <p:cNvPr name="Freeform 25" id="25"/>
            <p:cNvSpPr/>
            <p:nvPr/>
          </p:nvSpPr>
          <p:spPr>
            <a:xfrm flipH="false" flipV="false" rot="0">
              <a:off x="0" y="0"/>
              <a:ext cx="4911090" cy="1397000"/>
            </a:xfrm>
            <a:custGeom>
              <a:avLst/>
              <a:gdLst/>
              <a:ahLst/>
              <a:cxnLst/>
              <a:rect r="r" b="b" t="t" l="l"/>
              <a:pathLst>
                <a:path h="1397000" w="4911090">
                  <a:moveTo>
                    <a:pt x="0" y="119761"/>
                  </a:moveTo>
                  <a:cubicBezTo>
                    <a:pt x="0" y="53594"/>
                    <a:pt x="53594" y="0"/>
                    <a:pt x="119761" y="0"/>
                  </a:cubicBezTo>
                  <a:lnTo>
                    <a:pt x="4791329" y="0"/>
                  </a:lnTo>
                  <a:cubicBezTo>
                    <a:pt x="4857496" y="0"/>
                    <a:pt x="4911090" y="53594"/>
                    <a:pt x="4911090" y="119761"/>
                  </a:cubicBezTo>
                  <a:lnTo>
                    <a:pt x="4911090" y="1277239"/>
                  </a:lnTo>
                  <a:cubicBezTo>
                    <a:pt x="4911090" y="1343406"/>
                    <a:pt x="4857496" y="1397000"/>
                    <a:pt x="4791329" y="1397000"/>
                  </a:cubicBezTo>
                  <a:lnTo>
                    <a:pt x="119761" y="1397000"/>
                  </a:lnTo>
                  <a:cubicBezTo>
                    <a:pt x="53594" y="1397000"/>
                    <a:pt x="0" y="1343406"/>
                    <a:pt x="0" y="1277239"/>
                  </a:cubicBezTo>
                  <a:close/>
                </a:path>
              </a:pathLst>
            </a:custGeom>
            <a:solidFill>
              <a:srgbClr val="FFFFFF"/>
            </a:solidFill>
            <a:ln w="38100" cap="sq">
              <a:solidFill>
                <a:srgbClr val="2628ED"/>
              </a:solidFill>
              <a:prstDash val="solid"/>
              <a:miter/>
            </a:ln>
          </p:spPr>
        </p:sp>
        <p:sp>
          <p:nvSpPr>
            <p:cNvPr name="TextBox 26" id="26"/>
            <p:cNvSpPr txBox="true"/>
            <p:nvPr/>
          </p:nvSpPr>
          <p:spPr>
            <a:xfrm>
              <a:off x="0" y="-9525"/>
              <a:ext cx="4911090" cy="1406525"/>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5127308" y="7158038"/>
            <a:ext cx="3683317" cy="1047750"/>
            <a:chOff x="0" y="0"/>
            <a:chExt cx="4911090" cy="1397000"/>
          </a:xfrm>
        </p:grpSpPr>
        <p:sp>
          <p:nvSpPr>
            <p:cNvPr name="Freeform 28" id="28"/>
            <p:cNvSpPr/>
            <p:nvPr/>
          </p:nvSpPr>
          <p:spPr>
            <a:xfrm flipH="false" flipV="false" rot="0">
              <a:off x="0" y="0"/>
              <a:ext cx="4911090" cy="1397000"/>
            </a:xfrm>
            <a:custGeom>
              <a:avLst/>
              <a:gdLst/>
              <a:ahLst/>
              <a:cxnLst/>
              <a:rect r="r" b="b" t="t" l="l"/>
              <a:pathLst>
                <a:path h="1397000" w="4911090">
                  <a:moveTo>
                    <a:pt x="0" y="119761"/>
                  </a:moveTo>
                  <a:cubicBezTo>
                    <a:pt x="0" y="53594"/>
                    <a:pt x="53594" y="0"/>
                    <a:pt x="119761" y="0"/>
                  </a:cubicBezTo>
                  <a:lnTo>
                    <a:pt x="4791329" y="0"/>
                  </a:lnTo>
                  <a:cubicBezTo>
                    <a:pt x="4857496" y="0"/>
                    <a:pt x="4911090" y="53594"/>
                    <a:pt x="4911090" y="119761"/>
                  </a:cubicBezTo>
                  <a:lnTo>
                    <a:pt x="4911090" y="1277239"/>
                  </a:lnTo>
                  <a:cubicBezTo>
                    <a:pt x="4911090" y="1343406"/>
                    <a:pt x="4857496" y="1397000"/>
                    <a:pt x="4791329" y="1397000"/>
                  </a:cubicBezTo>
                  <a:lnTo>
                    <a:pt x="119761" y="1397000"/>
                  </a:lnTo>
                  <a:cubicBezTo>
                    <a:pt x="53594" y="1397000"/>
                    <a:pt x="0" y="1343406"/>
                    <a:pt x="0" y="1277239"/>
                  </a:cubicBezTo>
                  <a:close/>
                </a:path>
              </a:pathLst>
            </a:custGeom>
            <a:solidFill>
              <a:srgbClr val="FFFFFF"/>
            </a:solidFill>
            <a:ln w="38100" cap="sq">
              <a:solidFill>
                <a:srgbClr val="2628ED"/>
              </a:solidFill>
              <a:prstDash val="solid"/>
              <a:miter/>
            </a:ln>
          </p:spPr>
        </p:sp>
        <p:sp>
          <p:nvSpPr>
            <p:cNvPr name="TextBox 29" id="29"/>
            <p:cNvSpPr txBox="true"/>
            <p:nvPr/>
          </p:nvSpPr>
          <p:spPr>
            <a:xfrm>
              <a:off x="0" y="-9525"/>
              <a:ext cx="4911090" cy="1406525"/>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9477375" y="7158038"/>
            <a:ext cx="3683317" cy="1047750"/>
            <a:chOff x="0" y="0"/>
            <a:chExt cx="4911090" cy="1397000"/>
          </a:xfrm>
        </p:grpSpPr>
        <p:sp>
          <p:nvSpPr>
            <p:cNvPr name="Freeform 31" id="31"/>
            <p:cNvSpPr/>
            <p:nvPr/>
          </p:nvSpPr>
          <p:spPr>
            <a:xfrm flipH="false" flipV="false" rot="0">
              <a:off x="0" y="0"/>
              <a:ext cx="4911090" cy="1397000"/>
            </a:xfrm>
            <a:custGeom>
              <a:avLst/>
              <a:gdLst/>
              <a:ahLst/>
              <a:cxnLst/>
              <a:rect r="r" b="b" t="t" l="l"/>
              <a:pathLst>
                <a:path h="1397000" w="4911090">
                  <a:moveTo>
                    <a:pt x="0" y="119761"/>
                  </a:moveTo>
                  <a:cubicBezTo>
                    <a:pt x="0" y="53594"/>
                    <a:pt x="53594" y="0"/>
                    <a:pt x="119761" y="0"/>
                  </a:cubicBezTo>
                  <a:lnTo>
                    <a:pt x="4791329" y="0"/>
                  </a:lnTo>
                  <a:cubicBezTo>
                    <a:pt x="4857496" y="0"/>
                    <a:pt x="4911090" y="53594"/>
                    <a:pt x="4911090" y="119761"/>
                  </a:cubicBezTo>
                  <a:lnTo>
                    <a:pt x="4911090" y="1277239"/>
                  </a:lnTo>
                  <a:cubicBezTo>
                    <a:pt x="4911090" y="1343406"/>
                    <a:pt x="4857496" y="1397000"/>
                    <a:pt x="4791329" y="1397000"/>
                  </a:cubicBezTo>
                  <a:lnTo>
                    <a:pt x="119761" y="1397000"/>
                  </a:lnTo>
                  <a:cubicBezTo>
                    <a:pt x="53594" y="1397000"/>
                    <a:pt x="0" y="1343406"/>
                    <a:pt x="0" y="1277239"/>
                  </a:cubicBezTo>
                  <a:close/>
                </a:path>
              </a:pathLst>
            </a:custGeom>
            <a:solidFill>
              <a:srgbClr val="2628ED"/>
            </a:solidFill>
            <a:ln w="25432" cap="sq">
              <a:solidFill>
                <a:srgbClr val="2628ED"/>
              </a:solidFill>
              <a:prstDash val="solid"/>
              <a:miter/>
            </a:ln>
          </p:spPr>
        </p:sp>
        <p:sp>
          <p:nvSpPr>
            <p:cNvPr name="TextBox 32" id="32"/>
            <p:cNvSpPr txBox="true"/>
            <p:nvPr/>
          </p:nvSpPr>
          <p:spPr>
            <a:xfrm>
              <a:off x="0" y="-9525"/>
              <a:ext cx="4911090" cy="1406525"/>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13827443" y="7158038"/>
            <a:ext cx="3683317" cy="1047750"/>
            <a:chOff x="0" y="0"/>
            <a:chExt cx="4911090" cy="1397000"/>
          </a:xfrm>
        </p:grpSpPr>
        <p:sp>
          <p:nvSpPr>
            <p:cNvPr name="Freeform 34" id="34"/>
            <p:cNvSpPr/>
            <p:nvPr/>
          </p:nvSpPr>
          <p:spPr>
            <a:xfrm flipH="false" flipV="false" rot="0">
              <a:off x="0" y="0"/>
              <a:ext cx="4911090" cy="1397000"/>
            </a:xfrm>
            <a:custGeom>
              <a:avLst/>
              <a:gdLst/>
              <a:ahLst/>
              <a:cxnLst/>
              <a:rect r="r" b="b" t="t" l="l"/>
              <a:pathLst>
                <a:path h="1397000" w="4911090">
                  <a:moveTo>
                    <a:pt x="0" y="119761"/>
                  </a:moveTo>
                  <a:cubicBezTo>
                    <a:pt x="0" y="53594"/>
                    <a:pt x="53594" y="0"/>
                    <a:pt x="119761" y="0"/>
                  </a:cubicBezTo>
                  <a:lnTo>
                    <a:pt x="4791329" y="0"/>
                  </a:lnTo>
                  <a:cubicBezTo>
                    <a:pt x="4857496" y="0"/>
                    <a:pt x="4911090" y="53594"/>
                    <a:pt x="4911090" y="119761"/>
                  </a:cubicBezTo>
                  <a:lnTo>
                    <a:pt x="4911090" y="1277239"/>
                  </a:lnTo>
                  <a:cubicBezTo>
                    <a:pt x="4911090" y="1343406"/>
                    <a:pt x="4857496" y="1397000"/>
                    <a:pt x="4791329" y="1397000"/>
                  </a:cubicBezTo>
                  <a:lnTo>
                    <a:pt x="119761" y="1397000"/>
                  </a:lnTo>
                  <a:cubicBezTo>
                    <a:pt x="53594" y="1397000"/>
                    <a:pt x="0" y="1343406"/>
                    <a:pt x="0" y="1277239"/>
                  </a:cubicBezTo>
                  <a:close/>
                </a:path>
              </a:pathLst>
            </a:custGeom>
            <a:solidFill>
              <a:srgbClr val="FFFFFF"/>
            </a:solidFill>
            <a:ln w="38100" cap="sq">
              <a:solidFill>
                <a:srgbClr val="2628ED"/>
              </a:solidFill>
              <a:prstDash val="solid"/>
              <a:miter/>
            </a:ln>
          </p:spPr>
        </p:sp>
        <p:sp>
          <p:nvSpPr>
            <p:cNvPr name="TextBox 35" id="35"/>
            <p:cNvSpPr txBox="true"/>
            <p:nvPr/>
          </p:nvSpPr>
          <p:spPr>
            <a:xfrm>
              <a:off x="0" y="-9525"/>
              <a:ext cx="4911090" cy="1406525"/>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4555808" y="7539038"/>
            <a:ext cx="495300" cy="381000"/>
            <a:chOff x="0" y="0"/>
            <a:chExt cx="660400" cy="508000"/>
          </a:xfrm>
        </p:grpSpPr>
        <p:sp>
          <p:nvSpPr>
            <p:cNvPr name="Freeform 37" id="37"/>
            <p:cNvSpPr/>
            <p:nvPr/>
          </p:nvSpPr>
          <p:spPr>
            <a:xfrm flipH="false" flipV="false" rot="0">
              <a:off x="0" y="50800"/>
              <a:ext cx="660400" cy="406400"/>
            </a:xfrm>
            <a:custGeom>
              <a:avLst/>
              <a:gdLst/>
              <a:ahLst/>
              <a:cxnLst/>
              <a:rect r="r" b="b" t="t" l="l"/>
              <a:pathLst>
                <a:path h="406400" w="660400">
                  <a:moveTo>
                    <a:pt x="0" y="165100"/>
                  </a:moveTo>
                  <a:lnTo>
                    <a:pt x="381000" y="165100"/>
                  </a:lnTo>
                  <a:lnTo>
                    <a:pt x="381000" y="0"/>
                  </a:lnTo>
                  <a:lnTo>
                    <a:pt x="660400" y="203200"/>
                  </a:lnTo>
                  <a:lnTo>
                    <a:pt x="381000" y="406400"/>
                  </a:lnTo>
                  <a:lnTo>
                    <a:pt x="381000" y="241300"/>
                  </a:lnTo>
                  <a:lnTo>
                    <a:pt x="0" y="241300"/>
                  </a:lnTo>
                  <a:close/>
                </a:path>
              </a:pathLst>
            </a:custGeom>
            <a:solidFill>
              <a:srgbClr val="2628ED"/>
            </a:solidFill>
          </p:spPr>
        </p:sp>
        <p:sp>
          <p:nvSpPr>
            <p:cNvPr name="TextBox 38" id="38"/>
            <p:cNvSpPr txBox="true"/>
            <p:nvPr/>
          </p:nvSpPr>
          <p:spPr>
            <a:xfrm>
              <a:off x="0" y="-9525"/>
              <a:ext cx="660400" cy="517525"/>
            </a:xfrm>
            <a:prstGeom prst="rect">
              <a:avLst/>
            </a:prstGeom>
          </p:spPr>
          <p:txBody>
            <a:bodyPr anchor="ctr" rtlCol="false" tIns="50800" lIns="50800" bIns="50800" rIns="50800"/>
            <a:lstStyle/>
            <a:p>
              <a:pPr algn="l">
                <a:lnSpc>
                  <a:spcPts val="1679"/>
                </a:lnSpc>
              </a:pPr>
            </a:p>
          </p:txBody>
        </p:sp>
      </p:grpSp>
      <p:grpSp>
        <p:nvGrpSpPr>
          <p:cNvPr name="Group 39" id="39"/>
          <p:cNvGrpSpPr/>
          <p:nvPr/>
        </p:nvGrpSpPr>
        <p:grpSpPr>
          <a:xfrm rot="0">
            <a:off x="8905875" y="7539038"/>
            <a:ext cx="495300" cy="381000"/>
            <a:chOff x="0" y="0"/>
            <a:chExt cx="660400" cy="508000"/>
          </a:xfrm>
        </p:grpSpPr>
        <p:sp>
          <p:nvSpPr>
            <p:cNvPr name="Freeform 40" id="40"/>
            <p:cNvSpPr/>
            <p:nvPr/>
          </p:nvSpPr>
          <p:spPr>
            <a:xfrm flipH="false" flipV="false" rot="0">
              <a:off x="0" y="50800"/>
              <a:ext cx="660400" cy="406400"/>
            </a:xfrm>
            <a:custGeom>
              <a:avLst/>
              <a:gdLst/>
              <a:ahLst/>
              <a:cxnLst/>
              <a:rect r="r" b="b" t="t" l="l"/>
              <a:pathLst>
                <a:path h="406400" w="660400">
                  <a:moveTo>
                    <a:pt x="0" y="165100"/>
                  </a:moveTo>
                  <a:lnTo>
                    <a:pt x="381000" y="165100"/>
                  </a:lnTo>
                  <a:lnTo>
                    <a:pt x="381000" y="0"/>
                  </a:lnTo>
                  <a:lnTo>
                    <a:pt x="660400" y="203200"/>
                  </a:lnTo>
                  <a:lnTo>
                    <a:pt x="381000" y="406400"/>
                  </a:lnTo>
                  <a:lnTo>
                    <a:pt x="381000" y="241300"/>
                  </a:lnTo>
                  <a:lnTo>
                    <a:pt x="0" y="241300"/>
                  </a:lnTo>
                  <a:close/>
                </a:path>
              </a:pathLst>
            </a:custGeom>
            <a:solidFill>
              <a:srgbClr val="2628ED"/>
            </a:solidFill>
          </p:spPr>
        </p:sp>
        <p:sp>
          <p:nvSpPr>
            <p:cNvPr name="TextBox 41" id="41"/>
            <p:cNvSpPr txBox="true"/>
            <p:nvPr/>
          </p:nvSpPr>
          <p:spPr>
            <a:xfrm>
              <a:off x="0" y="-9525"/>
              <a:ext cx="660400" cy="517525"/>
            </a:xfrm>
            <a:prstGeom prst="rect">
              <a:avLst/>
            </a:prstGeom>
          </p:spPr>
          <p:txBody>
            <a:bodyPr anchor="ctr" rtlCol="false" tIns="50800" lIns="50800" bIns="50800" rIns="50800"/>
            <a:lstStyle/>
            <a:p>
              <a:pPr algn="l">
                <a:lnSpc>
                  <a:spcPts val="1679"/>
                </a:lnSpc>
              </a:pPr>
            </a:p>
          </p:txBody>
        </p:sp>
      </p:grpSp>
      <p:grpSp>
        <p:nvGrpSpPr>
          <p:cNvPr name="Group 42" id="42"/>
          <p:cNvGrpSpPr/>
          <p:nvPr/>
        </p:nvGrpSpPr>
        <p:grpSpPr>
          <a:xfrm rot="0">
            <a:off x="13255943" y="7539038"/>
            <a:ext cx="495300" cy="381000"/>
            <a:chOff x="0" y="0"/>
            <a:chExt cx="660400" cy="508000"/>
          </a:xfrm>
        </p:grpSpPr>
        <p:sp>
          <p:nvSpPr>
            <p:cNvPr name="Freeform 43" id="43"/>
            <p:cNvSpPr/>
            <p:nvPr/>
          </p:nvSpPr>
          <p:spPr>
            <a:xfrm flipH="false" flipV="false" rot="0">
              <a:off x="0" y="50800"/>
              <a:ext cx="660400" cy="406400"/>
            </a:xfrm>
            <a:custGeom>
              <a:avLst/>
              <a:gdLst/>
              <a:ahLst/>
              <a:cxnLst/>
              <a:rect r="r" b="b" t="t" l="l"/>
              <a:pathLst>
                <a:path h="406400" w="660400">
                  <a:moveTo>
                    <a:pt x="0" y="165100"/>
                  </a:moveTo>
                  <a:lnTo>
                    <a:pt x="381000" y="165100"/>
                  </a:lnTo>
                  <a:lnTo>
                    <a:pt x="381000" y="0"/>
                  </a:lnTo>
                  <a:lnTo>
                    <a:pt x="660400" y="203200"/>
                  </a:lnTo>
                  <a:lnTo>
                    <a:pt x="381000" y="406400"/>
                  </a:lnTo>
                  <a:lnTo>
                    <a:pt x="381000" y="241300"/>
                  </a:lnTo>
                  <a:lnTo>
                    <a:pt x="0" y="241300"/>
                  </a:lnTo>
                  <a:close/>
                </a:path>
              </a:pathLst>
            </a:custGeom>
            <a:solidFill>
              <a:srgbClr val="2628ED"/>
            </a:solidFill>
          </p:spPr>
        </p:sp>
        <p:sp>
          <p:nvSpPr>
            <p:cNvPr name="TextBox 44" id="44"/>
            <p:cNvSpPr txBox="true"/>
            <p:nvPr/>
          </p:nvSpPr>
          <p:spPr>
            <a:xfrm>
              <a:off x="0" y="-9525"/>
              <a:ext cx="660400" cy="517525"/>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777240" y="7270432"/>
            <a:ext cx="3683317" cy="463550"/>
          </a:xfrm>
          <a:prstGeom prst="rect">
            <a:avLst/>
          </a:prstGeom>
        </p:spPr>
        <p:txBody>
          <a:bodyPr anchor="t" rtlCol="false" tIns="0" lIns="0" bIns="0" rIns="0">
            <a:spAutoFit/>
          </a:bodyPr>
          <a:lstStyle/>
          <a:p>
            <a:pPr algn="ctr">
              <a:lnSpc>
                <a:spcPts val="3359"/>
              </a:lnSpc>
            </a:pPr>
            <a:r>
              <a:rPr lang="en-US" sz="2799" b="true">
                <a:solidFill>
                  <a:srgbClr val="171C2A"/>
                </a:solidFill>
                <a:latin typeface="Helvetica World Bold"/>
                <a:ea typeface="Helvetica World Bold"/>
                <a:cs typeface="Helvetica World Bold"/>
                <a:sym typeface="Helvetica World Bold"/>
              </a:rPr>
              <a:t>1 · Aléa</a:t>
            </a:r>
          </a:p>
        </p:txBody>
      </p:sp>
      <p:sp>
        <p:nvSpPr>
          <p:cNvPr name="TextBox 46" id="46"/>
          <p:cNvSpPr txBox="true"/>
          <p:nvPr/>
        </p:nvSpPr>
        <p:spPr>
          <a:xfrm rot="0">
            <a:off x="5127308" y="7270432"/>
            <a:ext cx="3683317" cy="463550"/>
          </a:xfrm>
          <a:prstGeom prst="rect">
            <a:avLst/>
          </a:prstGeom>
        </p:spPr>
        <p:txBody>
          <a:bodyPr anchor="t" rtlCol="false" tIns="0" lIns="0" bIns="0" rIns="0">
            <a:spAutoFit/>
          </a:bodyPr>
          <a:lstStyle/>
          <a:p>
            <a:pPr algn="ctr">
              <a:lnSpc>
                <a:spcPts val="3359"/>
              </a:lnSpc>
            </a:pPr>
            <a:r>
              <a:rPr lang="en-US" sz="2799" b="true">
                <a:solidFill>
                  <a:srgbClr val="171C2A"/>
                </a:solidFill>
                <a:latin typeface="Helvetica World Bold"/>
                <a:ea typeface="Helvetica World Bold"/>
                <a:cs typeface="Helvetica World Bold"/>
                <a:sym typeface="Helvetica World Bold"/>
              </a:rPr>
              <a:t>2 · Messages</a:t>
            </a:r>
          </a:p>
        </p:txBody>
      </p:sp>
      <p:sp>
        <p:nvSpPr>
          <p:cNvPr name="TextBox 47" id="47"/>
          <p:cNvSpPr txBox="true"/>
          <p:nvPr/>
        </p:nvSpPr>
        <p:spPr>
          <a:xfrm rot="0">
            <a:off x="9477375" y="7270432"/>
            <a:ext cx="3683317" cy="463550"/>
          </a:xfrm>
          <a:prstGeom prst="rect">
            <a:avLst/>
          </a:prstGeom>
        </p:spPr>
        <p:txBody>
          <a:bodyPr anchor="t" rtlCol="false" tIns="0" lIns="0" bIns="0" rIns="0">
            <a:spAutoFit/>
          </a:bodyPr>
          <a:lstStyle/>
          <a:p>
            <a:pPr algn="ctr">
              <a:lnSpc>
                <a:spcPts val="3359"/>
              </a:lnSpc>
            </a:pPr>
            <a:r>
              <a:rPr lang="en-US" sz="2799" b="true">
                <a:solidFill>
                  <a:srgbClr val="FFFFFF"/>
                </a:solidFill>
                <a:latin typeface="Helvetica World Bold"/>
                <a:ea typeface="Helvetica World Bold"/>
                <a:cs typeface="Helvetica World Bold"/>
                <a:sym typeface="Helvetica World Bold"/>
              </a:rPr>
              <a:t>3 · Glouton</a:t>
            </a:r>
          </a:p>
        </p:txBody>
      </p:sp>
      <p:sp>
        <p:nvSpPr>
          <p:cNvPr name="TextBox 48" id="48"/>
          <p:cNvSpPr txBox="true"/>
          <p:nvPr/>
        </p:nvSpPr>
        <p:spPr>
          <a:xfrm rot="0">
            <a:off x="13827443" y="7270432"/>
            <a:ext cx="3683317" cy="463550"/>
          </a:xfrm>
          <a:prstGeom prst="rect">
            <a:avLst/>
          </a:prstGeom>
        </p:spPr>
        <p:txBody>
          <a:bodyPr anchor="t" rtlCol="false" tIns="0" lIns="0" bIns="0" rIns="0">
            <a:spAutoFit/>
          </a:bodyPr>
          <a:lstStyle/>
          <a:p>
            <a:pPr algn="ctr">
              <a:lnSpc>
                <a:spcPts val="3359"/>
              </a:lnSpc>
            </a:pPr>
            <a:r>
              <a:rPr lang="en-US" sz="2799" b="true">
                <a:solidFill>
                  <a:srgbClr val="171C2A"/>
                </a:solidFill>
                <a:latin typeface="Helvetica World Bold"/>
                <a:ea typeface="Helvetica World Bold"/>
                <a:cs typeface="Helvetica World Bold"/>
                <a:sym typeface="Helvetica World Bold"/>
              </a:rPr>
              <a:t>4 · Arbitrage</a:t>
            </a:r>
          </a:p>
        </p:txBody>
      </p:sp>
      <p:sp>
        <p:nvSpPr>
          <p:cNvPr name="TextBox 49" id="49"/>
          <p:cNvSpPr txBox="true"/>
          <p:nvPr/>
        </p:nvSpPr>
        <p:spPr>
          <a:xfrm rot="0">
            <a:off x="777240" y="7727632"/>
            <a:ext cx="3683317" cy="333375"/>
          </a:xfrm>
          <a:prstGeom prst="rect">
            <a:avLst/>
          </a:prstGeom>
        </p:spPr>
        <p:txBody>
          <a:bodyPr anchor="t" rtlCol="false" tIns="0" lIns="0" bIns="0" rIns="0">
            <a:spAutoFit/>
          </a:bodyPr>
          <a:lstStyle/>
          <a:p>
            <a:pPr algn="ctr">
              <a:lnSpc>
                <a:spcPts val="2699"/>
              </a:lnSpc>
            </a:pPr>
            <a:r>
              <a:rPr lang="en-US" sz="2249">
                <a:solidFill>
                  <a:srgbClr val="171C2A"/>
                </a:solidFill>
                <a:latin typeface="Helvetica World"/>
                <a:ea typeface="Helvetica World"/>
                <a:cs typeface="Helvetica World"/>
                <a:sym typeface="Helvetica World"/>
              </a:rPr>
              <a:t>urgence, panne, annulation</a:t>
            </a:r>
          </a:p>
        </p:txBody>
      </p:sp>
      <p:sp>
        <p:nvSpPr>
          <p:cNvPr name="TextBox 50" id="50"/>
          <p:cNvSpPr txBox="true"/>
          <p:nvPr/>
        </p:nvSpPr>
        <p:spPr>
          <a:xfrm rot="0">
            <a:off x="5127308" y="7727632"/>
            <a:ext cx="3683317" cy="352425"/>
          </a:xfrm>
          <a:prstGeom prst="rect">
            <a:avLst/>
          </a:prstGeom>
        </p:spPr>
        <p:txBody>
          <a:bodyPr anchor="t" rtlCol="false" tIns="0" lIns="0" bIns="0" rIns="0">
            <a:spAutoFit/>
          </a:bodyPr>
          <a:lstStyle/>
          <a:p>
            <a:pPr algn="ctr">
              <a:lnSpc>
                <a:spcPts val="2819"/>
              </a:lnSpc>
            </a:pPr>
            <a:r>
              <a:rPr lang="en-US" sz="2349">
                <a:solidFill>
                  <a:srgbClr val="171C2A"/>
                </a:solidFill>
                <a:latin typeface="Helvetica World"/>
                <a:ea typeface="Helvetica World"/>
                <a:cs typeface="Helvetica World"/>
                <a:sym typeface="Helvetica World"/>
              </a:rPr>
              <a:t>entre agents, journalisés</a:t>
            </a:r>
          </a:p>
        </p:txBody>
      </p:sp>
      <p:sp>
        <p:nvSpPr>
          <p:cNvPr name="TextBox 51" id="51"/>
          <p:cNvSpPr txBox="true"/>
          <p:nvPr/>
        </p:nvSpPr>
        <p:spPr>
          <a:xfrm rot="0">
            <a:off x="9477375" y="7727632"/>
            <a:ext cx="3683317" cy="352425"/>
          </a:xfrm>
          <a:prstGeom prst="rect">
            <a:avLst/>
          </a:prstGeom>
        </p:spPr>
        <p:txBody>
          <a:bodyPr anchor="t" rtlCol="false" tIns="0" lIns="0" bIns="0" rIns="0">
            <a:spAutoFit/>
          </a:bodyPr>
          <a:lstStyle/>
          <a:p>
            <a:pPr algn="ctr">
              <a:lnSpc>
                <a:spcPts val="2819"/>
              </a:lnSpc>
            </a:pPr>
            <a:r>
              <a:rPr lang="en-US" sz="2349">
                <a:solidFill>
                  <a:srgbClr val="FFFFFF"/>
                </a:solidFill>
                <a:latin typeface="Helvetica World"/>
                <a:ea typeface="Helvetica World"/>
                <a:cs typeface="Helvetica World"/>
                <a:sym typeface="Helvetica World"/>
              </a:rPr>
              <a:t>4 plans max. par salle</a:t>
            </a:r>
          </a:p>
        </p:txBody>
      </p:sp>
      <p:sp>
        <p:nvSpPr>
          <p:cNvPr name="TextBox 52" id="52"/>
          <p:cNvSpPr txBox="true"/>
          <p:nvPr/>
        </p:nvSpPr>
        <p:spPr>
          <a:xfrm rot="0">
            <a:off x="13827443" y="7727632"/>
            <a:ext cx="3683317" cy="352425"/>
          </a:xfrm>
          <a:prstGeom prst="rect">
            <a:avLst/>
          </a:prstGeom>
        </p:spPr>
        <p:txBody>
          <a:bodyPr anchor="t" rtlCol="false" tIns="0" lIns="0" bIns="0" rIns="0">
            <a:spAutoFit/>
          </a:bodyPr>
          <a:lstStyle/>
          <a:p>
            <a:pPr algn="ctr">
              <a:lnSpc>
                <a:spcPts val="2819"/>
              </a:lnSpc>
            </a:pPr>
            <a:r>
              <a:rPr lang="en-US" sz="2349">
                <a:solidFill>
                  <a:srgbClr val="171C2A"/>
                </a:solidFill>
                <a:latin typeface="Helvetica World"/>
                <a:ea typeface="Helvetica World"/>
                <a:cs typeface="Helvetica World"/>
                <a:sym typeface="Helvetica World"/>
              </a:rPr>
              <a:t>le moins coûteux appliqué</a:t>
            </a:r>
          </a:p>
        </p:txBody>
      </p:sp>
      <p:grpSp>
        <p:nvGrpSpPr>
          <p:cNvPr name="Group 53" id="53"/>
          <p:cNvGrpSpPr/>
          <p:nvPr/>
        </p:nvGrpSpPr>
        <p:grpSpPr>
          <a:xfrm rot="0">
            <a:off x="723900" y="5524500"/>
            <a:ext cx="247650" cy="285750"/>
            <a:chOff x="0" y="0"/>
            <a:chExt cx="330200" cy="381000"/>
          </a:xfrm>
        </p:grpSpPr>
        <p:sp>
          <p:nvSpPr>
            <p:cNvPr name="Freeform 54" id="54"/>
            <p:cNvSpPr/>
            <p:nvPr/>
          </p:nvSpPr>
          <p:spPr>
            <a:xfrm flipH="false" flipV="false" rot="0">
              <a:off x="0" y="0"/>
              <a:ext cx="330200" cy="381000"/>
            </a:xfrm>
            <a:custGeom>
              <a:avLst/>
              <a:gdLst/>
              <a:ahLst/>
              <a:cxnLst/>
              <a:rect r="r" b="b" t="t" l="l"/>
              <a:pathLst>
                <a:path h="381000" w="330200">
                  <a:moveTo>
                    <a:pt x="0" y="0"/>
                  </a:moveTo>
                  <a:lnTo>
                    <a:pt x="330200" y="0"/>
                  </a:lnTo>
                  <a:lnTo>
                    <a:pt x="330200" y="381000"/>
                  </a:lnTo>
                  <a:lnTo>
                    <a:pt x="0" y="381000"/>
                  </a:lnTo>
                  <a:close/>
                </a:path>
              </a:pathLst>
            </a:custGeom>
            <a:solidFill>
              <a:srgbClr val="FFFFFF"/>
            </a:solidFill>
          </p:spPr>
        </p:sp>
        <p:sp>
          <p:nvSpPr>
            <p:cNvPr name="TextBox 55" id="55"/>
            <p:cNvSpPr txBox="true"/>
            <p:nvPr/>
          </p:nvSpPr>
          <p:spPr>
            <a:xfrm>
              <a:off x="0" y="-9525"/>
              <a:ext cx="330200" cy="390525"/>
            </a:xfrm>
            <a:prstGeom prst="rect">
              <a:avLst/>
            </a:prstGeom>
          </p:spPr>
          <p:txBody>
            <a:bodyPr anchor="ctr" rtlCol="false" tIns="50800" lIns="50800" bIns="50800" rIns="50800"/>
            <a:lstStyle/>
            <a:p>
              <a:pPr algn="l">
                <a:lnSpc>
                  <a:spcPts val="1679"/>
                </a:lnSpc>
              </a:pPr>
            </a:p>
          </p:txBody>
        </p:sp>
      </p:grpSp>
      <p:grpSp>
        <p:nvGrpSpPr>
          <p:cNvPr name="Group 56" id="56"/>
          <p:cNvGrpSpPr/>
          <p:nvPr/>
        </p:nvGrpSpPr>
        <p:grpSpPr>
          <a:xfrm rot="0">
            <a:off x="777240" y="1695450"/>
            <a:ext cx="6096000" cy="4377366"/>
            <a:chOff x="0" y="0"/>
            <a:chExt cx="8128000" cy="5836488"/>
          </a:xfrm>
        </p:grpSpPr>
        <p:sp>
          <p:nvSpPr>
            <p:cNvPr name="Freeform 57" id="57"/>
            <p:cNvSpPr/>
            <p:nvPr/>
          </p:nvSpPr>
          <p:spPr>
            <a:xfrm flipH="false" flipV="false" rot="0">
              <a:off x="0" y="0"/>
              <a:ext cx="8128000" cy="5836539"/>
            </a:xfrm>
            <a:custGeom>
              <a:avLst/>
              <a:gdLst/>
              <a:ahLst/>
              <a:cxnLst/>
              <a:rect r="r" b="b" t="t" l="l"/>
              <a:pathLst>
                <a:path h="5836539" w="8128000">
                  <a:moveTo>
                    <a:pt x="0" y="0"/>
                  </a:moveTo>
                  <a:lnTo>
                    <a:pt x="8128000" y="0"/>
                  </a:lnTo>
                  <a:lnTo>
                    <a:pt x="8128000" y="5836539"/>
                  </a:lnTo>
                  <a:lnTo>
                    <a:pt x="0" y="5836539"/>
                  </a:lnTo>
                  <a:lnTo>
                    <a:pt x="0" y="0"/>
                  </a:lnTo>
                  <a:close/>
                </a:path>
              </a:pathLst>
            </a:custGeom>
            <a:blipFill>
              <a:blip r:embed="rId10"/>
              <a:stretch>
                <a:fillRect l="-8" t="0" r="-8" b="0"/>
              </a:stretch>
            </a:blipFill>
          </p:spPr>
        </p:sp>
      </p:grpSp>
      <p:sp>
        <p:nvSpPr>
          <p:cNvPr name="TextBox 58" id="5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ADAPTER : LES URGENCES</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777240" y="1969083"/>
            <a:ext cx="3794760" cy="871188"/>
            <a:chOff x="0" y="0"/>
            <a:chExt cx="5059680" cy="1161584"/>
          </a:xfrm>
        </p:grpSpPr>
        <p:sp>
          <p:nvSpPr>
            <p:cNvPr name="Freeform 8" id="8"/>
            <p:cNvSpPr/>
            <p:nvPr/>
          </p:nvSpPr>
          <p:spPr>
            <a:xfrm flipH="false" flipV="false" rot="0">
              <a:off x="0" y="0"/>
              <a:ext cx="5059680" cy="1161584"/>
            </a:xfrm>
            <a:custGeom>
              <a:avLst/>
              <a:gdLst/>
              <a:ahLst/>
              <a:cxnLst/>
              <a:rect r="r" b="b" t="t" l="l"/>
              <a:pathLst>
                <a:path h="1161584" w="5059680">
                  <a:moveTo>
                    <a:pt x="0" y="0"/>
                  </a:moveTo>
                  <a:lnTo>
                    <a:pt x="5059680" y="0"/>
                  </a:lnTo>
                  <a:lnTo>
                    <a:pt x="5059680" y="1161584"/>
                  </a:lnTo>
                  <a:lnTo>
                    <a:pt x="0" y="1161584"/>
                  </a:lnTo>
                  <a:close/>
                </a:path>
              </a:pathLst>
            </a:custGeom>
            <a:solidFill>
              <a:srgbClr val="171C2A"/>
            </a:solidFill>
          </p:spPr>
        </p:sp>
        <p:sp>
          <p:nvSpPr>
            <p:cNvPr name="TextBox 9" id="9"/>
            <p:cNvSpPr txBox="true"/>
            <p:nvPr/>
          </p:nvSpPr>
          <p:spPr>
            <a:xfrm>
              <a:off x="0" y="9525"/>
              <a:ext cx="505968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1 · Triage</a:t>
              </a:r>
            </a:p>
          </p:txBody>
        </p:sp>
      </p:grpSp>
      <p:grpSp>
        <p:nvGrpSpPr>
          <p:cNvPr name="Group 10" id="10"/>
          <p:cNvGrpSpPr/>
          <p:nvPr/>
        </p:nvGrpSpPr>
        <p:grpSpPr>
          <a:xfrm rot="0">
            <a:off x="777240" y="2834445"/>
            <a:ext cx="3794760" cy="3082547"/>
            <a:chOff x="0" y="0"/>
            <a:chExt cx="5059680" cy="4110063"/>
          </a:xfrm>
        </p:grpSpPr>
        <p:sp>
          <p:nvSpPr>
            <p:cNvPr name="Freeform 11" id="11"/>
            <p:cNvSpPr/>
            <p:nvPr/>
          </p:nvSpPr>
          <p:spPr>
            <a:xfrm flipH="false" flipV="false" rot="0">
              <a:off x="0" y="0"/>
              <a:ext cx="5059680" cy="4110101"/>
            </a:xfrm>
            <a:custGeom>
              <a:avLst/>
              <a:gdLst/>
              <a:ahLst/>
              <a:cxnLst/>
              <a:rect r="r" b="b" t="t" l="l"/>
              <a:pathLst>
                <a:path h="4110101" w="5059680">
                  <a:moveTo>
                    <a:pt x="0" y="0"/>
                  </a:moveTo>
                  <a:lnTo>
                    <a:pt x="5059680" y="0"/>
                  </a:lnTo>
                  <a:lnTo>
                    <a:pt x="5059680" y="4110101"/>
                  </a:lnTo>
                  <a:lnTo>
                    <a:pt x="0" y="4110101"/>
                  </a:lnTo>
                  <a:close/>
                </a:path>
              </a:pathLst>
            </a:custGeom>
            <a:solidFill>
              <a:srgbClr val="F2F8F6"/>
            </a:solidFill>
          </p:spPr>
        </p:sp>
      </p:grpSp>
      <p:sp>
        <p:nvSpPr>
          <p:cNvPr name="TextBox 12" id="12"/>
          <p:cNvSpPr txBox="true"/>
          <p:nvPr/>
        </p:nvSpPr>
        <p:spPr>
          <a:xfrm rot="0">
            <a:off x="978408" y="2999037"/>
            <a:ext cx="3392424" cy="2057400"/>
          </a:xfrm>
          <a:prstGeom prst="rect">
            <a:avLst/>
          </a:prstGeom>
        </p:spPr>
        <p:txBody>
          <a:bodyPr anchor="t" rtlCol="false" tIns="0" lIns="0" bIns="0" rIns="0">
            <a:spAutoFit/>
          </a:bodyPr>
          <a:lstStyle/>
          <a:p>
            <a:pPr algn="l">
              <a:lnSpc>
                <a:spcPts val="3840"/>
              </a:lnSpc>
            </a:pPr>
            <a:r>
              <a:rPr lang="en-US" sz="3200">
                <a:solidFill>
                  <a:srgbClr val="171C2A"/>
                </a:solidFill>
                <a:latin typeface="Helvetica World"/>
                <a:ea typeface="Helvetica World"/>
                <a:cs typeface="Helvetica World"/>
                <a:sym typeface="Helvetica World"/>
              </a:rPr>
              <a:t>F</a:t>
            </a:r>
            <a:r>
              <a:rPr lang="en-US" sz="3200">
                <a:solidFill>
                  <a:srgbClr val="171C2A"/>
                </a:solidFill>
                <a:latin typeface="Helvetica World"/>
                <a:ea typeface="Helvetica World"/>
                <a:cs typeface="Helvetica World"/>
                <a:sym typeface="Helvetica World"/>
              </a:rPr>
              <a:t>ixe le délai maximal : </a:t>
            </a:r>
            <a:r>
              <a:rPr lang="en-US" sz="3200" b="true">
                <a:solidFill>
                  <a:srgbClr val="171C2A"/>
                </a:solidFill>
                <a:latin typeface="Helvetica World Bold"/>
                <a:ea typeface="Helvetica World Bold"/>
                <a:cs typeface="Helvetica World Bold"/>
                <a:sym typeface="Helvetica World Bold"/>
              </a:rPr>
              <a:t>vitale 1 h</a:t>
            </a:r>
            <a:r>
              <a:rPr lang="en-US" sz="3200">
                <a:solidFill>
                  <a:srgbClr val="171C2A"/>
                </a:solidFill>
                <a:latin typeface="Helvetica World"/>
                <a:ea typeface="Helvetica World"/>
                <a:cs typeface="Helvetica World"/>
                <a:sym typeface="Helvetica World"/>
              </a:rPr>
              <a:t>, </a:t>
            </a:r>
            <a:r>
              <a:rPr lang="en-US" sz="3200" b="true">
                <a:solidFill>
                  <a:srgbClr val="171C2A"/>
                </a:solidFill>
                <a:latin typeface="Helvetica World Bold"/>
                <a:ea typeface="Helvetica World Bold"/>
                <a:cs typeface="Helvetica World Bold"/>
                <a:sym typeface="Helvetica World Bold"/>
              </a:rPr>
              <a:t>urgente 6 h</a:t>
            </a:r>
            <a:r>
              <a:rPr lang="en-US" sz="3200">
                <a:solidFill>
                  <a:srgbClr val="171C2A"/>
                </a:solidFill>
                <a:latin typeface="Helvetica World"/>
                <a:ea typeface="Helvetica World"/>
                <a:cs typeface="Helvetica World"/>
                <a:sym typeface="Helvetica World"/>
              </a:rPr>
              <a:t>, </a:t>
            </a:r>
            <a:r>
              <a:rPr lang="en-US" sz="3200" b="true">
                <a:solidFill>
                  <a:srgbClr val="171C2A"/>
                </a:solidFill>
                <a:latin typeface="Helvetica World Bold"/>
                <a:ea typeface="Helvetica World Bold"/>
                <a:cs typeface="Helvetica World Bold"/>
                <a:sym typeface="Helvetica World Bold"/>
              </a:rPr>
              <a:t>différable 24 h</a:t>
            </a:r>
          </a:p>
        </p:txBody>
      </p:sp>
      <p:grpSp>
        <p:nvGrpSpPr>
          <p:cNvPr name="Group 13" id="13"/>
          <p:cNvGrpSpPr/>
          <p:nvPr/>
        </p:nvGrpSpPr>
        <p:grpSpPr>
          <a:xfrm rot="0">
            <a:off x="5090465" y="1969083"/>
            <a:ext cx="3794760" cy="871188"/>
            <a:chOff x="0" y="0"/>
            <a:chExt cx="5059680" cy="1161584"/>
          </a:xfrm>
        </p:grpSpPr>
        <p:sp>
          <p:nvSpPr>
            <p:cNvPr name="Freeform 14" id="14"/>
            <p:cNvSpPr/>
            <p:nvPr/>
          </p:nvSpPr>
          <p:spPr>
            <a:xfrm flipH="false" flipV="false" rot="0">
              <a:off x="0" y="0"/>
              <a:ext cx="5059680" cy="1161584"/>
            </a:xfrm>
            <a:custGeom>
              <a:avLst/>
              <a:gdLst/>
              <a:ahLst/>
              <a:cxnLst/>
              <a:rect r="r" b="b" t="t" l="l"/>
              <a:pathLst>
                <a:path h="1161584" w="5059680">
                  <a:moveTo>
                    <a:pt x="0" y="0"/>
                  </a:moveTo>
                  <a:lnTo>
                    <a:pt x="5059680" y="0"/>
                  </a:lnTo>
                  <a:lnTo>
                    <a:pt x="5059680" y="1161584"/>
                  </a:lnTo>
                  <a:lnTo>
                    <a:pt x="0" y="1161584"/>
                  </a:lnTo>
                  <a:close/>
                </a:path>
              </a:pathLst>
            </a:custGeom>
            <a:solidFill>
              <a:srgbClr val="171C2A"/>
            </a:solidFill>
          </p:spPr>
        </p:sp>
        <p:sp>
          <p:nvSpPr>
            <p:cNvPr name="TextBox 15" id="15"/>
            <p:cNvSpPr txBox="true"/>
            <p:nvPr/>
          </p:nvSpPr>
          <p:spPr>
            <a:xfrm>
              <a:off x="0" y="9525"/>
              <a:ext cx="505968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2 · Appel d'offres</a:t>
              </a:r>
            </a:p>
          </p:txBody>
        </p:sp>
      </p:grpSp>
      <p:grpSp>
        <p:nvGrpSpPr>
          <p:cNvPr name="Group 16" id="16"/>
          <p:cNvGrpSpPr/>
          <p:nvPr/>
        </p:nvGrpSpPr>
        <p:grpSpPr>
          <a:xfrm rot="0">
            <a:off x="5090465" y="2834445"/>
            <a:ext cx="3794760" cy="3082547"/>
            <a:chOff x="0" y="0"/>
            <a:chExt cx="5059680" cy="4110063"/>
          </a:xfrm>
        </p:grpSpPr>
        <p:sp>
          <p:nvSpPr>
            <p:cNvPr name="Freeform 17" id="17"/>
            <p:cNvSpPr/>
            <p:nvPr/>
          </p:nvSpPr>
          <p:spPr>
            <a:xfrm flipH="false" flipV="false" rot="0">
              <a:off x="0" y="0"/>
              <a:ext cx="5059680" cy="4110101"/>
            </a:xfrm>
            <a:custGeom>
              <a:avLst/>
              <a:gdLst/>
              <a:ahLst/>
              <a:cxnLst/>
              <a:rect r="r" b="b" t="t" l="l"/>
              <a:pathLst>
                <a:path h="4110101" w="5059680">
                  <a:moveTo>
                    <a:pt x="0" y="0"/>
                  </a:moveTo>
                  <a:lnTo>
                    <a:pt x="5059680" y="0"/>
                  </a:lnTo>
                  <a:lnTo>
                    <a:pt x="5059680" y="4110101"/>
                  </a:lnTo>
                  <a:lnTo>
                    <a:pt x="0" y="4110101"/>
                  </a:lnTo>
                  <a:close/>
                </a:path>
              </a:pathLst>
            </a:custGeom>
            <a:solidFill>
              <a:srgbClr val="F2F8F6"/>
            </a:solidFill>
          </p:spPr>
        </p:sp>
      </p:grpSp>
      <p:sp>
        <p:nvSpPr>
          <p:cNvPr name="TextBox 18" id="18"/>
          <p:cNvSpPr txBox="true"/>
          <p:nvPr/>
        </p:nvSpPr>
        <p:spPr>
          <a:xfrm rot="0">
            <a:off x="5291633" y="2999037"/>
            <a:ext cx="3392424" cy="1546225"/>
          </a:xfrm>
          <a:prstGeom prst="rect">
            <a:avLst/>
          </a:prstGeom>
        </p:spPr>
        <p:txBody>
          <a:bodyPr anchor="t" rtlCol="false" tIns="0" lIns="0" bIns="0" rIns="0">
            <a:spAutoFit/>
          </a:bodyPr>
          <a:lstStyle/>
          <a:p>
            <a:pPr algn="l">
              <a:lnSpc>
                <a:spcPts val="3840"/>
              </a:lnSpc>
            </a:pPr>
            <a:r>
              <a:rPr lang="en-US" sz="3200">
                <a:solidFill>
                  <a:srgbClr val="171C2A"/>
                </a:solidFill>
                <a:latin typeface="Helvetica World"/>
                <a:ea typeface="Helvetica World"/>
                <a:cs typeface="Helvetica World"/>
                <a:sym typeface="Helvetica World"/>
              </a:rPr>
              <a:t>La R</a:t>
            </a:r>
            <a:r>
              <a:rPr lang="en-US" sz="3200">
                <a:solidFill>
                  <a:srgbClr val="171C2A"/>
                </a:solidFill>
                <a:latin typeface="Helvetica World"/>
                <a:ea typeface="Helvetica World"/>
                <a:cs typeface="Helvetica World"/>
                <a:sym typeface="Helvetica World"/>
              </a:rPr>
              <a:t>égulation interroge </a:t>
            </a:r>
            <a:r>
              <a:rPr lang="en-US" sz="3200" b="true">
                <a:solidFill>
                  <a:srgbClr val="171C2A"/>
                </a:solidFill>
                <a:latin typeface="Helvetica World Bold"/>
                <a:ea typeface="Helvetica World Bold"/>
                <a:cs typeface="Helvetica World Bold"/>
                <a:sym typeface="Helvetica World Bold"/>
              </a:rPr>
              <a:t>tous les agents</a:t>
            </a:r>
          </a:p>
        </p:txBody>
      </p:sp>
      <p:sp>
        <p:nvSpPr>
          <p:cNvPr name="AutoShape 19" id="19"/>
          <p:cNvSpPr/>
          <p:nvPr/>
        </p:nvSpPr>
        <p:spPr>
          <a:xfrm>
            <a:off x="4572000" y="4063992"/>
            <a:ext cx="490206" cy="0"/>
          </a:xfrm>
          <a:prstGeom prst="line">
            <a:avLst/>
          </a:prstGeom>
          <a:ln cap="rnd" w="38100">
            <a:solidFill>
              <a:srgbClr val="171C2A"/>
            </a:solidFill>
            <a:prstDash val="solid"/>
            <a:headEnd type="none" len="sm" w="sm"/>
            <a:tailEnd type="triangle" len="med" w="lg"/>
          </a:ln>
        </p:spPr>
      </p:sp>
      <p:grpSp>
        <p:nvGrpSpPr>
          <p:cNvPr name="Group 20" id="20"/>
          <p:cNvGrpSpPr/>
          <p:nvPr/>
        </p:nvGrpSpPr>
        <p:grpSpPr>
          <a:xfrm rot="0">
            <a:off x="9403690" y="1969083"/>
            <a:ext cx="3794760" cy="871188"/>
            <a:chOff x="0" y="0"/>
            <a:chExt cx="5059680" cy="1161584"/>
          </a:xfrm>
        </p:grpSpPr>
        <p:sp>
          <p:nvSpPr>
            <p:cNvPr name="Freeform 21" id="21"/>
            <p:cNvSpPr/>
            <p:nvPr/>
          </p:nvSpPr>
          <p:spPr>
            <a:xfrm flipH="false" flipV="false" rot="0">
              <a:off x="0" y="0"/>
              <a:ext cx="5059680" cy="1161584"/>
            </a:xfrm>
            <a:custGeom>
              <a:avLst/>
              <a:gdLst/>
              <a:ahLst/>
              <a:cxnLst/>
              <a:rect r="r" b="b" t="t" l="l"/>
              <a:pathLst>
                <a:path h="1161584" w="5059680">
                  <a:moveTo>
                    <a:pt x="0" y="0"/>
                  </a:moveTo>
                  <a:lnTo>
                    <a:pt x="5059680" y="0"/>
                  </a:lnTo>
                  <a:lnTo>
                    <a:pt x="5059680" y="1161584"/>
                  </a:lnTo>
                  <a:lnTo>
                    <a:pt x="0" y="1161584"/>
                  </a:lnTo>
                  <a:close/>
                </a:path>
              </a:pathLst>
            </a:custGeom>
            <a:solidFill>
              <a:srgbClr val="171C2A"/>
            </a:solidFill>
          </p:spPr>
        </p:sp>
        <p:sp>
          <p:nvSpPr>
            <p:cNvPr name="TextBox 22" id="22"/>
            <p:cNvSpPr txBox="true"/>
            <p:nvPr/>
          </p:nvSpPr>
          <p:spPr>
            <a:xfrm>
              <a:off x="0" y="9525"/>
              <a:ext cx="505968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3 · Propositions</a:t>
              </a:r>
            </a:p>
          </p:txBody>
        </p:sp>
      </p:grpSp>
      <p:grpSp>
        <p:nvGrpSpPr>
          <p:cNvPr name="Group 23" id="23"/>
          <p:cNvGrpSpPr/>
          <p:nvPr/>
        </p:nvGrpSpPr>
        <p:grpSpPr>
          <a:xfrm rot="0">
            <a:off x="9403690" y="2834445"/>
            <a:ext cx="3794760" cy="3082547"/>
            <a:chOff x="0" y="0"/>
            <a:chExt cx="5059680" cy="4110063"/>
          </a:xfrm>
        </p:grpSpPr>
        <p:sp>
          <p:nvSpPr>
            <p:cNvPr name="Freeform 24" id="24"/>
            <p:cNvSpPr/>
            <p:nvPr/>
          </p:nvSpPr>
          <p:spPr>
            <a:xfrm flipH="false" flipV="false" rot="0">
              <a:off x="0" y="0"/>
              <a:ext cx="5059680" cy="4110101"/>
            </a:xfrm>
            <a:custGeom>
              <a:avLst/>
              <a:gdLst/>
              <a:ahLst/>
              <a:cxnLst/>
              <a:rect r="r" b="b" t="t" l="l"/>
              <a:pathLst>
                <a:path h="4110101" w="5059680">
                  <a:moveTo>
                    <a:pt x="0" y="0"/>
                  </a:moveTo>
                  <a:lnTo>
                    <a:pt x="5059680" y="0"/>
                  </a:lnTo>
                  <a:lnTo>
                    <a:pt x="5059680" y="4110101"/>
                  </a:lnTo>
                  <a:lnTo>
                    <a:pt x="0" y="4110101"/>
                  </a:lnTo>
                  <a:close/>
                </a:path>
              </a:pathLst>
            </a:custGeom>
            <a:solidFill>
              <a:srgbClr val="F2F8F6"/>
            </a:solidFill>
          </p:spPr>
        </p:sp>
      </p:grpSp>
      <p:sp>
        <p:nvSpPr>
          <p:cNvPr name="TextBox 25" id="25"/>
          <p:cNvSpPr txBox="true"/>
          <p:nvPr/>
        </p:nvSpPr>
        <p:spPr>
          <a:xfrm rot="0">
            <a:off x="9604858" y="2999037"/>
            <a:ext cx="3392424" cy="1546225"/>
          </a:xfrm>
          <a:prstGeom prst="rect">
            <a:avLst/>
          </a:prstGeom>
        </p:spPr>
        <p:txBody>
          <a:bodyPr anchor="t" rtlCol="false" tIns="0" lIns="0" bIns="0" rIns="0">
            <a:spAutoFit/>
          </a:bodyPr>
          <a:lstStyle/>
          <a:p>
            <a:pPr algn="l">
              <a:lnSpc>
                <a:spcPts val="3840"/>
              </a:lnSpc>
            </a:pPr>
            <a:r>
              <a:rPr lang="en-US" sz="3200">
                <a:solidFill>
                  <a:srgbClr val="171C2A"/>
                </a:solidFill>
                <a:latin typeface="Helvetica World"/>
                <a:ea typeface="Helvetica World"/>
                <a:cs typeface="Helvetica World"/>
                <a:sym typeface="Helvetica World"/>
              </a:rPr>
              <a:t>C</a:t>
            </a:r>
            <a:r>
              <a:rPr lang="en-US" sz="3200">
                <a:solidFill>
                  <a:srgbClr val="171C2A"/>
                </a:solidFill>
                <a:latin typeface="Helvetica World"/>
                <a:ea typeface="Helvetica World"/>
                <a:cs typeface="Helvetica World"/>
                <a:sym typeface="Helvetica World"/>
              </a:rPr>
              <a:t>haque agent renvoie </a:t>
            </a:r>
            <a:r>
              <a:rPr lang="en-US" sz="3200" b="true">
                <a:solidFill>
                  <a:srgbClr val="171C2A"/>
                </a:solidFill>
                <a:latin typeface="Helvetica World Bold"/>
                <a:ea typeface="Helvetica World Bold"/>
                <a:cs typeface="Helvetica World Bold"/>
                <a:sym typeface="Helvetica World Bold"/>
              </a:rPr>
              <a:t>jusqu'à 4 plans chiffrés</a:t>
            </a:r>
          </a:p>
        </p:txBody>
      </p:sp>
      <p:sp>
        <p:nvSpPr>
          <p:cNvPr name="AutoShape 26" id="26"/>
          <p:cNvSpPr/>
          <p:nvPr/>
        </p:nvSpPr>
        <p:spPr>
          <a:xfrm>
            <a:off x="8885225" y="4063992"/>
            <a:ext cx="490206" cy="0"/>
          </a:xfrm>
          <a:prstGeom prst="line">
            <a:avLst/>
          </a:prstGeom>
          <a:ln cap="rnd" w="38100">
            <a:solidFill>
              <a:srgbClr val="171C2A"/>
            </a:solidFill>
            <a:prstDash val="solid"/>
            <a:headEnd type="none" len="sm" w="sm"/>
            <a:tailEnd type="triangle" len="med" w="lg"/>
          </a:ln>
        </p:spPr>
      </p:sp>
      <p:grpSp>
        <p:nvGrpSpPr>
          <p:cNvPr name="Group 27" id="27"/>
          <p:cNvGrpSpPr/>
          <p:nvPr/>
        </p:nvGrpSpPr>
        <p:grpSpPr>
          <a:xfrm rot="0">
            <a:off x="13716914" y="1969083"/>
            <a:ext cx="3794760" cy="871188"/>
            <a:chOff x="0" y="0"/>
            <a:chExt cx="5059680" cy="1161584"/>
          </a:xfrm>
        </p:grpSpPr>
        <p:sp>
          <p:nvSpPr>
            <p:cNvPr name="Freeform 28" id="28"/>
            <p:cNvSpPr/>
            <p:nvPr/>
          </p:nvSpPr>
          <p:spPr>
            <a:xfrm flipH="false" flipV="false" rot="0">
              <a:off x="0" y="0"/>
              <a:ext cx="5059680" cy="1161584"/>
            </a:xfrm>
            <a:custGeom>
              <a:avLst/>
              <a:gdLst/>
              <a:ahLst/>
              <a:cxnLst/>
              <a:rect r="r" b="b" t="t" l="l"/>
              <a:pathLst>
                <a:path h="1161584" w="5059680">
                  <a:moveTo>
                    <a:pt x="0" y="0"/>
                  </a:moveTo>
                  <a:lnTo>
                    <a:pt x="5059680" y="0"/>
                  </a:lnTo>
                  <a:lnTo>
                    <a:pt x="5059680" y="1161584"/>
                  </a:lnTo>
                  <a:lnTo>
                    <a:pt x="0" y="1161584"/>
                  </a:lnTo>
                  <a:close/>
                </a:path>
              </a:pathLst>
            </a:custGeom>
            <a:solidFill>
              <a:srgbClr val="2628ED"/>
            </a:solidFill>
          </p:spPr>
        </p:sp>
        <p:sp>
          <p:nvSpPr>
            <p:cNvPr name="TextBox 29" id="29"/>
            <p:cNvSpPr txBox="true"/>
            <p:nvPr/>
          </p:nvSpPr>
          <p:spPr>
            <a:xfrm>
              <a:off x="0" y="9525"/>
              <a:ext cx="505968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4 · Validation</a:t>
              </a:r>
            </a:p>
          </p:txBody>
        </p:sp>
      </p:grpSp>
      <p:grpSp>
        <p:nvGrpSpPr>
          <p:cNvPr name="Group 30" id="30"/>
          <p:cNvGrpSpPr/>
          <p:nvPr/>
        </p:nvGrpSpPr>
        <p:grpSpPr>
          <a:xfrm rot="0">
            <a:off x="13716914" y="2834445"/>
            <a:ext cx="3794760" cy="3082547"/>
            <a:chOff x="0" y="0"/>
            <a:chExt cx="5059680" cy="4110063"/>
          </a:xfrm>
        </p:grpSpPr>
        <p:sp>
          <p:nvSpPr>
            <p:cNvPr name="Freeform 31" id="31"/>
            <p:cNvSpPr/>
            <p:nvPr/>
          </p:nvSpPr>
          <p:spPr>
            <a:xfrm flipH="false" flipV="false" rot="0">
              <a:off x="0" y="0"/>
              <a:ext cx="5059680" cy="4110101"/>
            </a:xfrm>
            <a:custGeom>
              <a:avLst/>
              <a:gdLst/>
              <a:ahLst/>
              <a:cxnLst/>
              <a:rect r="r" b="b" t="t" l="l"/>
              <a:pathLst>
                <a:path h="4110101" w="5059680">
                  <a:moveTo>
                    <a:pt x="0" y="0"/>
                  </a:moveTo>
                  <a:lnTo>
                    <a:pt x="5059680" y="0"/>
                  </a:lnTo>
                  <a:lnTo>
                    <a:pt x="5059680" y="4110101"/>
                  </a:lnTo>
                  <a:lnTo>
                    <a:pt x="0" y="4110101"/>
                  </a:lnTo>
                  <a:close/>
                </a:path>
              </a:pathLst>
            </a:custGeom>
            <a:solidFill>
              <a:srgbClr val="F2F8F6"/>
            </a:solidFill>
          </p:spPr>
        </p:sp>
      </p:grpSp>
      <p:sp>
        <p:nvSpPr>
          <p:cNvPr name="TextBox 32" id="32"/>
          <p:cNvSpPr txBox="true"/>
          <p:nvPr/>
        </p:nvSpPr>
        <p:spPr>
          <a:xfrm rot="0">
            <a:off x="13918082" y="2999037"/>
            <a:ext cx="3392424" cy="2543175"/>
          </a:xfrm>
          <a:prstGeom prst="rect">
            <a:avLst/>
          </a:prstGeom>
        </p:spPr>
        <p:txBody>
          <a:bodyPr anchor="t" rtlCol="false" tIns="0" lIns="0" bIns="0" rIns="0">
            <a:spAutoFit/>
          </a:bodyPr>
          <a:lstStyle/>
          <a:p>
            <a:pPr algn="l">
              <a:lnSpc>
                <a:spcPts val="3840"/>
              </a:lnSpc>
            </a:pPr>
            <a:r>
              <a:rPr lang="en-US" sz="3200">
                <a:solidFill>
                  <a:srgbClr val="171C2A"/>
                </a:solidFill>
                <a:latin typeface="Helvetica World"/>
                <a:ea typeface="Helvetica World"/>
                <a:cs typeface="Helvetica World"/>
                <a:sym typeface="Helvetica World"/>
              </a:rPr>
              <a:t>C</a:t>
            </a:r>
            <a:r>
              <a:rPr lang="en-US" sz="3200">
                <a:solidFill>
                  <a:srgbClr val="171C2A"/>
                </a:solidFill>
                <a:latin typeface="Helvetica World"/>
                <a:ea typeface="Helvetica World"/>
                <a:cs typeface="Helvetica World"/>
                <a:sym typeface="Helvetica World"/>
              </a:rPr>
              <a:t>hirurgien et hébergement valident ; </a:t>
            </a:r>
            <a:r>
              <a:rPr lang="en-US" sz="3200" b="true">
                <a:solidFill>
                  <a:srgbClr val="171C2A"/>
                </a:solidFill>
                <a:latin typeface="Helvetica World Bold"/>
                <a:ea typeface="Helvetica World Bold"/>
                <a:cs typeface="Helvetica World Bold"/>
                <a:sym typeface="Helvetica World Bold"/>
              </a:rPr>
              <a:t>le moins coûteux est appliqué</a:t>
            </a:r>
          </a:p>
        </p:txBody>
      </p:sp>
      <p:sp>
        <p:nvSpPr>
          <p:cNvPr name="AutoShape 33" id="33"/>
          <p:cNvSpPr/>
          <p:nvPr/>
        </p:nvSpPr>
        <p:spPr>
          <a:xfrm>
            <a:off x="13198450" y="4063992"/>
            <a:ext cx="490206" cy="0"/>
          </a:xfrm>
          <a:prstGeom prst="line">
            <a:avLst/>
          </a:prstGeom>
          <a:ln cap="rnd" w="38100">
            <a:solidFill>
              <a:srgbClr val="171C2A"/>
            </a:solidFill>
            <a:prstDash val="solid"/>
            <a:headEnd type="none" len="sm" w="sm"/>
            <a:tailEnd type="triangle" len="med" w="lg"/>
          </a:ln>
        </p:spPr>
      </p:sp>
      <p:grpSp>
        <p:nvGrpSpPr>
          <p:cNvPr name="Group 34" id="34"/>
          <p:cNvGrpSpPr/>
          <p:nvPr/>
        </p:nvGrpSpPr>
        <p:grpSpPr>
          <a:xfrm rot="0">
            <a:off x="453390" y="9699939"/>
            <a:ext cx="2230494" cy="396881"/>
            <a:chOff x="0" y="0"/>
            <a:chExt cx="2973991" cy="529175"/>
          </a:xfrm>
        </p:grpSpPr>
        <p:sp>
          <p:nvSpPr>
            <p:cNvPr name="Freeform 35" id="35"/>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6" id="36"/>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8" id="38"/>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9" id="39"/>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40" id="40"/>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41" id="41"/>
          <p:cNvSpPr txBox="true"/>
          <p:nvPr/>
        </p:nvSpPr>
        <p:spPr>
          <a:xfrm rot="0">
            <a:off x="769925" y="8199909"/>
            <a:ext cx="1846864" cy="442478"/>
          </a:xfrm>
          <a:prstGeom prst="rect">
            <a:avLst/>
          </a:prstGeom>
        </p:spPr>
        <p:txBody>
          <a:bodyPr anchor="t" rtlCol="false" tIns="0" lIns="0" bIns="0" rIns="0">
            <a:spAutoFit/>
          </a:bodyPr>
          <a:lstStyle/>
          <a:p>
            <a:pPr algn="ctr">
              <a:lnSpc>
                <a:spcPts val="3514"/>
              </a:lnSpc>
            </a:pPr>
            <a:r>
              <a:rPr lang="en-US" b="true" sz="2928">
                <a:solidFill>
                  <a:srgbClr val="171C2A"/>
                </a:solidFill>
                <a:latin typeface="Inter Ultra-Bold"/>
                <a:ea typeface="Inter Ultra-Bold"/>
                <a:cs typeface="Inter Ultra-Bold"/>
                <a:sym typeface="Inter Ultra-Bold"/>
              </a:rPr>
              <a:t>faible</a:t>
            </a:r>
          </a:p>
        </p:txBody>
      </p:sp>
      <p:sp>
        <p:nvSpPr>
          <p:cNvPr name="TextBox 42" id="42"/>
          <p:cNvSpPr txBox="true"/>
          <p:nvPr/>
        </p:nvSpPr>
        <p:spPr>
          <a:xfrm rot="0">
            <a:off x="15153661" y="8199909"/>
            <a:ext cx="1846864" cy="442478"/>
          </a:xfrm>
          <a:prstGeom prst="rect">
            <a:avLst/>
          </a:prstGeom>
        </p:spPr>
        <p:txBody>
          <a:bodyPr anchor="t" rtlCol="false" tIns="0" lIns="0" bIns="0" rIns="0">
            <a:spAutoFit/>
          </a:bodyPr>
          <a:lstStyle/>
          <a:p>
            <a:pPr algn="ctr">
              <a:lnSpc>
                <a:spcPts val="3514"/>
              </a:lnSpc>
            </a:pPr>
            <a:r>
              <a:rPr lang="en-US" b="true" sz="2928">
                <a:solidFill>
                  <a:srgbClr val="171C2A"/>
                </a:solidFill>
                <a:latin typeface="Inter Ultra-Bold"/>
                <a:ea typeface="Inter Ultra-Bold"/>
                <a:cs typeface="Inter Ultra-Bold"/>
                <a:sym typeface="Inter Ultra-Bold"/>
              </a:rPr>
              <a:t>maximal</a:t>
            </a:r>
          </a:p>
        </p:txBody>
      </p:sp>
      <p:sp>
        <p:nvSpPr>
          <p:cNvPr name="AutoShape 43" id="43"/>
          <p:cNvSpPr/>
          <p:nvPr/>
        </p:nvSpPr>
        <p:spPr>
          <a:xfrm>
            <a:off x="2559074" y="8394549"/>
            <a:ext cx="12491985" cy="26599"/>
          </a:xfrm>
          <a:prstGeom prst="line">
            <a:avLst/>
          </a:prstGeom>
          <a:ln cap="rnd" w="76200">
            <a:solidFill>
              <a:srgbClr val="171C2A"/>
            </a:solidFill>
            <a:prstDash val="solid"/>
            <a:headEnd type="none" len="sm" w="sm"/>
            <a:tailEnd type="triangle" len="med" w="lg"/>
          </a:ln>
        </p:spPr>
      </p:sp>
      <p:grpSp>
        <p:nvGrpSpPr>
          <p:cNvPr name="Group 44" id="44"/>
          <p:cNvGrpSpPr/>
          <p:nvPr/>
        </p:nvGrpSpPr>
        <p:grpSpPr>
          <a:xfrm rot="0">
            <a:off x="2568599" y="6797781"/>
            <a:ext cx="1566366" cy="1536648"/>
            <a:chOff x="0" y="0"/>
            <a:chExt cx="2088487" cy="2048865"/>
          </a:xfrm>
        </p:grpSpPr>
        <p:sp>
          <p:nvSpPr>
            <p:cNvPr name="TextBox 45" id="45"/>
            <p:cNvSpPr txBox="true"/>
            <p:nvPr/>
          </p:nvSpPr>
          <p:spPr>
            <a:xfrm rot="0">
              <a:off x="0" y="-9525"/>
              <a:ext cx="2088487" cy="984259"/>
            </a:xfrm>
            <a:prstGeom prst="rect">
              <a:avLst/>
            </a:prstGeom>
          </p:spPr>
          <p:txBody>
            <a:bodyPr anchor="t" rtlCol="false" tIns="0" lIns="0" bIns="0" rIns="0">
              <a:spAutoFit/>
            </a:bodyPr>
            <a:lstStyle/>
            <a:p>
              <a:pPr algn="ctr">
                <a:lnSpc>
                  <a:spcPts val="2908"/>
                </a:lnSpc>
              </a:pPr>
              <a:r>
                <a:rPr lang="en-US" b="true" sz="2423">
                  <a:solidFill>
                    <a:srgbClr val="171C2A"/>
                  </a:solidFill>
                  <a:latin typeface="Inter Bold"/>
                  <a:ea typeface="Inter Bold"/>
                  <a:cs typeface="Inter Bold"/>
                  <a:sym typeface="Inter Bold"/>
                </a:rPr>
                <a:t>Avancer</a:t>
              </a:r>
            </a:p>
            <a:p>
              <a:pPr algn="ctr">
                <a:lnSpc>
                  <a:spcPts val="2908"/>
                </a:lnSpc>
              </a:pPr>
              <a:r>
                <a:rPr lang="en-US" b="true" sz="2423">
                  <a:solidFill>
                    <a:srgbClr val="171C2A"/>
                  </a:solidFill>
                  <a:latin typeface="Inter Bold"/>
                  <a:ea typeface="Inter Bold"/>
                  <a:cs typeface="Inter Bold"/>
                  <a:sym typeface="Inter Bold"/>
                </a:rPr>
                <a:t>un patient</a:t>
              </a:r>
            </a:p>
          </p:txBody>
        </p:sp>
        <p:sp>
          <p:nvSpPr>
            <p:cNvPr name="AutoShape 46" id="46"/>
            <p:cNvSpPr/>
            <p:nvPr/>
          </p:nvSpPr>
          <p:spPr>
            <a:xfrm flipH="true">
              <a:off x="1044244" y="974734"/>
              <a:ext cx="0" cy="1074131"/>
            </a:xfrm>
            <a:prstGeom prst="line">
              <a:avLst/>
            </a:prstGeom>
            <a:ln cap="flat" w="38100">
              <a:solidFill>
                <a:srgbClr val="171C2A"/>
              </a:solidFill>
              <a:prstDash val="sysDot"/>
              <a:headEnd type="none" len="sm" w="sm"/>
              <a:tailEnd type="none" len="sm" w="sm"/>
            </a:ln>
          </p:spPr>
        </p:sp>
      </p:grpSp>
      <p:grpSp>
        <p:nvGrpSpPr>
          <p:cNvPr name="Group 47" id="47"/>
          <p:cNvGrpSpPr/>
          <p:nvPr/>
        </p:nvGrpSpPr>
        <p:grpSpPr>
          <a:xfrm rot="0">
            <a:off x="4969602" y="7023830"/>
            <a:ext cx="1752517" cy="1332243"/>
            <a:chOff x="0" y="0"/>
            <a:chExt cx="2336690" cy="1776324"/>
          </a:xfrm>
        </p:grpSpPr>
        <p:sp>
          <p:nvSpPr>
            <p:cNvPr name="TextBox 48" id="48"/>
            <p:cNvSpPr txBox="true"/>
            <p:nvPr/>
          </p:nvSpPr>
          <p:spPr>
            <a:xfrm rot="0">
              <a:off x="0" y="-9525"/>
              <a:ext cx="2336690" cy="496892"/>
            </a:xfrm>
            <a:prstGeom prst="rect">
              <a:avLst/>
            </a:prstGeom>
          </p:spPr>
          <p:txBody>
            <a:bodyPr anchor="t" rtlCol="false" tIns="0" lIns="0" bIns="0" rIns="0">
              <a:spAutoFit/>
            </a:bodyPr>
            <a:lstStyle/>
            <a:p>
              <a:pPr algn="ctr">
                <a:lnSpc>
                  <a:spcPts val="2908"/>
                </a:lnSpc>
              </a:pPr>
              <a:r>
                <a:rPr lang="en-US" b="true" sz="2423">
                  <a:solidFill>
                    <a:srgbClr val="171C2A"/>
                  </a:solidFill>
                  <a:latin typeface="Inter Bold"/>
                  <a:ea typeface="Inter Bold"/>
                  <a:cs typeface="Inter Bold"/>
                  <a:sym typeface="Inter Bold"/>
                </a:rPr>
                <a:t>Le retarder</a:t>
              </a:r>
            </a:p>
          </p:txBody>
        </p:sp>
        <p:sp>
          <p:nvSpPr>
            <p:cNvPr name="AutoShape 49" id="49"/>
            <p:cNvSpPr/>
            <p:nvPr/>
          </p:nvSpPr>
          <p:spPr>
            <a:xfrm>
              <a:off x="1168345" y="487367"/>
              <a:ext cx="0" cy="1288957"/>
            </a:xfrm>
            <a:prstGeom prst="line">
              <a:avLst/>
            </a:prstGeom>
            <a:ln cap="flat" w="38100">
              <a:solidFill>
                <a:srgbClr val="171C2A"/>
              </a:solidFill>
              <a:prstDash val="sysDot"/>
              <a:headEnd type="none" len="sm" w="sm"/>
              <a:tailEnd type="none" len="sm" w="sm"/>
            </a:ln>
          </p:spPr>
        </p:sp>
      </p:grpSp>
      <p:grpSp>
        <p:nvGrpSpPr>
          <p:cNvPr name="Group 50" id="50"/>
          <p:cNvGrpSpPr/>
          <p:nvPr/>
        </p:nvGrpSpPr>
        <p:grpSpPr>
          <a:xfrm rot="0">
            <a:off x="7560319" y="6526189"/>
            <a:ext cx="1665758" cy="1894959"/>
            <a:chOff x="0" y="0"/>
            <a:chExt cx="2221010" cy="2526612"/>
          </a:xfrm>
        </p:grpSpPr>
        <p:sp>
          <p:nvSpPr>
            <p:cNvPr name="TextBox 51" id="51"/>
            <p:cNvSpPr txBox="true"/>
            <p:nvPr/>
          </p:nvSpPr>
          <p:spPr>
            <a:xfrm rot="0">
              <a:off x="0" y="-9525"/>
              <a:ext cx="2221010" cy="1471626"/>
            </a:xfrm>
            <a:prstGeom prst="rect">
              <a:avLst/>
            </a:prstGeom>
          </p:spPr>
          <p:txBody>
            <a:bodyPr anchor="t" rtlCol="false" tIns="0" lIns="0" bIns="0" rIns="0">
              <a:spAutoFit/>
            </a:bodyPr>
            <a:lstStyle/>
            <a:p>
              <a:pPr algn="ctr">
                <a:lnSpc>
                  <a:spcPts val="2908"/>
                </a:lnSpc>
              </a:pPr>
              <a:r>
                <a:rPr lang="en-US" b="true" sz="2423">
                  <a:solidFill>
                    <a:srgbClr val="171C2A"/>
                  </a:solidFill>
                  <a:latin typeface="Inter Bold"/>
                  <a:ea typeface="Inter Bold"/>
                  <a:cs typeface="Inter Bold"/>
                  <a:sym typeface="Inter Bold"/>
                </a:rPr>
                <a:t>Le reporter</a:t>
              </a:r>
            </a:p>
            <a:p>
              <a:pPr algn="ctr">
                <a:lnSpc>
                  <a:spcPts val="2908"/>
                </a:lnSpc>
              </a:pPr>
              <a:r>
                <a:rPr lang="en-US" b="true" sz="2423">
                  <a:solidFill>
                    <a:srgbClr val="171C2A"/>
                  </a:solidFill>
                  <a:latin typeface="Inter Bold"/>
                  <a:ea typeface="Inter Bold"/>
                  <a:cs typeface="Inter Bold"/>
                  <a:sym typeface="Inter Bold"/>
                </a:rPr>
                <a:t>à un autre  jour</a:t>
              </a:r>
            </a:p>
          </p:txBody>
        </p:sp>
        <p:sp>
          <p:nvSpPr>
            <p:cNvPr name="AutoShape 52" id="52"/>
            <p:cNvSpPr/>
            <p:nvPr/>
          </p:nvSpPr>
          <p:spPr>
            <a:xfrm>
              <a:off x="1110505" y="1462101"/>
              <a:ext cx="0" cy="1064512"/>
            </a:xfrm>
            <a:prstGeom prst="line">
              <a:avLst/>
            </a:prstGeom>
            <a:ln cap="flat" w="38100">
              <a:solidFill>
                <a:srgbClr val="171C2A"/>
              </a:solidFill>
              <a:prstDash val="sysDot"/>
              <a:headEnd type="none" len="sm" w="sm"/>
              <a:tailEnd type="none" len="sm" w="sm"/>
            </a:ln>
          </p:spPr>
        </p:sp>
      </p:grpSp>
      <p:grpSp>
        <p:nvGrpSpPr>
          <p:cNvPr name="Group 53" id="53"/>
          <p:cNvGrpSpPr/>
          <p:nvPr/>
        </p:nvGrpSpPr>
        <p:grpSpPr>
          <a:xfrm rot="0">
            <a:off x="10057152" y="6629447"/>
            <a:ext cx="2005419" cy="1765102"/>
            <a:chOff x="0" y="0"/>
            <a:chExt cx="2673892" cy="2353469"/>
          </a:xfrm>
        </p:grpSpPr>
        <p:sp>
          <p:nvSpPr>
            <p:cNvPr name="TextBox 54" id="54"/>
            <p:cNvSpPr txBox="true"/>
            <p:nvPr/>
          </p:nvSpPr>
          <p:spPr>
            <a:xfrm rot="0">
              <a:off x="0" y="-9525"/>
              <a:ext cx="2673892" cy="1471626"/>
            </a:xfrm>
            <a:prstGeom prst="rect">
              <a:avLst/>
            </a:prstGeom>
          </p:spPr>
          <p:txBody>
            <a:bodyPr anchor="t" rtlCol="false" tIns="0" lIns="0" bIns="0" rIns="0">
              <a:spAutoFit/>
            </a:bodyPr>
            <a:lstStyle/>
            <a:p>
              <a:pPr algn="ctr">
                <a:lnSpc>
                  <a:spcPts val="2908"/>
                </a:lnSpc>
              </a:pPr>
              <a:r>
                <a:rPr lang="en-US" b="true" sz="2423">
                  <a:solidFill>
                    <a:srgbClr val="171C2A"/>
                  </a:solidFill>
                  <a:latin typeface="Inter Bold"/>
                  <a:ea typeface="Inter Bold"/>
                  <a:cs typeface="Inter Bold"/>
                  <a:sym typeface="Inter Bold"/>
                </a:rPr>
                <a:t>Rappeler un</a:t>
              </a:r>
            </a:p>
            <a:p>
              <a:pPr algn="ctr">
                <a:lnSpc>
                  <a:spcPts val="2908"/>
                </a:lnSpc>
              </a:pPr>
              <a:r>
                <a:rPr lang="en-US" b="true" sz="2423">
                  <a:solidFill>
                    <a:srgbClr val="171C2A"/>
                  </a:solidFill>
                  <a:latin typeface="Inter Bold"/>
                  <a:ea typeface="Inter Bold"/>
                  <a:cs typeface="Inter Bold"/>
                  <a:sym typeface="Inter Bold"/>
                </a:rPr>
                <a:t>chirurgien d'astreinte</a:t>
              </a:r>
            </a:p>
          </p:txBody>
        </p:sp>
        <p:sp>
          <p:nvSpPr>
            <p:cNvPr name="AutoShape 55" id="55"/>
            <p:cNvSpPr/>
            <p:nvPr/>
          </p:nvSpPr>
          <p:spPr>
            <a:xfrm>
              <a:off x="1336946" y="1462101"/>
              <a:ext cx="0" cy="891368"/>
            </a:xfrm>
            <a:prstGeom prst="line">
              <a:avLst/>
            </a:prstGeom>
            <a:ln cap="flat" w="38100">
              <a:solidFill>
                <a:srgbClr val="171C2A"/>
              </a:solidFill>
              <a:prstDash val="sysDot"/>
              <a:headEnd type="none" len="sm" w="sm"/>
              <a:tailEnd type="none" len="sm" w="sm"/>
            </a:ln>
          </p:spPr>
        </p:sp>
      </p:grpSp>
      <p:grpSp>
        <p:nvGrpSpPr>
          <p:cNvPr name="Group 56" id="56"/>
          <p:cNvGrpSpPr/>
          <p:nvPr/>
        </p:nvGrpSpPr>
        <p:grpSpPr>
          <a:xfrm rot="0">
            <a:off x="12897208" y="6804996"/>
            <a:ext cx="2513426" cy="1551077"/>
            <a:chOff x="0" y="0"/>
            <a:chExt cx="3351235" cy="2068103"/>
          </a:xfrm>
        </p:grpSpPr>
        <p:sp>
          <p:nvSpPr>
            <p:cNvPr name="TextBox 57" id="57"/>
            <p:cNvSpPr txBox="true"/>
            <p:nvPr/>
          </p:nvSpPr>
          <p:spPr>
            <a:xfrm rot="0">
              <a:off x="0" y="-9525"/>
              <a:ext cx="3351235" cy="984259"/>
            </a:xfrm>
            <a:prstGeom prst="rect">
              <a:avLst/>
            </a:prstGeom>
          </p:spPr>
          <p:txBody>
            <a:bodyPr anchor="t" rtlCol="false" tIns="0" lIns="0" bIns="0" rIns="0">
              <a:spAutoFit/>
            </a:bodyPr>
            <a:lstStyle/>
            <a:p>
              <a:pPr algn="ctr">
                <a:lnSpc>
                  <a:spcPts val="2908"/>
                </a:lnSpc>
              </a:pPr>
              <a:r>
                <a:rPr lang="en-US" b="true" sz="2423">
                  <a:solidFill>
                    <a:srgbClr val="171C2A"/>
                  </a:solidFill>
                  <a:latin typeface="Inter Bold"/>
                  <a:ea typeface="Inter Bold"/>
                  <a:cs typeface="Inter Bold"/>
                  <a:sym typeface="Inter Bold"/>
                </a:rPr>
                <a:t>Déprogrammer,</a:t>
              </a:r>
            </a:p>
            <a:p>
              <a:pPr algn="ctr">
                <a:lnSpc>
                  <a:spcPts val="2908"/>
                </a:lnSpc>
              </a:pPr>
              <a:r>
                <a:rPr lang="en-US" b="true" sz="2423">
                  <a:solidFill>
                    <a:srgbClr val="171C2A"/>
                  </a:solidFill>
                  <a:latin typeface="Inter Bold"/>
                  <a:ea typeface="Inter Bold"/>
                  <a:cs typeface="Inter Bold"/>
                  <a:sym typeface="Inter Bold"/>
                </a:rPr>
                <a:t>dépasser les lits</a:t>
              </a:r>
            </a:p>
          </p:txBody>
        </p:sp>
        <p:sp>
          <p:nvSpPr>
            <p:cNvPr name="AutoShape 58" id="58"/>
            <p:cNvSpPr/>
            <p:nvPr/>
          </p:nvSpPr>
          <p:spPr>
            <a:xfrm flipH="true">
              <a:off x="1675617" y="974734"/>
              <a:ext cx="0" cy="1093369"/>
            </a:xfrm>
            <a:prstGeom prst="line">
              <a:avLst/>
            </a:prstGeom>
            <a:ln cap="flat" w="38100">
              <a:solidFill>
                <a:srgbClr val="171C2A"/>
              </a:solidFill>
              <a:prstDash val="sysDot"/>
              <a:headEnd type="none" len="sm" w="sm"/>
              <a:tailEnd type="none" len="sm" w="sm"/>
            </a:ln>
          </p:spPr>
        </p:sp>
      </p:grpSp>
      <p:sp>
        <p:nvSpPr>
          <p:cNvPr name="TextBox 59" id="59"/>
          <p:cNvSpPr txBox="true"/>
          <p:nvPr/>
        </p:nvSpPr>
        <p:spPr>
          <a:xfrm rot="0">
            <a:off x="1959486" y="8766686"/>
            <a:ext cx="13851478" cy="781050"/>
          </a:xfrm>
          <a:prstGeom prst="rect">
            <a:avLst/>
          </a:prstGeom>
        </p:spPr>
        <p:txBody>
          <a:bodyPr anchor="t" rtlCol="false" tIns="0" lIns="0" bIns="0" rIns="0">
            <a:spAutoFit/>
          </a:bodyPr>
          <a:lstStyle/>
          <a:p>
            <a:pPr algn="ctr">
              <a:lnSpc>
                <a:spcPts val="3120"/>
              </a:lnSpc>
            </a:pPr>
            <a:r>
              <a:rPr lang="en-US" b="true" sz="2600">
                <a:solidFill>
                  <a:srgbClr val="171C2A"/>
                </a:solidFill>
                <a:latin typeface="Inter Bold"/>
                <a:ea typeface="Inter Bold"/>
                <a:cs typeface="Inter Bold"/>
                <a:sym typeface="Inter Bold"/>
              </a:rPr>
              <a:t>Ce que coûte une perturbation, les unes par rapport aux autres</a:t>
            </a:r>
          </a:p>
          <a:p>
            <a:pPr algn="ctr">
              <a:lnSpc>
                <a:spcPts val="3120"/>
              </a:lnSpc>
            </a:pPr>
            <a:r>
              <a:rPr lang="en-US" b="true" sz="2600">
                <a:solidFill>
                  <a:srgbClr val="171C2A"/>
                </a:solidFill>
                <a:latin typeface="Inter Bold"/>
                <a:ea typeface="Inter Bold"/>
                <a:cs typeface="Inter Bold"/>
                <a:sym typeface="Inter Bold"/>
              </a:rPr>
              <a:t>(voir ANNEXE D pour les coûts)</a:t>
            </a:r>
          </a:p>
        </p:txBody>
      </p:sp>
      <p:sp>
        <p:nvSpPr>
          <p:cNvPr name="TextBox 60" id="6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ADAPTER : LES SCÉNARIOS</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453390" y="9699939"/>
            <a:ext cx="2230494" cy="396881"/>
            <a:chOff x="0" y="0"/>
            <a:chExt cx="2973991" cy="529175"/>
          </a:xfrm>
        </p:grpSpPr>
        <p:sp>
          <p:nvSpPr>
            <p:cNvPr name="Freeform 8" id="8"/>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3" id="13"/>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Freeform 14" id="14"/>
          <p:cNvSpPr/>
          <p:nvPr/>
        </p:nvSpPr>
        <p:spPr>
          <a:xfrm flipH="false" flipV="false" rot="0">
            <a:off x="777240" y="6686550"/>
            <a:ext cx="16733520" cy="942975"/>
          </a:xfrm>
          <a:custGeom>
            <a:avLst/>
            <a:gdLst/>
            <a:ahLst/>
            <a:cxnLst/>
            <a:rect r="r" b="b" t="t" l="l"/>
            <a:pathLst>
              <a:path h="942975" w="16733520">
                <a:moveTo>
                  <a:pt x="0" y="0"/>
                </a:moveTo>
                <a:lnTo>
                  <a:pt x="16733520" y="0"/>
                </a:lnTo>
                <a:lnTo>
                  <a:pt x="16733520" y="942975"/>
                </a:lnTo>
                <a:lnTo>
                  <a:pt x="0" y="9429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777240" y="3028950"/>
            <a:ext cx="16733520" cy="57150"/>
          </a:xfrm>
          <a:custGeom>
            <a:avLst/>
            <a:gdLst/>
            <a:ahLst/>
            <a:cxnLst/>
            <a:rect r="r" b="b" t="t" l="l"/>
            <a:pathLst>
              <a:path h="57150" w="16733520">
                <a:moveTo>
                  <a:pt x="0" y="0"/>
                </a:moveTo>
                <a:lnTo>
                  <a:pt x="16733520" y="0"/>
                </a:lnTo>
                <a:lnTo>
                  <a:pt x="16733520" y="57150"/>
                </a:lnTo>
                <a:lnTo>
                  <a:pt x="0" y="5715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777240" y="3933825"/>
            <a:ext cx="16733520" cy="47625"/>
          </a:xfrm>
          <a:custGeom>
            <a:avLst/>
            <a:gdLst/>
            <a:ahLst/>
            <a:cxnLst/>
            <a:rect r="r" b="b" t="t" l="l"/>
            <a:pathLst>
              <a:path h="47625" w="16733520">
                <a:moveTo>
                  <a:pt x="0" y="0"/>
                </a:moveTo>
                <a:lnTo>
                  <a:pt x="16733520" y="0"/>
                </a:lnTo>
                <a:lnTo>
                  <a:pt x="16733520" y="47625"/>
                </a:lnTo>
                <a:lnTo>
                  <a:pt x="0" y="4762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777240" y="4848225"/>
            <a:ext cx="16733520" cy="47625"/>
          </a:xfrm>
          <a:custGeom>
            <a:avLst/>
            <a:gdLst/>
            <a:ahLst/>
            <a:cxnLst/>
            <a:rect r="r" b="b" t="t" l="l"/>
            <a:pathLst>
              <a:path h="47625" w="16733520">
                <a:moveTo>
                  <a:pt x="0" y="0"/>
                </a:moveTo>
                <a:lnTo>
                  <a:pt x="16733520" y="0"/>
                </a:lnTo>
                <a:lnTo>
                  <a:pt x="16733520" y="47625"/>
                </a:lnTo>
                <a:lnTo>
                  <a:pt x="0" y="4762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0">
            <a:off x="777240" y="5762625"/>
            <a:ext cx="16733520" cy="47625"/>
          </a:xfrm>
          <a:custGeom>
            <a:avLst/>
            <a:gdLst/>
            <a:ahLst/>
            <a:cxnLst/>
            <a:rect r="r" b="b" t="t" l="l"/>
            <a:pathLst>
              <a:path h="47625" w="16733520">
                <a:moveTo>
                  <a:pt x="0" y="0"/>
                </a:moveTo>
                <a:lnTo>
                  <a:pt x="16733520" y="0"/>
                </a:lnTo>
                <a:lnTo>
                  <a:pt x="16733520" y="47625"/>
                </a:lnTo>
                <a:lnTo>
                  <a:pt x="0" y="4762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0">
            <a:off x="777240" y="6677025"/>
            <a:ext cx="16733520" cy="47625"/>
          </a:xfrm>
          <a:custGeom>
            <a:avLst/>
            <a:gdLst/>
            <a:ahLst/>
            <a:cxnLst/>
            <a:rect r="r" b="b" t="t" l="l"/>
            <a:pathLst>
              <a:path h="47625" w="16733520">
                <a:moveTo>
                  <a:pt x="0" y="0"/>
                </a:moveTo>
                <a:lnTo>
                  <a:pt x="16733520" y="0"/>
                </a:lnTo>
                <a:lnTo>
                  <a:pt x="16733520" y="47625"/>
                </a:lnTo>
                <a:lnTo>
                  <a:pt x="0" y="4762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0" id="20"/>
          <p:cNvSpPr txBox="true"/>
          <p:nvPr/>
        </p:nvSpPr>
        <p:spPr>
          <a:xfrm rot="0">
            <a:off x="1005840" y="2381250"/>
            <a:ext cx="6953250" cy="381000"/>
          </a:xfrm>
          <a:prstGeom prst="rect">
            <a:avLst/>
          </a:prstGeom>
        </p:spPr>
        <p:txBody>
          <a:bodyPr anchor="t" rtlCol="false" tIns="0" lIns="0" bIns="0" rIns="0">
            <a:spAutoFit/>
          </a:bodyPr>
          <a:lstStyle/>
          <a:p>
            <a:pPr algn="l">
              <a:lnSpc>
                <a:spcPts val="2878"/>
              </a:lnSpc>
            </a:pPr>
            <a:r>
              <a:rPr lang="en-US" sz="2400" b="true">
                <a:solidFill>
                  <a:srgbClr val="171C2A"/>
                </a:solidFill>
                <a:latin typeface="Arimo Bold"/>
                <a:ea typeface="Arimo Bold"/>
                <a:cs typeface="Arimo Bold"/>
                <a:sym typeface="Arimo Bold"/>
              </a:rPr>
              <a:t>Scénario</a:t>
            </a:r>
          </a:p>
        </p:txBody>
      </p:sp>
      <p:sp>
        <p:nvSpPr>
          <p:cNvPr name="TextBox 21" id="21"/>
          <p:cNvSpPr txBox="true"/>
          <p:nvPr/>
        </p:nvSpPr>
        <p:spPr>
          <a:xfrm rot="0">
            <a:off x="8016240" y="2381250"/>
            <a:ext cx="1898904" cy="381000"/>
          </a:xfrm>
          <a:prstGeom prst="rect">
            <a:avLst/>
          </a:prstGeom>
        </p:spPr>
        <p:txBody>
          <a:bodyPr anchor="t" rtlCol="false" tIns="0" lIns="0" bIns="0" rIns="0">
            <a:spAutoFit/>
          </a:bodyPr>
          <a:lstStyle/>
          <a:p>
            <a:pPr algn="ctr">
              <a:lnSpc>
                <a:spcPts val="2878"/>
              </a:lnSpc>
            </a:pPr>
            <a:r>
              <a:rPr lang="en-US" sz="2400" b="true">
                <a:solidFill>
                  <a:srgbClr val="171C2A"/>
                </a:solidFill>
                <a:latin typeface="Arimo Bold"/>
                <a:ea typeface="Arimo Bold"/>
                <a:cs typeface="Arimo Bold"/>
                <a:sym typeface="Arimo Bold"/>
              </a:rPr>
              <a:t>Urg.</a:t>
            </a:r>
          </a:p>
        </p:txBody>
      </p:sp>
      <p:sp>
        <p:nvSpPr>
          <p:cNvPr name="TextBox 22" id="22"/>
          <p:cNvSpPr txBox="true"/>
          <p:nvPr/>
        </p:nvSpPr>
        <p:spPr>
          <a:xfrm rot="0">
            <a:off x="9915144" y="2381250"/>
            <a:ext cx="1898904" cy="381000"/>
          </a:xfrm>
          <a:prstGeom prst="rect">
            <a:avLst/>
          </a:prstGeom>
        </p:spPr>
        <p:txBody>
          <a:bodyPr anchor="t" rtlCol="false" tIns="0" lIns="0" bIns="0" rIns="0">
            <a:spAutoFit/>
          </a:bodyPr>
          <a:lstStyle/>
          <a:p>
            <a:pPr algn="ctr">
              <a:lnSpc>
                <a:spcPts val="2878"/>
              </a:lnSpc>
            </a:pPr>
            <a:r>
              <a:rPr lang="en-US" sz="2400" b="true">
                <a:solidFill>
                  <a:srgbClr val="171C2A"/>
                </a:solidFill>
                <a:latin typeface="Arimo Bold"/>
                <a:ea typeface="Arimo Bold"/>
                <a:cs typeface="Arimo Bold"/>
                <a:sym typeface="Arimo Bold"/>
              </a:rPr>
              <a:t>Dans délai</a:t>
            </a:r>
          </a:p>
        </p:txBody>
      </p:sp>
      <p:sp>
        <p:nvSpPr>
          <p:cNvPr name="TextBox 23" id="23"/>
          <p:cNvSpPr txBox="true"/>
          <p:nvPr/>
        </p:nvSpPr>
        <p:spPr>
          <a:xfrm rot="0">
            <a:off x="11814048" y="2381250"/>
            <a:ext cx="1898904" cy="381000"/>
          </a:xfrm>
          <a:prstGeom prst="rect">
            <a:avLst/>
          </a:prstGeom>
        </p:spPr>
        <p:txBody>
          <a:bodyPr anchor="t" rtlCol="false" tIns="0" lIns="0" bIns="0" rIns="0">
            <a:spAutoFit/>
          </a:bodyPr>
          <a:lstStyle/>
          <a:p>
            <a:pPr algn="ctr">
              <a:lnSpc>
                <a:spcPts val="2878"/>
              </a:lnSpc>
            </a:pPr>
            <a:r>
              <a:rPr lang="en-US" sz="2400" b="true">
                <a:solidFill>
                  <a:srgbClr val="171C2A"/>
                </a:solidFill>
                <a:latin typeface="Arimo Bold"/>
                <a:ea typeface="Arimo Bold"/>
                <a:cs typeface="Arimo Bold"/>
                <a:sym typeface="Arimo Bold"/>
              </a:rPr>
              <a:t>Décalés</a:t>
            </a:r>
          </a:p>
        </p:txBody>
      </p:sp>
      <p:sp>
        <p:nvSpPr>
          <p:cNvPr name="TextBox 24" id="24"/>
          <p:cNvSpPr txBox="true"/>
          <p:nvPr/>
        </p:nvSpPr>
        <p:spPr>
          <a:xfrm rot="0">
            <a:off x="13712952" y="2381250"/>
            <a:ext cx="1898904" cy="381000"/>
          </a:xfrm>
          <a:prstGeom prst="rect">
            <a:avLst/>
          </a:prstGeom>
        </p:spPr>
        <p:txBody>
          <a:bodyPr anchor="t" rtlCol="false" tIns="0" lIns="0" bIns="0" rIns="0">
            <a:spAutoFit/>
          </a:bodyPr>
          <a:lstStyle/>
          <a:p>
            <a:pPr algn="ctr">
              <a:lnSpc>
                <a:spcPts val="2878"/>
              </a:lnSpc>
            </a:pPr>
            <a:r>
              <a:rPr lang="en-US" sz="2400" b="true">
                <a:solidFill>
                  <a:srgbClr val="171C2A"/>
                </a:solidFill>
                <a:latin typeface="Arimo Bold"/>
                <a:ea typeface="Arimo Bold"/>
                <a:cs typeface="Arimo Bold"/>
                <a:sym typeface="Arimo Bold"/>
              </a:rPr>
              <a:t>Reportés</a:t>
            </a:r>
          </a:p>
        </p:txBody>
      </p:sp>
      <p:sp>
        <p:nvSpPr>
          <p:cNvPr name="TextBox 25" id="25"/>
          <p:cNvSpPr txBox="true"/>
          <p:nvPr/>
        </p:nvSpPr>
        <p:spPr>
          <a:xfrm rot="0">
            <a:off x="15611856" y="2381250"/>
            <a:ext cx="1898904" cy="381000"/>
          </a:xfrm>
          <a:prstGeom prst="rect">
            <a:avLst/>
          </a:prstGeom>
        </p:spPr>
        <p:txBody>
          <a:bodyPr anchor="t" rtlCol="false" tIns="0" lIns="0" bIns="0" rIns="0">
            <a:spAutoFit/>
          </a:bodyPr>
          <a:lstStyle/>
          <a:p>
            <a:pPr algn="ctr">
              <a:lnSpc>
                <a:spcPts val="2878"/>
              </a:lnSpc>
            </a:pPr>
            <a:r>
              <a:rPr lang="en-US" sz="2400" b="true">
                <a:solidFill>
                  <a:srgbClr val="171C2A"/>
                </a:solidFill>
                <a:latin typeface="Arimo Bold"/>
                <a:ea typeface="Arimo Bold"/>
                <a:cs typeface="Arimo Bold"/>
                <a:sym typeface="Arimo Bold"/>
              </a:rPr>
              <a:t>Messages</a:t>
            </a:r>
          </a:p>
        </p:txBody>
      </p:sp>
      <p:sp>
        <p:nvSpPr>
          <p:cNvPr name="TextBox 26" id="26"/>
          <p:cNvSpPr txBox="true"/>
          <p:nvPr/>
        </p:nvSpPr>
        <p:spPr>
          <a:xfrm rot="0">
            <a:off x="1005840" y="3295650"/>
            <a:ext cx="6953250" cy="381000"/>
          </a:xfrm>
          <a:prstGeom prst="rect">
            <a:avLst/>
          </a:prstGeom>
        </p:spPr>
        <p:txBody>
          <a:bodyPr anchor="t" rtlCol="false" tIns="0" lIns="0" bIns="0" rIns="0">
            <a:spAutoFit/>
          </a:bodyPr>
          <a:lstStyle/>
          <a:p>
            <a:pPr algn="l">
              <a:lnSpc>
                <a:spcPts val="2878"/>
              </a:lnSpc>
            </a:pPr>
            <a:r>
              <a:rPr lang="en-US" sz="2400">
                <a:solidFill>
                  <a:srgbClr val="171C2A"/>
                </a:solidFill>
                <a:latin typeface="Arimo"/>
                <a:ea typeface="Arimo"/>
                <a:cs typeface="Arimo"/>
                <a:sym typeface="Arimo"/>
              </a:rPr>
              <a:t>Fracture puis panne de monte-lit</a:t>
            </a:r>
          </a:p>
        </p:txBody>
      </p:sp>
      <p:sp>
        <p:nvSpPr>
          <p:cNvPr name="TextBox 27" id="27"/>
          <p:cNvSpPr txBox="true"/>
          <p:nvPr/>
        </p:nvSpPr>
        <p:spPr>
          <a:xfrm rot="0">
            <a:off x="8016240" y="32956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1</a:t>
            </a:r>
          </a:p>
        </p:txBody>
      </p:sp>
      <p:sp>
        <p:nvSpPr>
          <p:cNvPr name="TextBox 28" id="28"/>
          <p:cNvSpPr txBox="true"/>
          <p:nvPr/>
        </p:nvSpPr>
        <p:spPr>
          <a:xfrm rot="0">
            <a:off x="9915144" y="32956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1</a:t>
            </a:r>
          </a:p>
        </p:txBody>
      </p:sp>
      <p:sp>
        <p:nvSpPr>
          <p:cNvPr name="TextBox 29" id="29"/>
          <p:cNvSpPr txBox="true"/>
          <p:nvPr/>
        </p:nvSpPr>
        <p:spPr>
          <a:xfrm rot="0">
            <a:off x="11814048" y="32956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2</a:t>
            </a:r>
          </a:p>
        </p:txBody>
      </p:sp>
      <p:sp>
        <p:nvSpPr>
          <p:cNvPr name="TextBox 30" id="30"/>
          <p:cNvSpPr txBox="true"/>
          <p:nvPr/>
        </p:nvSpPr>
        <p:spPr>
          <a:xfrm rot="0">
            <a:off x="13712952" y="32956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0</a:t>
            </a:r>
          </a:p>
        </p:txBody>
      </p:sp>
      <p:sp>
        <p:nvSpPr>
          <p:cNvPr name="TextBox 31" id="31"/>
          <p:cNvSpPr txBox="true"/>
          <p:nvPr/>
        </p:nvSpPr>
        <p:spPr>
          <a:xfrm rot="0">
            <a:off x="15611856" y="32956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549</a:t>
            </a:r>
          </a:p>
        </p:txBody>
      </p:sp>
      <p:sp>
        <p:nvSpPr>
          <p:cNvPr name="TextBox 32" id="32"/>
          <p:cNvSpPr txBox="true"/>
          <p:nvPr/>
        </p:nvSpPr>
        <p:spPr>
          <a:xfrm rot="0">
            <a:off x="1005840" y="4210050"/>
            <a:ext cx="6953250" cy="381000"/>
          </a:xfrm>
          <a:prstGeom prst="rect">
            <a:avLst/>
          </a:prstGeom>
        </p:spPr>
        <p:txBody>
          <a:bodyPr anchor="t" rtlCol="false" tIns="0" lIns="0" bIns="0" rIns="0">
            <a:spAutoFit/>
          </a:bodyPr>
          <a:lstStyle/>
          <a:p>
            <a:pPr algn="l">
              <a:lnSpc>
                <a:spcPts val="2878"/>
              </a:lnSpc>
            </a:pPr>
            <a:r>
              <a:rPr lang="en-US" sz="2400">
                <a:solidFill>
                  <a:srgbClr val="171C2A"/>
                </a:solidFill>
                <a:latin typeface="Arimo"/>
                <a:ea typeface="Arimo"/>
                <a:cs typeface="Arimo"/>
                <a:sym typeface="Arimo"/>
              </a:rPr>
              <a:t>Trois urgences en 20 minutes</a:t>
            </a:r>
          </a:p>
        </p:txBody>
      </p:sp>
      <p:sp>
        <p:nvSpPr>
          <p:cNvPr name="TextBox 33" id="33"/>
          <p:cNvSpPr txBox="true"/>
          <p:nvPr/>
        </p:nvSpPr>
        <p:spPr>
          <a:xfrm rot="0">
            <a:off x="8016240" y="42100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3</a:t>
            </a:r>
          </a:p>
        </p:txBody>
      </p:sp>
      <p:sp>
        <p:nvSpPr>
          <p:cNvPr name="TextBox 34" id="34"/>
          <p:cNvSpPr txBox="true"/>
          <p:nvPr/>
        </p:nvSpPr>
        <p:spPr>
          <a:xfrm rot="0">
            <a:off x="9915144" y="42100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3</a:t>
            </a:r>
          </a:p>
        </p:txBody>
      </p:sp>
      <p:sp>
        <p:nvSpPr>
          <p:cNvPr name="TextBox 35" id="35"/>
          <p:cNvSpPr txBox="true"/>
          <p:nvPr/>
        </p:nvSpPr>
        <p:spPr>
          <a:xfrm rot="0">
            <a:off x="11814048" y="42100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0</a:t>
            </a:r>
          </a:p>
        </p:txBody>
      </p:sp>
      <p:sp>
        <p:nvSpPr>
          <p:cNvPr name="TextBox 36" id="36"/>
          <p:cNvSpPr txBox="true"/>
          <p:nvPr/>
        </p:nvSpPr>
        <p:spPr>
          <a:xfrm rot="0">
            <a:off x="13712952" y="42100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0</a:t>
            </a:r>
          </a:p>
        </p:txBody>
      </p:sp>
      <p:sp>
        <p:nvSpPr>
          <p:cNvPr name="TextBox 37" id="37"/>
          <p:cNvSpPr txBox="true"/>
          <p:nvPr/>
        </p:nvSpPr>
        <p:spPr>
          <a:xfrm rot="0">
            <a:off x="15611856" y="42100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286</a:t>
            </a:r>
          </a:p>
        </p:txBody>
      </p:sp>
      <p:sp>
        <p:nvSpPr>
          <p:cNvPr name="TextBox 38" id="38"/>
          <p:cNvSpPr txBox="true"/>
          <p:nvPr/>
        </p:nvSpPr>
        <p:spPr>
          <a:xfrm rot="0">
            <a:off x="1005840" y="5124450"/>
            <a:ext cx="6953250" cy="381000"/>
          </a:xfrm>
          <a:prstGeom prst="rect">
            <a:avLst/>
          </a:prstGeom>
        </p:spPr>
        <p:txBody>
          <a:bodyPr anchor="t" rtlCol="false" tIns="0" lIns="0" bIns="0" rIns="0">
            <a:spAutoFit/>
          </a:bodyPr>
          <a:lstStyle/>
          <a:p>
            <a:pPr algn="l">
              <a:lnSpc>
                <a:spcPts val="2878"/>
              </a:lnSpc>
            </a:pPr>
            <a:r>
              <a:rPr lang="en-US" sz="2400">
                <a:solidFill>
                  <a:srgbClr val="171C2A"/>
                </a:solidFill>
                <a:latin typeface="Arimo"/>
                <a:ea typeface="Arimo"/>
                <a:cs typeface="Arimo"/>
                <a:sym typeface="Arimo"/>
              </a:rPr>
              <a:t>Panne dès l'ouverture</a:t>
            </a:r>
          </a:p>
        </p:txBody>
      </p:sp>
      <p:sp>
        <p:nvSpPr>
          <p:cNvPr name="TextBox 39" id="39"/>
          <p:cNvSpPr txBox="true"/>
          <p:nvPr/>
        </p:nvSpPr>
        <p:spPr>
          <a:xfrm rot="0">
            <a:off x="8016240" y="51244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0</a:t>
            </a:r>
          </a:p>
        </p:txBody>
      </p:sp>
      <p:sp>
        <p:nvSpPr>
          <p:cNvPr name="TextBox 40" id="40"/>
          <p:cNvSpPr txBox="true"/>
          <p:nvPr/>
        </p:nvSpPr>
        <p:spPr>
          <a:xfrm rot="0">
            <a:off x="9915144" y="51244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a:t>
            </a:r>
          </a:p>
        </p:txBody>
      </p:sp>
      <p:sp>
        <p:nvSpPr>
          <p:cNvPr name="TextBox 41" id="41"/>
          <p:cNvSpPr txBox="true"/>
          <p:nvPr/>
        </p:nvSpPr>
        <p:spPr>
          <a:xfrm rot="0">
            <a:off x="11814048" y="51244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3</a:t>
            </a:r>
          </a:p>
        </p:txBody>
      </p:sp>
      <p:sp>
        <p:nvSpPr>
          <p:cNvPr name="TextBox 42" id="42"/>
          <p:cNvSpPr txBox="true"/>
          <p:nvPr/>
        </p:nvSpPr>
        <p:spPr>
          <a:xfrm rot="0">
            <a:off x="13712952" y="51244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4</a:t>
            </a:r>
          </a:p>
        </p:txBody>
      </p:sp>
      <p:sp>
        <p:nvSpPr>
          <p:cNvPr name="TextBox 43" id="43"/>
          <p:cNvSpPr txBox="true"/>
          <p:nvPr/>
        </p:nvSpPr>
        <p:spPr>
          <a:xfrm rot="0">
            <a:off x="15611856" y="51244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646</a:t>
            </a:r>
          </a:p>
        </p:txBody>
      </p:sp>
      <p:sp>
        <p:nvSpPr>
          <p:cNvPr name="TextBox 44" id="44"/>
          <p:cNvSpPr txBox="true"/>
          <p:nvPr/>
        </p:nvSpPr>
        <p:spPr>
          <a:xfrm rot="0">
            <a:off x="1005840" y="6038850"/>
            <a:ext cx="6953250" cy="381000"/>
          </a:xfrm>
          <a:prstGeom prst="rect">
            <a:avLst/>
          </a:prstGeom>
        </p:spPr>
        <p:txBody>
          <a:bodyPr anchor="t" rtlCol="false" tIns="0" lIns="0" bIns="0" rIns="0">
            <a:spAutoFit/>
          </a:bodyPr>
          <a:lstStyle/>
          <a:p>
            <a:pPr algn="l">
              <a:lnSpc>
                <a:spcPts val="2878"/>
              </a:lnSpc>
            </a:pPr>
            <a:r>
              <a:rPr lang="en-US" sz="2400">
                <a:solidFill>
                  <a:srgbClr val="171C2A"/>
                </a:solidFill>
                <a:latin typeface="Arimo"/>
                <a:ea typeface="Arimo"/>
                <a:cs typeface="Arimo"/>
                <a:sym typeface="Arimo"/>
              </a:rPr>
              <a:t>Semaine normale (1 urg. / jour, 5 graines)</a:t>
            </a:r>
          </a:p>
        </p:txBody>
      </p:sp>
      <p:sp>
        <p:nvSpPr>
          <p:cNvPr name="TextBox 45" id="45"/>
          <p:cNvSpPr txBox="true"/>
          <p:nvPr/>
        </p:nvSpPr>
        <p:spPr>
          <a:xfrm rot="0">
            <a:off x="8016240" y="60388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22</a:t>
            </a:r>
          </a:p>
        </p:txBody>
      </p:sp>
      <p:sp>
        <p:nvSpPr>
          <p:cNvPr name="TextBox 46" id="46"/>
          <p:cNvSpPr txBox="true"/>
          <p:nvPr/>
        </p:nvSpPr>
        <p:spPr>
          <a:xfrm rot="0">
            <a:off x="9915144" y="60388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22</a:t>
            </a:r>
          </a:p>
        </p:txBody>
      </p:sp>
      <p:sp>
        <p:nvSpPr>
          <p:cNvPr name="TextBox 47" id="47"/>
          <p:cNvSpPr txBox="true"/>
          <p:nvPr/>
        </p:nvSpPr>
        <p:spPr>
          <a:xfrm rot="0">
            <a:off x="11814048" y="60388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5</a:t>
            </a:r>
          </a:p>
        </p:txBody>
      </p:sp>
      <p:sp>
        <p:nvSpPr>
          <p:cNvPr name="TextBox 48" id="48"/>
          <p:cNvSpPr txBox="true"/>
          <p:nvPr/>
        </p:nvSpPr>
        <p:spPr>
          <a:xfrm rot="0">
            <a:off x="13712952" y="60388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2</a:t>
            </a:r>
          </a:p>
        </p:txBody>
      </p:sp>
      <p:sp>
        <p:nvSpPr>
          <p:cNvPr name="TextBox 49" id="49"/>
          <p:cNvSpPr txBox="true"/>
          <p:nvPr/>
        </p:nvSpPr>
        <p:spPr>
          <a:xfrm rot="0">
            <a:off x="15611856" y="6038850"/>
            <a:ext cx="1898904" cy="381000"/>
          </a:xfrm>
          <a:prstGeom prst="rect">
            <a:avLst/>
          </a:prstGeom>
        </p:spPr>
        <p:txBody>
          <a:bodyPr anchor="t" rtlCol="false" tIns="0" lIns="0" bIns="0" rIns="0">
            <a:spAutoFit/>
          </a:bodyPr>
          <a:lstStyle/>
          <a:p>
            <a:pPr algn="ctr">
              <a:lnSpc>
                <a:spcPts val="2878"/>
              </a:lnSpc>
            </a:pPr>
            <a:r>
              <a:rPr lang="en-US" sz="2400">
                <a:solidFill>
                  <a:srgbClr val="171C2A"/>
                </a:solidFill>
                <a:latin typeface="Arimo"/>
                <a:ea typeface="Arimo"/>
                <a:cs typeface="Arimo"/>
                <a:sym typeface="Arimo"/>
              </a:rPr>
              <a:t>4 607</a:t>
            </a:r>
          </a:p>
        </p:txBody>
      </p:sp>
      <p:sp>
        <p:nvSpPr>
          <p:cNvPr name="TextBox 50" id="50"/>
          <p:cNvSpPr txBox="true"/>
          <p:nvPr/>
        </p:nvSpPr>
        <p:spPr>
          <a:xfrm rot="0">
            <a:off x="1005840" y="6953250"/>
            <a:ext cx="6953250" cy="381000"/>
          </a:xfrm>
          <a:prstGeom prst="rect">
            <a:avLst/>
          </a:prstGeom>
        </p:spPr>
        <p:txBody>
          <a:bodyPr anchor="t" rtlCol="false" tIns="0" lIns="0" bIns="0" rIns="0">
            <a:spAutoFit/>
          </a:bodyPr>
          <a:lstStyle/>
          <a:p>
            <a:pPr algn="l">
              <a:lnSpc>
                <a:spcPts val="2878"/>
              </a:lnSpc>
            </a:pPr>
            <a:r>
              <a:rPr lang="en-US" sz="2400" b="true">
                <a:solidFill>
                  <a:srgbClr val="171C2A"/>
                </a:solidFill>
                <a:latin typeface="Arimo Bold"/>
                <a:ea typeface="Arimo Bold"/>
                <a:cs typeface="Arimo Bold"/>
                <a:sym typeface="Arimo Bold"/>
              </a:rPr>
              <a:t>Surcharge (3 urg. / jour, 2 pannes, 2/5 graines)</a:t>
            </a:r>
          </a:p>
        </p:txBody>
      </p:sp>
      <p:sp>
        <p:nvSpPr>
          <p:cNvPr name="TextBox 51" id="51"/>
          <p:cNvSpPr txBox="true"/>
          <p:nvPr/>
        </p:nvSpPr>
        <p:spPr>
          <a:xfrm rot="0">
            <a:off x="8016240" y="6953250"/>
            <a:ext cx="1898904" cy="381000"/>
          </a:xfrm>
          <a:prstGeom prst="rect">
            <a:avLst/>
          </a:prstGeom>
        </p:spPr>
        <p:txBody>
          <a:bodyPr anchor="t" rtlCol="false" tIns="0" lIns="0" bIns="0" rIns="0">
            <a:spAutoFit/>
          </a:bodyPr>
          <a:lstStyle/>
          <a:p>
            <a:pPr algn="ctr">
              <a:lnSpc>
                <a:spcPts val="2878"/>
              </a:lnSpc>
            </a:pPr>
            <a:r>
              <a:rPr lang="en-US" sz="2400" b="true">
                <a:solidFill>
                  <a:srgbClr val="2628ED"/>
                </a:solidFill>
                <a:latin typeface="Arimo Bold"/>
                <a:ea typeface="Arimo Bold"/>
                <a:cs typeface="Arimo Bold"/>
                <a:sym typeface="Arimo Bold"/>
              </a:rPr>
              <a:t>28</a:t>
            </a:r>
          </a:p>
        </p:txBody>
      </p:sp>
      <p:sp>
        <p:nvSpPr>
          <p:cNvPr name="TextBox 52" id="52"/>
          <p:cNvSpPr txBox="true"/>
          <p:nvPr/>
        </p:nvSpPr>
        <p:spPr>
          <a:xfrm rot="0">
            <a:off x="9915144" y="6953250"/>
            <a:ext cx="1898904" cy="381000"/>
          </a:xfrm>
          <a:prstGeom prst="rect">
            <a:avLst/>
          </a:prstGeom>
        </p:spPr>
        <p:txBody>
          <a:bodyPr anchor="t" rtlCol="false" tIns="0" lIns="0" bIns="0" rIns="0">
            <a:spAutoFit/>
          </a:bodyPr>
          <a:lstStyle/>
          <a:p>
            <a:pPr algn="ctr">
              <a:lnSpc>
                <a:spcPts val="2878"/>
              </a:lnSpc>
            </a:pPr>
            <a:r>
              <a:rPr lang="en-US" sz="2400" b="true">
                <a:solidFill>
                  <a:srgbClr val="2628ED"/>
                </a:solidFill>
                <a:latin typeface="Arimo Bold"/>
                <a:ea typeface="Arimo Bold"/>
                <a:cs typeface="Arimo Bold"/>
                <a:sym typeface="Arimo Bold"/>
              </a:rPr>
              <a:t>28</a:t>
            </a:r>
          </a:p>
        </p:txBody>
      </p:sp>
      <p:sp>
        <p:nvSpPr>
          <p:cNvPr name="TextBox 53" id="53"/>
          <p:cNvSpPr txBox="true"/>
          <p:nvPr/>
        </p:nvSpPr>
        <p:spPr>
          <a:xfrm rot="0">
            <a:off x="11814048" y="6953250"/>
            <a:ext cx="1898904" cy="381000"/>
          </a:xfrm>
          <a:prstGeom prst="rect">
            <a:avLst/>
          </a:prstGeom>
        </p:spPr>
        <p:txBody>
          <a:bodyPr anchor="t" rtlCol="false" tIns="0" lIns="0" bIns="0" rIns="0">
            <a:spAutoFit/>
          </a:bodyPr>
          <a:lstStyle/>
          <a:p>
            <a:pPr algn="ctr">
              <a:lnSpc>
                <a:spcPts val="2878"/>
              </a:lnSpc>
            </a:pPr>
            <a:r>
              <a:rPr lang="en-US" sz="2400" b="true">
                <a:solidFill>
                  <a:srgbClr val="2628ED"/>
                </a:solidFill>
                <a:latin typeface="Arimo Bold"/>
                <a:ea typeface="Arimo Bold"/>
                <a:cs typeface="Arimo Bold"/>
                <a:sym typeface="Arimo Bold"/>
              </a:rPr>
              <a:t>17</a:t>
            </a:r>
          </a:p>
        </p:txBody>
      </p:sp>
      <p:sp>
        <p:nvSpPr>
          <p:cNvPr name="TextBox 54" id="54"/>
          <p:cNvSpPr txBox="true"/>
          <p:nvPr/>
        </p:nvSpPr>
        <p:spPr>
          <a:xfrm rot="0">
            <a:off x="13712952" y="6953250"/>
            <a:ext cx="1898904" cy="381000"/>
          </a:xfrm>
          <a:prstGeom prst="rect">
            <a:avLst/>
          </a:prstGeom>
        </p:spPr>
        <p:txBody>
          <a:bodyPr anchor="t" rtlCol="false" tIns="0" lIns="0" bIns="0" rIns="0">
            <a:spAutoFit/>
          </a:bodyPr>
          <a:lstStyle/>
          <a:p>
            <a:pPr algn="ctr">
              <a:lnSpc>
                <a:spcPts val="2878"/>
              </a:lnSpc>
            </a:pPr>
            <a:r>
              <a:rPr lang="en-US" sz="2400" b="true">
                <a:solidFill>
                  <a:srgbClr val="2628ED"/>
                </a:solidFill>
                <a:latin typeface="Arimo Bold"/>
                <a:ea typeface="Arimo Bold"/>
                <a:cs typeface="Arimo Bold"/>
                <a:sym typeface="Arimo Bold"/>
              </a:rPr>
              <a:t>5</a:t>
            </a:r>
          </a:p>
        </p:txBody>
      </p:sp>
      <p:sp>
        <p:nvSpPr>
          <p:cNvPr name="TextBox 55" id="55"/>
          <p:cNvSpPr txBox="true"/>
          <p:nvPr/>
        </p:nvSpPr>
        <p:spPr>
          <a:xfrm rot="0">
            <a:off x="15611856" y="6953250"/>
            <a:ext cx="1898904" cy="381000"/>
          </a:xfrm>
          <a:prstGeom prst="rect">
            <a:avLst/>
          </a:prstGeom>
        </p:spPr>
        <p:txBody>
          <a:bodyPr anchor="t" rtlCol="false" tIns="0" lIns="0" bIns="0" rIns="0">
            <a:spAutoFit/>
          </a:bodyPr>
          <a:lstStyle/>
          <a:p>
            <a:pPr algn="ctr">
              <a:lnSpc>
                <a:spcPts val="2878"/>
              </a:lnSpc>
            </a:pPr>
            <a:r>
              <a:rPr lang="en-US" sz="2400" b="true">
                <a:solidFill>
                  <a:srgbClr val="2628ED"/>
                </a:solidFill>
                <a:latin typeface="Arimo Bold"/>
                <a:ea typeface="Arimo Bold"/>
                <a:cs typeface="Arimo Bold"/>
                <a:sym typeface="Arimo Bold"/>
              </a:rPr>
              <a:t>5 678</a:t>
            </a:r>
          </a:p>
        </p:txBody>
      </p:sp>
      <p:sp>
        <p:nvSpPr>
          <p:cNvPr name="TextBox 56" id="56"/>
          <p:cNvSpPr txBox="true"/>
          <p:nvPr/>
        </p:nvSpPr>
        <p:spPr>
          <a:xfrm rot="0">
            <a:off x="1005840" y="8172450"/>
            <a:ext cx="16733520" cy="857237"/>
          </a:xfrm>
          <a:prstGeom prst="rect">
            <a:avLst/>
          </a:prstGeom>
        </p:spPr>
        <p:txBody>
          <a:bodyPr anchor="t" rtlCol="false" tIns="0" lIns="0" bIns="0" rIns="0">
            <a:spAutoFit/>
          </a:bodyPr>
          <a:lstStyle/>
          <a:p>
            <a:pPr algn="l">
              <a:lnSpc>
                <a:spcPts val="3118"/>
              </a:lnSpc>
            </a:pPr>
            <a:r>
              <a:rPr lang="en-US" sz="2598" b="true">
                <a:solidFill>
                  <a:srgbClr val="171C2A"/>
                </a:solidFill>
                <a:latin typeface="Helvetica World Bold"/>
                <a:ea typeface="Helvetica World Bold"/>
                <a:cs typeface="Helvetica World Bold"/>
                <a:sym typeface="Helvetica World Bold"/>
              </a:rPr>
              <a:t>Toutes ces urgences sont opérées dans leur délai, avec au moins 93 % du programme préservé. </a:t>
            </a:r>
          </a:p>
          <a:p>
            <a:pPr algn="l">
              <a:lnSpc>
                <a:spcPts val="3119"/>
              </a:lnSpc>
            </a:pPr>
            <a:r>
              <a:rPr lang="en-US" sz="2598" b="true">
                <a:solidFill>
                  <a:srgbClr val="171C2A"/>
                </a:solidFill>
                <a:latin typeface="Helvetica World Bold"/>
                <a:ea typeface="Helvetica World Bold"/>
                <a:cs typeface="Helvetica World Bold"/>
                <a:sym typeface="Helvetica World Bold"/>
              </a:rPr>
              <a:t>(voir ANNEXE E)</a:t>
            </a:r>
          </a:p>
        </p:txBody>
      </p:sp>
      <p:sp>
        <p:nvSpPr>
          <p:cNvPr name="TextBox 57" id="5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ADAPTER : SURCHARGE D’URGENCES</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453390" y="9699939"/>
            <a:ext cx="2230494" cy="396881"/>
            <a:chOff x="0" y="0"/>
            <a:chExt cx="2973991" cy="529175"/>
          </a:xfrm>
        </p:grpSpPr>
        <p:sp>
          <p:nvSpPr>
            <p:cNvPr name="Freeform 8" id="8"/>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3" id="13"/>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14" id="14"/>
          <p:cNvSpPr txBox="true"/>
          <p:nvPr/>
        </p:nvSpPr>
        <p:spPr>
          <a:xfrm rot="0">
            <a:off x="11196862" y="3594209"/>
            <a:ext cx="6313898" cy="3517773"/>
          </a:xfrm>
          <a:prstGeom prst="rect">
            <a:avLst/>
          </a:prstGeom>
        </p:spPr>
        <p:txBody>
          <a:bodyPr anchor="t" rtlCol="false" tIns="0" lIns="0" bIns="0" rIns="0">
            <a:spAutoFit/>
          </a:bodyPr>
          <a:lstStyle/>
          <a:p>
            <a:pPr algn="l">
              <a:lnSpc>
                <a:spcPts val="4445"/>
              </a:lnSpc>
            </a:pPr>
            <a:r>
              <a:rPr lang="en-US" sz="2599" b="true">
                <a:solidFill>
                  <a:srgbClr val="171C2A"/>
                </a:solidFill>
                <a:latin typeface="Helvetica World Bold"/>
                <a:ea typeface="Helvetica World Bold"/>
                <a:cs typeface="Helvetica World Bold"/>
                <a:sym typeface="Helvetica World Bold"/>
              </a:rPr>
              <a:t>1 urgence / jour : 22 sur 22 dans le délai.</a:t>
            </a:r>
          </a:p>
          <a:p>
            <a:pPr algn="l">
              <a:lnSpc>
                <a:spcPts val="4445"/>
              </a:lnSpc>
            </a:pPr>
          </a:p>
          <a:p>
            <a:pPr algn="l">
              <a:lnSpc>
                <a:spcPts val="4445"/>
              </a:lnSpc>
            </a:pPr>
            <a:r>
              <a:rPr lang="en-US" sz="2599" b="true">
                <a:solidFill>
                  <a:srgbClr val="171C2A"/>
                </a:solidFill>
                <a:latin typeface="Helvetica World Bold"/>
                <a:ea typeface="Helvetica World Bold"/>
                <a:cs typeface="Helvetica World Bold"/>
                <a:sym typeface="Helvetica World Bold"/>
              </a:rPr>
              <a:t>3 / jour + 2 pannes : 28 sur 28, mais 3 tirages sur 5 échouent : robustesse en surcharge non établie.</a:t>
            </a:r>
          </a:p>
        </p:txBody>
      </p:sp>
      <p:grpSp>
        <p:nvGrpSpPr>
          <p:cNvPr name="Group 15" id="15"/>
          <p:cNvGrpSpPr/>
          <p:nvPr/>
        </p:nvGrpSpPr>
        <p:grpSpPr>
          <a:xfrm rot="0">
            <a:off x="777240" y="1747767"/>
            <a:ext cx="10419622" cy="7334483"/>
            <a:chOff x="0" y="0"/>
            <a:chExt cx="10911840" cy="7680960"/>
          </a:xfrm>
        </p:grpSpPr>
        <p:sp>
          <p:nvSpPr>
            <p:cNvPr name="Freeform 16" id="16" descr="s23l.png"/>
            <p:cNvSpPr/>
            <p:nvPr/>
          </p:nvSpPr>
          <p:spPr>
            <a:xfrm flipH="false" flipV="false" rot="0">
              <a:off x="0" y="0"/>
              <a:ext cx="10911840" cy="7680960"/>
            </a:xfrm>
            <a:custGeom>
              <a:avLst/>
              <a:gdLst/>
              <a:ahLst/>
              <a:cxnLst/>
              <a:rect r="r" b="b" t="t" l="l"/>
              <a:pathLst>
                <a:path h="7680960" w="10911840">
                  <a:moveTo>
                    <a:pt x="0" y="0"/>
                  </a:moveTo>
                  <a:lnTo>
                    <a:pt x="10911840" y="0"/>
                  </a:lnTo>
                  <a:lnTo>
                    <a:pt x="10911840" y="7680960"/>
                  </a:lnTo>
                  <a:lnTo>
                    <a:pt x="0" y="7680960"/>
                  </a:lnTo>
                  <a:lnTo>
                    <a:pt x="0" y="0"/>
                  </a:lnTo>
                  <a:close/>
                </a:path>
              </a:pathLst>
            </a:custGeom>
            <a:blipFill>
              <a:blip r:embed="rId10"/>
              <a:stretch>
                <a:fillRect l="-19" t="0" r="-19" b="0"/>
              </a:stretch>
            </a:blipFill>
          </p:spPr>
        </p:sp>
      </p:gr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INTERFACE: LES PROFILS</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TextBox 7" id="7"/>
          <p:cNvSpPr txBox="true"/>
          <p:nvPr/>
        </p:nvSpPr>
        <p:spPr>
          <a:xfrm rot="0">
            <a:off x="777240" y="8646458"/>
            <a:ext cx="16733520" cy="463550"/>
          </a:xfrm>
          <a:prstGeom prst="rect">
            <a:avLst/>
          </a:prstGeom>
        </p:spPr>
        <p:txBody>
          <a:bodyPr anchor="t" rtlCol="false" tIns="0" lIns="0" bIns="0" rIns="0">
            <a:spAutoFit/>
          </a:bodyPr>
          <a:lstStyle/>
          <a:p>
            <a:pPr algn="l">
              <a:lnSpc>
                <a:spcPts val="3359"/>
              </a:lnSpc>
            </a:pPr>
            <a:r>
              <a:rPr lang="en-US" b="true" sz="2799">
                <a:solidFill>
                  <a:srgbClr val="171C2A"/>
                </a:solidFill>
                <a:latin typeface="Helvetica World Bold"/>
                <a:ea typeface="Helvetica World Bold"/>
                <a:cs typeface="Helvetica World Bold"/>
                <a:sym typeface="Helvetica World Bold"/>
              </a:rPr>
              <a:t>Une application web où chaque métier voit ce qui le concerne, et où chaque décision est tracée.</a:t>
            </a:r>
          </a:p>
        </p:txBody>
      </p:sp>
      <p:grpSp>
        <p:nvGrpSpPr>
          <p:cNvPr name="Group 8" id="8"/>
          <p:cNvGrpSpPr/>
          <p:nvPr/>
        </p:nvGrpSpPr>
        <p:grpSpPr>
          <a:xfrm rot="0">
            <a:off x="1074914" y="2179837"/>
            <a:ext cx="4613284" cy="871188"/>
            <a:chOff x="0" y="0"/>
            <a:chExt cx="6151045" cy="1161584"/>
          </a:xfrm>
        </p:grpSpPr>
        <p:sp>
          <p:nvSpPr>
            <p:cNvPr name="Freeform 9" id="9"/>
            <p:cNvSpPr/>
            <p:nvPr/>
          </p:nvSpPr>
          <p:spPr>
            <a:xfrm flipH="false" flipV="false" rot="0">
              <a:off x="0" y="0"/>
              <a:ext cx="6151045" cy="1161584"/>
            </a:xfrm>
            <a:custGeom>
              <a:avLst/>
              <a:gdLst/>
              <a:ahLst/>
              <a:cxnLst/>
              <a:rect r="r" b="b" t="t" l="l"/>
              <a:pathLst>
                <a:path h="1161584" w="6151045">
                  <a:moveTo>
                    <a:pt x="0" y="0"/>
                  </a:moveTo>
                  <a:lnTo>
                    <a:pt x="6151045" y="0"/>
                  </a:lnTo>
                  <a:lnTo>
                    <a:pt x="6151045" y="1161584"/>
                  </a:lnTo>
                  <a:lnTo>
                    <a:pt x="0" y="1161584"/>
                  </a:lnTo>
                  <a:close/>
                </a:path>
              </a:pathLst>
            </a:custGeom>
            <a:solidFill>
              <a:srgbClr val="171C2A"/>
            </a:solidFill>
          </p:spPr>
        </p:sp>
        <p:sp>
          <p:nvSpPr>
            <p:cNvPr name="TextBox 10" id="10"/>
            <p:cNvSpPr txBox="true"/>
            <p:nvPr/>
          </p:nvSpPr>
          <p:spPr>
            <a:xfrm>
              <a:off x="0" y="9525"/>
              <a:ext cx="6151045"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CHIRURGIEN</a:t>
              </a:r>
            </a:p>
          </p:txBody>
        </p:sp>
      </p:grpSp>
      <p:grpSp>
        <p:nvGrpSpPr>
          <p:cNvPr name="Group 11" id="11"/>
          <p:cNvGrpSpPr/>
          <p:nvPr/>
        </p:nvGrpSpPr>
        <p:grpSpPr>
          <a:xfrm rot="0">
            <a:off x="1074914" y="3045199"/>
            <a:ext cx="4613284" cy="5061964"/>
            <a:chOff x="0" y="0"/>
            <a:chExt cx="6151045" cy="6749286"/>
          </a:xfrm>
        </p:grpSpPr>
        <p:sp>
          <p:nvSpPr>
            <p:cNvPr name="Freeform 12" id="12"/>
            <p:cNvSpPr/>
            <p:nvPr/>
          </p:nvSpPr>
          <p:spPr>
            <a:xfrm flipH="false" flipV="false" rot="0">
              <a:off x="0" y="0"/>
              <a:ext cx="6151045" cy="6749255"/>
            </a:xfrm>
            <a:custGeom>
              <a:avLst/>
              <a:gdLst/>
              <a:ahLst/>
              <a:cxnLst/>
              <a:rect r="r" b="b" t="t" l="l"/>
              <a:pathLst>
                <a:path h="6749255" w="6151045">
                  <a:moveTo>
                    <a:pt x="0" y="0"/>
                  </a:moveTo>
                  <a:lnTo>
                    <a:pt x="6151045" y="0"/>
                  </a:lnTo>
                  <a:lnTo>
                    <a:pt x="6151045" y="6749255"/>
                  </a:lnTo>
                  <a:lnTo>
                    <a:pt x="0" y="6749255"/>
                  </a:lnTo>
                  <a:close/>
                </a:path>
              </a:pathLst>
            </a:custGeom>
            <a:solidFill>
              <a:srgbClr val="F2F8F6"/>
            </a:solidFill>
          </p:spPr>
        </p:sp>
      </p:grpSp>
      <p:sp>
        <p:nvSpPr>
          <p:cNvPr name="TextBox 13" id="13"/>
          <p:cNvSpPr txBox="true"/>
          <p:nvPr/>
        </p:nvSpPr>
        <p:spPr>
          <a:xfrm rot="0">
            <a:off x="1308230" y="3209791"/>
            <a:ext cx="4146653" cy="3835400"/>
          </a:xfrm>
          <a:prstGeom prst="rect">
            <a:avLst/>
          </a:prstGeom>
        </p:spPr>
        <p:txBody>
          <a:bodyPr anchor="t" rtlCol="false" tIns="0" lIns="0" bIns="0" rIns="0">
            <a:spAutoFit/>
          </a:bodyPr>
          <a:lstStyle/>
          <a:p>
            <a:pPr algn="l">
              <a:lnSpc>
                <a:spcPts val="4200"/>
              </a:lnSpc>
            </a:pPr>
            <a:r>
              <a:rPr lang="en-US" sz="3500" b="true">
                <a:solidFill>
                  <a:srgbClr val="171C2A"/>
                </a:solidFill>
                <a:latin typeface="Helvetica World Bold"/>
                <a:ea typeface="Helvetica World Bold"/>
                <a:cs typeface="Helvetica World Bold"/>
                <a:sym typeface="Helvetica World Bold"/>
              </a:rPr>
              <a:t>Sa consultation</a:t>
            </a:r>
          </a:p>
          <a:p>
            <a:pPr algn="l">
              <a:lnSpc>
                <a:spcPts val="4200"/>
              </a:lnSpc>
            </a:pPr>
            <a:r>
              <a:rPr lang="en-US" sz="3500">
                <a:solidFill>
                  <a:srgbClr val="171C2A"/>
                </a:solidFill>
                <a:latin typeface="Helvetica World"/>
                <a:ea typeface="Helvetica World"/>
                <a:cs typeface="Helvetica World"/>
                <a:sym typeface="Helvetica World"/>
              </a:rPr>
              <a:t>Saisie en 3 étapes, prédictions validées, choix parmi 4 créneaux comparés.</a:t>
            </a:r>
          </a:p>
          <a:p>
            <a:pPr algn="l">
              <a:lnSpc>
                <a:spcPts val="4200"/>
              </a:lnSpc>
            </a:pPr>
            <a:r>
              <a:rPr lang="en-US" sz="3500" b="true">
                <a:solidFill>
                  <a:srgbClr val="2628ED"/>
                </a:solidFill>
                <a:latin typeface="Helvetica World Bold"/>
                <a:ea typeface="Helvetica World Bold"/>
                <a:cs typeface="Helvetica World Bold"/>
                <a:sym typeface="Helvetica World Bold"/>
              </a:rPr>
              <a:t>Onglet : </a:t>
            </a:r>
            <a:r>
              <a:rPr lang="en-US" sz="3500">
                <a:solidFill>
                  <a:srgbClr val="2628ED"/>
                </a:solidFill>
                <a:latin typeface="Helvetica World"/>
                <a:ea typeface="Helvetica World"/>
                <a:cs typeface="Helvetica World"/>
                <a:sym typeface="Helvetica World"/>
              </a:rPr>
              <a:t>Consultation</a:t>
            </a:r>
          </a:p>
        </p:txBody>
      </p:sp>
      <p:grpSp>
        <p:nvGrpSpPr>
          <p:cNvPr name="Group 14" id="14"/>
          <p:cNvGrpSpPr/>
          <p:nvPr/>
        </p:nvGrpSpPr>
        <p:grpSpPr>
          <a:xfrm rot="0">
            <a:off x="6837358" y="2179837"/>
            <a:ext cx="4613284" cy="871188"/>
            <a:chOff x="0" y="0"/>
            <a:chExt cx="6151045" cy="1161584"/>
          </a:xfrm>
        </p:grpSpPr>
        <p:sp>
          <p:nvSpPr>
            <p:cNvPr name="Freeform 15" id="15"/>
            <p:cNvSpPr/>
            <p:nvPr/>
          </p:nvSpPr>
          <p:spPr>
            <a:xfrm flipH="false" flipV="false" rot="0">
              <a:off x="0" y="0"/>
              <a:ext cx="6151045" cy="1161584"/>
            </a:xfrm>
            <a:custGeom>
              <a:avLst/>
              <a:gdLst/>
              <a:ahLst/>
              <a:cxnLst/>
              <a:rect r="r" b="b" t="t" l="l"/>
              <a:pathLst>
                <a:path h="1161584" w="6151045">
                  <a:moveTo>
                    <a:pt x="0" y="0"/>
                  </a:moveTo>
                  <a:lnTo>
                    <a:pt x="6151045" y="0"/>
                  </a:lnTo>
                  <a:lnTo>
                    <a:pt x="6151045" y="1161584"/>
                  </a:lnTo>
                  <a:lnTo>
                    <a:pt x="0" y="1161584"/>
                  </a:lnTo>
                  <a:close/>
                </a:path>
              </a:pathLst>
            </a:custGeom>
            <a:solidFill>
              <a:srgbClr val="171C2A"/>
            </a:solidFill>
          </p:spPr>
        </p:sp>
        <p:sp>
          <p:nvSpPr>
            <p:cNvPr name="TextBox 16" id="16"/>
            <p:cNvSpPr txBox="true"/>
            <p:nvPr/>
          </p:nvSpPr>
          <p:spPr>
            <a:xfrm>
              <a:off x="0" y="9525"/>
              <a:ext cx="6151045"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CADRE DE BLOC</a:t>
              </a:r>
            </a:p>
          </p:txBody>
        </p:sp>
      </p:grpSp>
      <p:grpSp>
        <p:nvGrpSpPr>
          <p:cNvPr name="Group 17" id="17"/>
          <p:cNvGrpSpPr/>
          <p:nvPr/>
        </p:nvGrpSpPr>
        <p:grpSpPr>
          <a:xfrm rot="0">
            <a:off x="6837358" y="3045199"/>
            <a:ext cx="4613284" cy="5061964"/>
            <a:chOff x="0" y="0"/>
            <a:chExt cx="6151045" cy="6749286"/>
          </a:xfrm>
        </p:grpSpPr>
        <p:sp>
          <p:nvSpPr>
            <p:cNvPr name="Freeform 18" id="18"/>
            <p:cNvSpPr/>
            <p:nvPr/>
          </p:nvSpPr>
          <p:spPr>
            <a:xfrm flipH="false" flipV="false" rot="0">
              <a:off x="0" y="0"/>
              <a:ext cx="6151045" cy="6749255"/>
            </a:xfrm>
            <a:custGeom>
              <a:avLst/>
              <a:gdLst/>
              <a:ahLst/>
              <a:cxnLst/>
              <a:rect r="r" b="b" t="t" l="l"/>
              <a:pathLst>
                <a:path h="6749255" w="6151045">
                  <a:moveTo>
                    <a:pt x="0" y="0"/>
                  </a:moveTo>
                  <a:lnTo>
                    <a:pt x="6151045" y="0"/>
                  </a:lnTo>
                  <a:lnTo>
                    <a:pt x="6151045" y="6749255"/>
                  </a:lnTo>
                  <a:lnTo>
                    <a:pt x="0" y="6749255"/>
                  </a:lnTo>
                  <a:close/>
                </a:path>
              </a:pathLst>
            </a:custGeom>
            <a:solidFill>
              <a:srgbClr val="F2F8F6"/>
            </a:solidFill>
          </p:spPr>
        </p:sp>
      </p:grpSp>
      <p:sp>
        <p:nvSpPr>
          <p:cNvPr name="TextBox 19" id="19"/>
          <p:cNvSpPr txBox="true"/>
          <p:nvPr/>
        </p:nvSpPr>
        <p:spPr>
          <a:xfrm rot="0">
            <a:off x="7070674" y="3209791"/>
            <a:ext cx="4146653" cy="3835400"/>
          </a:xfrm>
          <a:prstGeom prst="rect">
            <a:avLst/>
          </a:prstGeom>
        </p:spPr>
        <p:txBody>
          <a:bodyPr anchor="t" rtlCol="false" tIns="0" lIns="0" bIns="0" rIns="0">
            <a:spAutoFit/>
          </a:bodyPr>
          <a:lstStyle/>
          <a:p>
            <a:pPr algn="l">
              <a:lnSpc>
                <a:spcPts val="4200"/>
              </a:lnSpc>
            </a:pPr>
            <a:r>
              <a:rPr lang="en-US" sz="3500" b="true">
                <a:solidFill>
                  <a:srgbClr val="171C2A"/>
                </a:solidFill>
                <a:latin typeface="Helvetica World Bold"/>
                <a:ea typeface="Helvetica World Bold"/>
                <a:cs typeface="Helvetica World Bold"/>
                <a:sym typeface="Helvetica World Bold"/>
              </a:rPr>
              <a:t>Toutes les salles</a:t>
            </a:r>
          </a:p>
          <a:p>
            <a:pPr algn="l">
              <a:lnSpc>
                <a:spcPts val="4200"/>
              </a:lnSpc>
            </a:pPr>
            <a:r>
              <a:rPr lang="en-US" sz="3500">
                <a:solidFill>
                  <a:srgbClr val="171C2A"/>
                </a:solidFill>
                <a:latin typeface="Helvetica World"/>
                <a:ea typeface="Helvetica World"/>
                <a:cs typeface="Helvetica World"/>
                <a:sym typeface="Helvetica World"/>
              </a:rPr>
              <a:t>Programme du jour, déclaration d'une urgence ou d'une panne, recalcul.</a:t>
            </a:r>
          </a:p>
          <a:p>
            <a:pPr algn="l">
              <a:lnSpc>
                <a:spcPts val="4200"/>
              </a:lnSpc>
            </a:pPr>
            <a:r>
              <a:rPr lang="en-US" sz="3500" b="true">
                <a:solidFill>
                  <a:srgbClr val="2628ED"/>
                </a:solidFill>
                <a:latin typeface="Helvetica World Bold"/>
                <a:ea typeface="Helvetica World Bold"/>
                <a:cs typeface="Helvetica World Bold"/>
                <a:sym typeface="Helvetica World Bold"/>
              </a:rPr>
              <a:t>Onglet : </a:t>
            </a:r>
            <a:r>
              <a:rPr lang="en-US" sz="3500">
                <a:solidFill>
                  <a:srgbClr val="2628ED"/>
                </a:solidFill>
                <a:latin typeface="Helvetica World"/>
                <a:ea typeface="Helvetica World"/>
                <a:cs typeface="Helvetica World"/>
                <a:sym typeface="Helvetica World"/>
              </a:rPr>
              <a:t>Planning Urgences</a:t>
            </a:r>
          </a:p>
        </p:txBody>
      </p:sp>
      <p:grpSp>
        <p:nvGrpSpPr>
          <p:cNvPr name="Group 20" id="20"/>
          <p:cNvGrpSpPr/>
          <p:nvPr/>
        </p:nvGrpSpPr>
        <p:grpSpPr>
          <a:xfrm rot="0">
            <a:off x="12599802" y="2179837"/>
            <a:ext cx="4613284" cy="871188"/>
            <a:chOff x="0" y="0"/>
            <a:chExt cx="6151045" cy="1161584"/>
          </a:xfrm>
        </p:grpSpPr>
        <p:sp>
          <p:nvSpPr>
            <p:cNvPr name="Freeform 21" id="21"/>
            <p:cNvSpPr/>
            <p:nvPr/>
          </p:nvSpPr>
          <p:spPr>
            <a:xfrm flipH="false" flipV="false" rot="0">
              <a:off x="0" y="0"/>
              <a:ext cx="6151045" cy="1161584"/>
            </a:xfrm>
            <a:custGeom>
              <a:avLst/>
              <a:gdLst/>
              <a:ahLst/>
              <a:cxnLst/>
              <a:rect r="r" b="b" t="t" l="l"/>
              <a:pathLst>
                <a:path h="1161584" w="6151045">
                  <a:moveTo>
                    <a:pt x="0" y="0"/>
                  </a:moveTo>
                  <a:lnTo>
                    <a:pt x="6151045" y="0"/>
                  </a:lnTo>
                  <a:lnTo>
                    <a:pt x="6151045" y="1161584"/>
                  </a:lnTo>
                  <a:lnTo>
                    <a:pt x="0" y="1161584"/>
                  </a:lnTo>
                  <a:close/>
                </a:path>
              </a:pathLst>
            </a:custGeom>
            <a:solidFill>
              <a:srgbClr val="171C2A"/>
            </a:solidFill>
          </p:spPr>
        </p:sp>
        <p:sp>
          <p:nvSpPr>
            <p:cNvPr name="TextBox 22" id="22"/>
            <p:cNvSpPr txBox="true"/>
            <p:nvPr/>
          </p:nvSpPr>
          <p:spPr>
            <a:xfrm>
              <a:off x="0" y="9525"/>
              <a:ext cx="6151045"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ADMINISTRATEUR</a:t>
              </a:r>
            </a:p>
          </p:txBody>
        </p:sp>
      </p:grpSp>
      <p:grpSp>
        <p:nvGrpSpPr>
          <p:cNvPr name="Group 23" id="23"/>
          <p:cNvGrpSpPr/>
          <p:nvPr/>
        </p:nvGrpSpPr>
        <p:grpSpPr>
          <a:xfrm rot="0">
            <a:off x="12599802" y="3045199"/>
            <a:ext cx="4613284" cy="5061964"/>
            <a:chOff x="0" y="0"/>
            <a:chExt cx="6151045" cy="6749286"/>
          </a:xfrm>
        </p:grpSpPr>
        <p:sp>
          <p:nvSpPr>
            <p:cNvPr name="Freeform 24" id="24"/>
            <p:cNvSpPr/>
            <p:nvPr/>
          </p:nvSpPr>
          <p:spPr>
            <a:xfrm flipH="false" flipV="false" rot="0">
              <a:off x="0" y="0"/>
              <a:ext cx="6151045" cy="6749255"/>
            </a:xfrm>
            <a:custGeom>
              <a:avLst/>
              <a:gdLst/>
              <a:ahLst/>
              <a:cxnLst/>
              <a:rect r="r" b="b" t="t" l="l"/>
              <a:pathLst>
                <a:path h="6749255" w="6151045">
                  <a:moveTo>
                    <a:pt x="0" y="0"/>
                  </a:moveTo>
                  <a:lnTo>
                    <a:pt x="6151045" y="0"/>
                  </a:lnTo>
                  <a:lnTo>
                    <a:pt x="6151045" y="6749255"/>
                  </a:lnTo>
                  <a:lnTo>
                    <a:pt x="0" y="6749255"/>
                  </a:lnTo>
                  <a:close/>
                </a:path>
              </a:pathLst>
            </a:custGeom>
            <a:solidFill>
              <a:srgbClr val="F2F8F6"/>
            </a:solidFill>
          </p:spPr>
        </p:sp>
      </p:grpSp>
      <p:sp>
        <p:nvSpPr>
          <p:cNvPr name="TextBox 25" id="25"/>
          <p:cNvSpPr txBox="true"/>
          <p:nvPr/>
        </p:nvSpPr>
        <p:spPr>
          <a:xfrm rot="0">
            <a:off x="12833118" y="3209791"/>
            <a:ext cx="4146653" cy="4419600"/>
          </a:xfrm>
          <a:prstGeom prst="rect">
            <a:avLst/>
          </a:prstGeom>
        </p:spPr>
        <p:txBody>
          <a:bodyPr anchor="t" rtlCol="false" tIns="0" lIns="0" bIns="0" rIns="0">
            <a:spAutoFit/>
          </a:bodyPr>
          <a:lstStyle/>
          <a:p>
            <a:pPr algn="l">
              <a:lnSpc>
                <a:spcPts val="4200"/>
              </a:lnSpc>
            </a:pPr>
            <a:r>
              <a:rPr lang="en-US" sz="3500" b="true">
                <a:solidFill>
                  <a:srgbClr val="171C2A"/>
                </a:solidFill>
                <a:latin typeface="Helvetica World Bold"/>
                <a:ea typeface="Helvetica World Bold"/>
                <a:cs typeface="Helvetica World Bold"/>
                <a:sym typeface="Helvetica World Bold"/>
              </a:rPr>
              <a:t>Comptes, paramètres</a:t>
            </a:r>
          </a:p>
          <a:p>
            <a:pPr algn="l">
              <a:lnSpc>
                <a:spcPts val="4200"/>
              </a:lnSpc>
            </a:pPr>
            <a:r>
              <a:rPr lang="en-US" sz="3500">
                <a:solidFill>
                  <a:srgbClr val="171C2A"/>
                </a:solidFill>
                <a:latin typeface="Helvetica World"/>
                <a:ea typeface="Helvetica World"/>
                <a:cs typeface="Helvetica World"/>
                <a:sym typeface="Helvetica World"/>
              </a:rPr>
              <a:t>Gère le nombre de lits, les membres, toute la configuration de l’hôpital.</a:t>
            </a:r>
          </a:p>
          <a:p>
            <a:pPr algn="l">
              <a:lnSpc>
                <a:spcPts val="4200"/>
              </a:lnSpc>
            </a:pPr>
            <a:r>
              <a:rPr lang="en-US" sz="3500" b="true">
                <a:solidFill>
                  <a:srgbClr val="2628ED"/>
                </a:solidFill>
                <a:latin typeface="Helvetica World Bold"/>
                <a:ea typeface="Helvetica World Bold"/>
                <a:cs typeface="Helvetica World Bold"/>
                <a:sym typeface="Helvetica World Bold"/>
              </a:rPr>
              <a:t>Onglet :</a:t>
            </a:r>
            <a:r>
              <a:rPr lang="en-US" sz="3500">
                <a:solidFill>
                  <a:srgbClr val="2628ED"/>
                </a:solidFill>
                <a:latin typeface="Helvetica World"/>
                <a:ea typeface="Helvetica World"/>
                <a:cs typeface="Helvetica World"/>
                <a:sym typeface="Helvetica World"/>
              </a:rPr>
              <a:t>Administration et Tableau de B</a:t>
            </a:r>
          </a:p>
        </p:txBody>
      </p:sp>
      <p:grpSp>
        <p:nvGrpSpPr>
          <p:cNvPr name="Group 26" id="26"/>
          <p:cNvGrpSpPr/>
          <p:nvPr/>
        </p:nvGrpSpPr>
        <p:grpSpPr>
          <a:xfrm rot="0">
            <a:off x="453390" y="9699939"/>
            <a:ext cx="2230494" cy="396881"/>
            <a:chOff x="0" y="0"/>
            <a:chExt cx="2973991" cy="529175"/>
          </a:xfrm>
        </p:grpSpPr>
        <p:sp>
          <p:nvSpPr>
            <p:cNvPr name="Freeform 27" id="27"/>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1" id="31"/>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32" id="32"/>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33" id="3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INTERFACE: LES CONSULTATIONS</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TextBox 7" id="7"/>
          <p:cNvSpPr txBox="true"/>
          <p:nvPr/>
        </p:nvSpPr>
        <p:spPr>
          <a:xfrm rot="0">
            <a:off x="782003" y="9057924"/>
            <a:ext cx="16733520" cy="428625"/>
          </a:xfrm>
          <a:prstGeom prst="rect">
            <a:avLst/>
          </a:prstGeom>
        </p:spPr>
        <p:txBody>
          <a:bodyPr anchor="t" rtlCol="false" tIns="0" lIns="0" bIns="0" rIns="0">
            <a:spAutoFit/>
          </a:bodyPr>
          <a:lstStyle/>
          <a:p>
            <a:pPr algn="l">
              <a:lnSpc>
                <a:spcPts val="3119"/>
              </a:lnSpc>
            </a:pPr>
            <a:r>
              <a:rPr lang="en-US" b="true" sz="2599">
                <a:solidFill>
                  <a:srgbClr val="171C2A"/>
                </a:solidFill>
                <a:latin typeface="Helvetica World Bold"/>
                <a:ea typeface="Helvetica World Bold"/>
                <a:cs typeface="Helvetica World Bold"/>
                <a:sym typeface="Helvetica World Bold"/>
              </a:rPr>
              <a:t>Le système propose, le chirurgien valide puis choisit son créneau.</a:t>
            </a:r>
          </a:p>
        </p:txBody>
      </p:sp>
      <p:sp>
        <p:nvSpPr>
          <p:cNvPr name="TextBox 8" id="8"/>
          <p:cNvSpPr txBox="true"/>
          <p:nvPr/>
        </p:nvSpPr>
        <p:spPr>
          <a:xfrm rot="0">
            <a:off x="782003" y="1877093"/>
            <a:ext cx="10881360" cy="374650"/>
          </a:xfrm>
          <a:prstGeom prst="rect">
            <a:avLst/>
          </a:prstGeom>
        </p:spPr>
        <p:txBody>
          <a:bodyPr anchor="t" rtlCol="false" tIns="0" lIns="0" bIns="0" rIns="0">
            <a:spAutoFit/>
          </a:bodyPr>
          <a:lstStyle/>
          <a:p>
            <a:pPr algn="l">
              <a:lnSpc>
                <a:spcPts val="2639"/>
              </a:lnSpc>
            </a:pPr>
            <a:r>
              <a:rPr lang="en-US" sz="2199" b="true">
                <a:solidFill>
                  <a:srgbClr val="2628ED"/>
                </a:solidFill>
                <a:latin typeface="Helvetica World Bold"/>
                <a:ea typeface="Helvetica World Bold"/>
                <a:cs typeface="Helvetica World Bold"/>
                <a:sym typeface="Helvetica World Bold"/>
              </a:rPr>
              <a:t>Étape 2 · prédictions et valeurs retenues</a:t>
            </a:r>
          </a:p>
        </p:txBody>
      </p:sp>
      <p:grpSp>
        <p:nvGrpSpPr>
          <p:cNvPr name="Group 9" id="9"/>
          <p:cNvGrpSpPr/>
          <p:nvPr/>
        </p:nvGrpSpPr>
        <p:grpSpPr>
          <a:xfrm rot="0">
            <a:off x="772478" y="2431067"/>
            <a:ext cx="10890885" cy="1967255"/>
            <a:chOff x="0" y="0"/>
            <a:chExt cx="14521180" cy="2623007"/>
          </a:xfrm>
        </p:grpSpPr>
        <p:sp>
          <p:nvSpPr>
            <p:cNvPr name="Freeform 10" id="10" descr="shot26_1.png"/>
            <p:cNvSpPr/>
            <p:nvPr/>
          </p:nvSpPr>
          <p:spPr>
            <a:xfrm flipH="false" flipV="false" rot="0">
              <a:off x="0" y="0"/>
              <a:ext cx="14521180" cy="2623058"/>
            </a:xfrm>
            <a:custGeom>
              <a:avLst/>
              <a:gdLst/>
              <a:ahLst/>
              <a:cxnLst/>
              <a:rect r="r" b="b" t="t" l="l"/>
              <a:pathLst>
                <a:path h="2623058" w="14521180">
                  <a:moveTo>
                    <a:pt x="0" y="0"/>
                  </a:moveTo>
                  <a:lnTo>
                    <a:pt x="14521180" y="0"/>
                  </a:lnTo>
                  <a:lnTo>
                    <a:pt x="14521180" y="2623058"/>
                  </a:lnTo>
                  <a:lnTo>
                    <a:pt x="0" y="2623058"/>
                  </a:lnTo>
                  <a:lnTo>
                    <a:pt x="0" y="0"/>
                  </a:lnTo>
                  <a:close/>
                </a:path>
              </a:pathLst>
            </a:custGeom>
            <a:blipFill>
              <a:blip r:embed="rId4"/>
              <a:stretch>
                <a:fillRect l="-199" t="0" r="-199" b="1"/>
              </a:stretch>
            </a:blipFill>
          </p:spPr>
        </p:sp>
      </p:grpSp>
      <p:sp>
        <p:nvSpPr>
          <p:cNvPr name="TextBox 11" id="11"/>
          <p:cNvSpPr txBox="true"/>
          <p:nvPr/>
        </p:nvSpPr>
        <p:spPr>
          <a:xfrm rot="0">
            <a:off x="777240" y="4630923"/>
            <a:ext cx="10881360" cy="368300"/>
          </a:xfrm>
          <a:prstGeom prst="rect">
            <a:avLst/>
          </a:prstGeom>
        </p:spPr>
        <p:txBody>
          <a:bodyPr anchor="t" rtlCol="false" tIns="0" lIns="0" bIns="0" rIns="0">
            <a:spAutoFit/>
          </a:bodyPr>
          <a:lstStyle/>
          <a:p>
            <a:pPr algn="l">
              <a:lnSpc>
                <a:spcPts val="2639"/>
              </a:lnSpc>
            </a:pPr>
            <a:r>
              <a:rPr lang="en-US" sz="2199" b="true">
                <a:solidFill>
                  <a:srgbClr val="2628ED"/>
                </a:solidFill>
                <a:latin typeface="Helvetica World Bold"/>
                <a:ea typeface="Helvetica World Bold"/>
                <a:cs typeface="Helvetica World Bold"/>
                <a:sym typeface="Helvetica World Bold"/>
              </a:rPr>
              <a:t>Étape 3 · créneaux proposés par les agents</a:t>
            </a:r>
          </a:p>
        </p:txBody>
      </p:sp>
      <p:grpSp>
        <p:nvGrpSpPr>
          <p:cNvPr name="Group 12" id="12"/>
          <p:cNvGrpSpPr/>
          <p:nvPr/>
        </p:nvGrpSpPr>
        <p:grpSpPr>
          <a:xfrm rot="0">
            <a:off x="772478" y="5120318"/>
            <a:ext cx="10186321" cy="3756631"/>
            <a:chOff x="0" y="0"/>
            <a:chExt cx="13581761" cy="5008842"/>
          </a:xfrm>
        </p:grpSpPr>
        <p:sp>
          <p:nvSpPr>
            <p:cNvPr name="Freeform 13" id="13" descr="shot26_0.png"/>
            <p:cNvSpPr/>
            <p:nvPr/>
          </p:nvSpPr>
          <p:spPr>
            <a:xfrm flipH="false" flipV="false" rot="0">
              <a:off x="0" y="0"/>
              <a:ext cx="13581762" cy="5008880"/>
            </a:xfrm>
            <a:custGeom>
              <a:avLst/>
              <a:gdLst/>
              <a:ahLst/>
              <a:cxnLst/>
              <a:rect r="r" b="b" t="t" l="l"/>
              <a:pathLst>
                <a:path h="5008880" w="13581762">
                  <a:moveTo>
                    <a:pt x="0" y="0"/>
                  </a:moveTo>
                  <a:lnTo>
                    <a:pt x="13581762" y="0"/>
                  </a:lnTo>
                  <a:lnTo>
                    <a:pt x="13581762" y="5008880"/>
                  </a:lnTo>
                  <a:lnTo>
                    <a:pt x="0" y="5008880"/>
                  </a:lnTo>
                  <a:lnTo>
                    <a:pt x="0" y="0"/>
                  </a:lnTo>
                  <a:close/>
                </a:path>
              </a:pathLst>
            </a:custGeom>
            <a:blipFill>
              <a:blip r:embed="rId5"/>
              <a:stretch>
                <a:fillRect l="-80" t="0" r="-80" b="0"/>
              </a:stretch>
            </a:blipFill>
          </p:spPr>
        </p:sp>
      </p:grpSp>
      <p:grpSp>
        <p:nvGrpSpPr>
          <p:cNvPr name="Group 14" id="14"/>
          <p:cNvGrpSpPr/>
          <p:nvPr/>
        </p:nvGrpSpPr>
        <p:grpSpPr>
          <a:xfrm rot="0">
            <a:off x="11887200" y="2098357"/>
            <a:ext cx="5623560" cy="869071"/>
            <a:chOff x="0" y="0"/>
            <a:chExt cx="7498080" cy="1158762"/>
          </a:xfrm>
        </p:grpSpPr>
        <p:sp>
          <p:nvSpPr>
            <p:cNvPr name="Freeform 15" id="15"/>
            <p:cNvSpPr/>
            <p:nvPr/>
          </p:nvSpPr>
          <p:spPr>
            <a:xfrm flipH="false" flipV="false" rot="0">
              <a:off x="0" y="0"/>
              <a:ext cx="7498080" cy="1158762"/>
            </a:xfrm>
            <a:custGeom>
              <a:avLst/>
              <a:gdLst/>
              <a:ahLst/>
              <a:cxnLst/>
              <a:rect r="r" b="b" t="t" l="l"/>
              <a:pathLst>
                <a:path h="1158762" w="7498080">
                  <a:moveTo>
                    <a:pt x="0" y="0"/>
                  </a:moveTo>
                  <a:lnTo>
                    <a:pt x="7498080" y="0"/>
                  </a:lnTo>
                  <a:lnTo>
                    <a:pt x="7498080" y="1158762"/>
                  </a:lnTo>
                  <a:lnTo>
                    <a:pt x="0" y="1158762"/>
                  </a:lnTo>
                  <a:close/>
                </a:path>
              </a:pathLst>
            </a:custGeom>
            <a:solidFill>
              <a:srgbClr val="171C2A"/>
            </a:solidFill>
          </p:spPr>
        </p:sp>
        <p:sp>
          <p:nvSpPr>
            <p:cNvPr name="TextBox 16" id="16"/>
            <p:cNvSpPr txBox="true"/>
            <p:nvPr/>
          </p:nvSpPr>
          <p:spPr>
            <a:xfrm>
              <a:off x="0" y="9525"/>
              <a:ext cx="7498080" cy="1149237"/>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Exemple de c</a:t>
              </a:r>
              <a:r>
                <a:rPr lang="en-US" sz="2999" b="true">
                  <a:solidFill>
                    <a:srgbClr val="FFFFFF"/>
                  </a:solidFill>
                  <a:latin typeface="Helvetica World Bold"/>
                  <a:ea typeface="Helvetica World Bold"/>
                  <a:cs typeface="Helvetica World Bold"/>
                  <a:sym typeface="Helvetica World Bold"/>
                </a:rPr>
                <a:t>as réel saisi</a:t>
              </a:r>
            </a:p>
          </p:txBody>
        </p:sp>
      </p:grpSp>
      <p:grpSp>
        <p:nvGrpSpPr>
          <p:cNvPr name="Group 17" id="17"/>
          <p:cNvGrpSpPr/>
          <p:nvPr/>
        </p:nvGrpSpPr>
        <p:grpSpPr>
          <a:xfrm rot="0">
            <a:off x="11887200" y="2969545"/>
            <a:ext cx="5623560" cy="5574694"/>
            <a:chOff x="0" y="0"/>
            <a:chExt cx="7498080" cy="7432925"/>
          </a:xfrm>
        </p:grpSpPr>
        <p:sp>
          <p:nvSpPr>
            <p:cNvPr name="Freeform 18" id="18"/>
            <p:cNvSpPr/>
            <p:nvPr/>
          </p:nvSpPr>
          <p:spPr>
            <a:xfrm flipH="false" flipV="false" rot="0">
              <a:off x="0" y="0"/>
              <a:ext cx="7498080" cy="7432891"/>
            </a:xfrm>
            <a:custGeom>
              <a:avLst/>
              <a:gdLst/>
              <a:ahLst/>
              <a:cxnLst/>
              <a:rect r="r" b="b" t="t" l="l"/>
              <a:pathLst>
                <a:path h="7432891" w="7498080">
                  <a:moveTo>
                    <a:pt x="0" y="0"/>
                  </a:moveTo>
                  <a:lnTo>
                    <a:pt x="7498080" y="0"/>
                  </a:lnTo>
                  <a:lnTo>
                    <a:pt x="7498080" y="7432891"/>
                  </a:lnTo>
                  <a:lnTo>
                    <a:pt x="0" y="7432891"/>
                  </a:lnTo>
                  <a:close/>
                </a:path>
              </a:pathLst>
            </a:custGeom>
            <a:solidFill>
              <a:srgbClr val="F2F8F6"/>
            </a:solidFill>
          </p:spPr>
        </p:sp>
      </p:grpSp>
      <p:sp>
        <p:nvSpPr>
          <p:cNvPr name="TextBox 19" id="19"/>
          <p:cNvSpPr txBox="true"/>
          <p:nvPr/>
        </p:nvSpPr>
        <p:spPr>
          <a:xfrm rot="0">
            <a:off x="12088368" y="3134137"/>
            <a:ext cx="5221224" cy="4779433"/>
          </a:xfrm>
          <a:prstGeom prst="rect">
            <a:avLst/>
          </a:prstGeom>
        </p:spPr>
        <p:txBody>
          <a:bodyPr anchor="t" rtlCol="false" tIns="0" lIns="0" bIns="0" rIns="0">
            <a:spAutoFit/>
          </a:bodyPr>
          <a:lstStyle/>
          <a:p>
            <a:pPr algn="l">
              <a:lnSpc>
                <a:spcPts val="3359"/>
              </a:lnSpc>
            </a:pPr>
            <a:r>
              <a:rPr lang="en-US" sz="2799">
                <a:solidFill>
                  <a:srgbClr val="171C2A"/>
                </a:solidFill>
                <a:latin typeface="Helvetica World"/>
                <a:ea typeface="Helvetica World"/>
                <a:cs typeface="Helvetica World"/>
                <a:sym typeface="Helvetica World"/>
              </a:rPr>
              <a:t>Femme, 72 ans, gonarthrose , prothèse totale de genou, anesthésie générale.</a:t>
            </a:r>
          </a:p>
          <a:p>
            <a:pPr algn="l">
              <a:lnSpc>
                <a:spcPts val="3359"/>
              </a:lnSpc>
            </a:pPr>
            <a:r>
              <a:rPr lang="en-US" sz="2799" b="true">
                <a:solidFill>
                  <a:srgbClr val="2628ED"/>
                </a:solidFill>
                <a:latin typeface="Helvetica World Bold"/>
                <a:ea typeface="Helvetica World Bold"/>
                <a:cs typeface="Helvetica World Bold"/>
                <a:sym typeface="Helvetica World Bold"/>
              </a:rPr>
              <a:t>Prédit :</a:t>
            </a:r>
          </a:p>
          <a:p>
            <a:pPr algn="l">
              <a:lnSpc>
                <a:spcPts val="3359"/>
              </a:lnSpc>
            </a:pPr>
            <a:r>
              <a:rPr lang="en-US" sz="2799" b="true">
                <a:solidFill>
                  <a:srgbClr val="171C2A"/>
                </a:solidFill>
                <a:latin typeface="Helvetica World Bold"/>
                <a:ea typeface="Helvetica World Bold"/>
                <a:cs typeface="Helvetica World Bold"/>
                <a:sym typeface="Helvetica World Bold"/>
              </a:rPr>
              <a:t>Hospitalisation, 110 min</a:t>
            </a:r>
            <a:r>
              <a:rPr lang="en-US" sz="2799">
                <a:solidFill>
                  <a:srgbClr val="171C2A"/>
                </a:solidFill>
                <a:latin typeface="Helvetica World"/>
                <a:ea typeface="Helvetica World"/>
                <a:cs typeface="Helvetica World"/>
                <a:sym typeface="Helvetica World"/>
              </a:rPr>
              <a:t> au bloc, 0 nuit avant, </a:t>
            </a:r>
            <a:r>
              <a:rPr lang="en-US" sz="2799" b="true">
                <a:solidFill>
                  <a:srgbClr val="171C2A"/>
                </a:solidFill>
                <a:latin typeface="Helvetica World Bold"/>
                <a:ea typeface="Helvetica World Bold"/>
                <a:cs typeface="Helvetica World Bold"/>
                <a:sym typeface="Helvetica World Bold"/>
              </a:rPr>
              <a:t>4 nuits après</a:t>
            </a:r>
            <a:r>
              <a:rPr lang="en-US" sz="2799">
                <a:solidFill>
                  <a:srgbClr val="171C2A"/>
                </a:solidFill>
                <a:latin typeface="Helvetica World"/>
                <a:ea typeface="Helvetica World"/>
                <a:cs typeface="Helvetica World"/>
                <a:sym typeface="Helvetica World"/>
              </a:rPr>
              <a:t>, priorité 1.</a:t>
            </a:r>
          </a:p>
          <a:p>
            <a:pPr algn="l">
              <a:lnSpc>
                <a:spcPts val="3359"/>
              </a:lnSpc>
            </a:pPr>
            <a:r>
              <a:rPr lang="en-US" sz="2799" b="true">
                <a:solidFill>
                  <a:srgbClr val="2628ED"/>
                </a:solidFill>
                <a:latin typeface="Helvetica World Bold"/>
                <a:ea typeface="Helvetica World Bold"/>
                <a:cs typeface="Helvetica World Bold"/>
                <a:sym typeface="Helvetica World Bold"/>
              </a:rPr>
              <a:t>Proposé :</a:t>
            </a:r>
          </a:p>
          <a:p>
            <a:pPr algn="l">
              <a:lnSpc>
                <a:spcPts val="3359"/>
              </a:lnSpc>
            </a:pPr>
            <a:r>
              <a:rPr lang="en-US" sz="2799" b="true">
                <a:solidFill>
                  <a:srgbClr val="171C2A"/>
                </a:solidFill>
                <a:latin typeface="Helvetica World Bold"/>
                <a:ea typeface="Helvetica World Bold"/>
                <a:cs typeface="Helvetica World Bold"/>
                <a:sym typeface="Helvetica World Bold"/>
              </a:rPr>
              <a:t>Jeudi 9 h, salle 4, Dr CT</a:t>
            </a:r>
            <a:r>
              <a:rPr lang="en-US" sz="2799">
                <a:solidFill>
                  <a:srgbClr val="171C2A"/>
                </a:solidFill>
                <a:latin typeface="Helvetica World"/>
                <a:ea typeface="Helvetica World"/>
                <a:cs typeface="Helvetica World"/>
                <a:sym typeface="Helvetica World"/>
              </a:rPr>
              <a:t> : aucun patient déplacé, 21 lits sur 27 ce jour-là.</a:t>
            </a:r>
          </a:p>
        </p:txBody>
      </p:sp>
      <p:grpSp>
        <p:nvGrpSpPr>
          <p:cNvPr name="Group 20" id="20"/>
          <p:cNvGrpSpPr/>
          <p:nvPr/>
        </p:nvGrpSpPr>
        <p:grpSpPr>
          <a:xfrm rot="0">
            <a:off x="453390" y="9699939"/>
            <a:ext cx="2230494" cy="396881"/>
            <a:chOff x="0" y="0"/>
            <a:chExt cx="2973991" cy="529175"/>
          </a:xfrm>
        </p:grpSpPr>
        <p:sp>
          <p:nvSpPr>
            <p:cNvPr name="Freeform 21" id="21"/>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26" id="26"/>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27" id="27"/>
          <p:cNvSpPr txBox="true"/>
          <p:nvPr/>
        </p:nvSpPr>
        <p:spPr>
          <a:xfrm rot="0">
            <a:off x="782003" y="1388143"/>
            <a:ext cx="10881360" cy="374650"/>
          </a:xfrm>
          <a:prstGeom prst="rect">
            <a:avLst/>
          </a:prstGeom>
        </p:spPr>
        <p:txBody>
          <a:bodyPr anchor="t" rtlCol="false" tIns="0" lIns="0" bIns="0" rIns="0">
            <a:spAutoFit/>
          </a:bodyPr>
          <a:lstStyle/>
          <a:p>
            <a:pPr algn="l">
              <a:lnSpc>
                <a:spcPts val="2639"/>
              </a:lnSpc>
            </a:pPr>
            <a:r>
              <a:rPr lang="en-US" sz="2199" b="true">
                <a:solidFill>
                  <a:srgbClr val="2628ED"/>
                </a:solidFill>
                <a:latin typeface="Helvetica World Bold"/>
                <a:ea typeface="Helvetica World Bold"/>
                <a:cs typeface="Helvetica World Bold"/>
                <a:sym typeface="Helvetica World Bold"/>
              </a:rPr>
              <a:t>Étape 1 · consultation</a:t>
            </a:r>
          </a:p>
        </p:txBody>
      </p:sp>
      <p:sp>
        <p:nvSpPr>
          <p:cNvPr name="TextBox 28" id="2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INTERFACE: </a:t>
              </a:r>
              <a:r>
                <a:rPr lang="en-US" sz="3200" b="true">
                  <a:solidFill>
                    <a:srgbClr val="171C2A"/>
                  </a:solidFill>
                  <a:latin typeface="Helvetica World Bold"/>
                  <a:ea typeface="Helvetica World Bold"/>
                  <a:cs typeface="Helvetica World Bold"/>
                  <a:sym typeface="Helvetica World Bold"/>
                </a:rPr>
                <a:t>LE PROGRAMME OPÉRATOIRE ET LE TABLEAU DE BORD</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121697" y="3039557"/>
            <a:ext cx="9750461" cy="4207885"/>
            <a:chOff x="0" y="0"/>
            <a:chExt cx="12139257" cy="5238788"/>
          </a:xfrm>
        </p:grpSpPr>
        <p:sp>
          <p:nvSpPr>
            <p:cNvPr name="Freeform 8" id="8" descr="shot27_0.png"/>
            <p:cNvSpPr/>
            <p:nvPr/>
          </p:nvSpPr>
          <p:spPr>
            <a:xfrm flipH="false" flipV="false" rot="0">
              <a:off x="0" y="0"/>
              <a:ext cx="12139295" cy="5238750"/>
            </a:xfrm>
            <a:custGeom>
              <a:avLst/>
              <a:gdLst/>
              <a:ahLst/>
              <a:cxnLst/>
              <a:rect r="r" b="b" t="t" l="l"/>
              <a:pathLst>
                <a:path h="5238750" w="12139295">
                  <a:moveTo>
                    <a:pt x="0" y="0"/>
                  </a:moveTo>
                  <a:lnTo>
                    <a:pt x="12139295" y="0"/>
                  </a:lnTo>
                  <a:lnTo>
                    <a:pt x="12139295" y="5238750"/>
                  </a:lnTo>
                  <a:lnTo>
                    <a:pt x="0" y="5238750"/>
                  </a:lnTo>
                  <a:lnTo>
                    <a:pt x="0" y="0"/>
                  </a:lnTo>
                  <a:close/>
                </a:path>
              </a:pathLst>
            </a:custGeom>
            <a:blipFill>
              <a:blip r:embed="rId4"/>
              <a:stretch>
                <a:fillRect l="-69" t="0" r="-68" b="0"/>
              </a:stretch>
            </a:blipFill>
          </p:spPr>
        </p:sp>
      </p:grpSp>
      <p:grpSp>
        <p:nvGrpSpPr>
          <p:cNvPr name="Group 9" id="9"/>
          <p:cNvGrpSpPr/>
          <p:nvPr/>
        </p:nvGrpSpPr>
        <p:grpSpPr>
          <a:xfrm rot="0">
            <a:off x="10041842" y="3006623"/>
            <a:ext cx="7848062" cy="4207885"/>
            <a:chOff x="0" y="0"/>
            <a:chExt cx="9770783" cy="5238788"/>
          </a:xfrm>
        </p:grpSpPr>
        <p:sp>
          <p:nvSpPr>
            <p:cNvPr name="Freeform 10" id="10" descr="shot28_0.png"/>
            <p:cNvSpPr/>
            <p:nvPr/>
          </p:nvSpPr>
          <p:spPr>
            <a:xfrm flipH="false" flipV="false" rot="0">
              <a:off x="0" y="0"/>
              <a:ext cx="9770745" cy="5238750"/>
            </a:xfrm>
            <a:custGeom>
              <a:avLst/>
              <a:gdLst/>
              <a:ahLst/>
              <a:cxnLst/>
              <a:rect r="r" b="b" t="t" l="l"/>
              <a:pathLst>
                <a:path h="5238750" w="9770745">
                  <a:moveTo>
                    <a:pt x="0" y="0"/>
                  </a:moveTo>
                  <a:lnTo>
                    <a:pt x="9770745" y="0"/>
                  </a:lnTo>
                  <a:lnTo>
                    <a:pt x="9770745" y="5238750"/>
                  </a:lnTo>
                  <a:lnTo>
                    <a:pt x="0" y="5238750"/>
                  </a:lnTo>
                  <a:lnTo>
                    <a:pt x="0" y="0"/>
                  </a:lnTo>
                  <a:close/>
                </a:path>
              </a:pathLst>
            </a:custGeom>
            <a:blipFill>
              <a:blip r:embed="rId5"/>
              <a:stretch>
                <a:fillRect l="-56" t="0" r="-56" b="0"/>
              </a:stretch>
            </a:blipFill>
          </p:spPr>
        </p:sp>
      </p:grpSp>
      <p:sp>
        <p:nvSpPr>
          <p:cNvPr name="TextBox 11" id="11"/>
          <p:cNvSpPr txBox="true"/>
          <p:nvPr/>
        </p:nvSpPr>
        <p:spPr>
          <a:xfrm rot="0">
            <a:off x="777240" y="7414662"/>
            <a:ext cx="9094918" cy="706755"/>
          </a:xfrm>
          <a:prstGeom prst="rect">
            <a:avLst/>
          </a:prstGeom>
        </p:spPr>
        <p:txBody>
          <a:bodyPr anchor="t" rtlCol="false" tIns="0" lIns="0" bIns="0" rIns="0">
            <a:spAutoFit/>
          </a:bodyPr>
          <a:lstStyle/>
          <a:p>
            <a:pPr algn="l">
              <a:lnSpc>
                <a:spcPts val="2639"/>
              </a:lnSpc>
            </a:pPr>
            <a:r>
              <a:rPr lang="en-US" sz="2199" b="true">
                <a:solidFill>
                  <a:srgbClr val="171C2A"/>
                </a:solidFill>
                <a:latin typeface="Helvetica World Bold"/>
                <a:ea typeface="Helvetica World Bold"/>
                <a:cs typeface="Helvetica World Bold"/>
                <a:sym typeface="Helvetica World Bold"/>
              </a:rPr>
              <a:t>Programme salle par salle. </a:t>
            </a:r>
            <a:r>
              <a:rPr lang="en-US" sz="2199">
                <a:solidFill>
                  <a:srgbClr val="171C2A"/>
                </a:solidFill>
                <a:latin typeface="Helvetica World"/>
                <a:ea typeface="Helvetica World"/>
                <a:cs typeface="Helvetica World"/>
                <a:sym typeface="Helvetica World"/>
              </a:rPr>
              <a:t>Vacations (cadres), interventions (barres), ambulatoire (hachures), heure courante (trait).</a:t>
            </a:r>
          </a:p>
        </p:txBody>
      </p:sp>
      <p:sp>
        <p:nvSpPr>
          <p:cNvPr name="TextBox 12" id="12"/>
          <p:cNvSpPr txBox="true"/>
          <p:nvPr/>
        </p:nvSpPr>
        <p:spPr>
          <a:xfrm rot="0">
            <a:off x="10192198" y="7204983"/>
            <a:ext cx="7318562" cy="1126112"/>
          </a:xfrm>
          <a:prstGeom prst="rect">
            <a:avLst/>
          </a:prstGeom>
        </p:spPr>
        <p:txBody>
          <a:bodyPr anchor="t" rtlCol="false" tIns="0" lIns="0" bIns="0" rIns="0">
            <a:spAutoFit/>
          </a:bodyPr>
          <a:lstStyle/>
          <a:p>
            <a:pPr algn="l">
              <a:lnSpc>
                <a:spcPts val="2639"/>
              </a:lnSpc>
            </a:pPr>
            <a:r>
              <a:rPr lang="en-US" sz="2199" b="true">
                <a:solidFill>
                  <a:srgbClr val="171C2A"/>
                </a:solidFill>
                <a:latin typeface="Helvetica World Bold"/>
                <a:ea typeface="Helvetica World Bold"/>
                <a:cs typeface="Helvetica World Bold"/>
                <a:sym typeface="Helvetica World Bold"/>
              </a:rPr>
              <a:t>Tableau de bord. </a:t>
            </a:r>
            <a:r>
              <a:rPr lang="en-US" sz="2199">
                <a:solidFill>
                  <a:srgbClr val="171C2A"/>
                </a:solidFill>
                <a:latin typeface="Helvetica World"/>
                <a:ea typeface="Helvetica World"/>
                <a:cs typeface="Helvetica World"/>
                <a:sym typeface="Helvetica World"/>
              </a:rPr>
              <a:t>Occupation du bloc, des lits et des places. Seuils : normal &lt; 75 %, tendu &lt; 90 %, saturé au-delà.</a:t>
            </a:r>
          </a:p>
        </p:txBody>
      </p:sp>
      <p:grpSp>
        <p:nvGrpSpPr>
          <p:cNvPr name="Group 13" id="13"/>
          <p:cNvGrpSpPr/>
          <p:nvPr/>
        </p:nvGrpSpPr>
        <p:grpSpPr>
          <a:xfrm rot="0">
            <a:off x="453390" y="9699939"/>
            <a:ext cx="2230494" cy="396881"/>
            <a:chOff x="0" y="0"/>
            <a:chExt cx="2973991" cy="529175"/>
          </a:xfrm>
        </p:grpSpPr>
        <p:sp>
          <p:nvSpPr>
            <p:cNvPr name="Freeform 14" id="14"/>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9" id="19"/>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6FCF9"/>
        </a:solidFill>
      </p:bgPr>
    </p:bg>
    <p:spTree>
      <p:nvGrpSpPr>
        <p:cNvPr id="1" name=""/>
        <p:cNvGrpSpPr/>
        <p:nvPr/>
      </p:nvGrpSpPr>
      <p:grpSpPr>
        <a:xfrm>
          <a:off x="0" y="0"/>
          <a:ext cx="0" cy="0"/>
          <a:chOff x="0" y="0"/>
          <a:chExt cx="0" cy="0"/>
        </a:xfrm>
      </p:grpSpPr>
      <p:sp>
        <p:nvSpPr>
          <p:cNvPr name="Freeform 2" id="2"/>
          <p:cNvSpPr/>
          <p:nvPr/>
        </p:nvSpPr>
        <p:spPr>
          <a:xfrm flipH="false" flipV="false" rot="0">
            <a:off x="8001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227000" y="226000"/>
            <a:ext cx="10061000" cy="10061000"/>
          </a:xfrm>
          <a:custGeom>
            <a:avLst/>
            <a:gdLst/>
            <a:ahLst/>
            <a:cxnLst/>
            <a:rect r="r" b="b" t="t" l="l"/>
            <a:pathLst>
              <a:path h="10061000" w="10061000">
                <a:moveTo>
                  <a:pt x="0" y="0"/>
                </a:moveTo>
                <a:lnTo>
                  <a:pt x="10061000" y="0"/>
                </a:lnTo>
                <a:lnTo>
                  <a:pt x="10061000" y="10061000"/>
                </a:lnTo>
                <a:lnTo>
                  <a:pt x="0" y="1006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441731" y="440731"/>
            <a:ext cx="9846269" cy="9846269"/>
          </a:xfrm>
          <a:custGeom>
            <a:avLst/>
            <a:gdLst/>
            <a:ahLst/>
            <a:cxnLst/>
            <a:rect r="r" b="b" t="t" l="l"/>
            <a:pathLst>
              <a:path h="9846269" w="9846269">
                <a:moveTo>
                  <a:pt x="0" y="0"/>
                </a:moveTo>
                <a:lnTo>
                  <a:pt x="9846269" y="0"/>
                </a:lnTo>
                <a:lnTo>
                  <a:pt x="9846269" y="9846269"/>
                </a:lnTo>
                <a:lnTo>
                  <a:pt x="0" y="98462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8671712" y="670712"/>
            <a:ext cx="9616288" cy="9616288"/>
            <a:chOff x="0" y="0"/>
            <a:chExt cx="12821717" cy="12821717"/>
          </a:xfrm>
        </p:grpSpPr>
        <p:sp>
          <p:nvSpPr>
            <p:cNvPr name="Freeform 6" id="6"/>
            <p:cNvSpPr/>
            <p:nvPr/>
          </p:nvSpPr>
          <p:spPr>
            <a:xfrm flipH="false" flipV="false" rot="0">
              <a:off x="0" y="0"/>
              <a:ext cx="12821666" cy="12821666"/>
            </a:xfrm>
            <a:custGeom>
              <a:avLst/>
              <a:gdLst/>
              <a:ahLst/>
              <a:cxnLst/>
              <a:rect r="r" b="b" t="t" l="l"/>
              <a:pathLst>
                <a:path h="12821666" w="12821666">
                  <a:moveTo>
                    <a:pt x="0" y="12821666"/>
                  </a:moveTo>
                  <a:lnTo>
                    <a:pt x="12821666" y="12821666"/>
                  </a:lnTo>
                  <a:lnTo>
                    <a:pt x="12821666" y="0"/>
                  </a:lnTo>
                  <a:cubicBezTo>
                    <a:pt x="5741543" y="0"/>
                    <a:pt x="0" y="5741543"/>
                    <a:pt x="0" y="12821666"/>
                  </a:cubicBezTo>
                  <a:close/>
                </a:path>
              </a:pathLst>
            </a:custGeom>
            <a:blipFill>
              <a:blip r:embed="rId8"/>
              <a:stretch>
                <a:fillRect l="-25000" t="0" r="-25000" b="0"/>
              </a:stretch>
            </a:blipFill>
          </p:spPr>
        </p:sp>
      </p:grpSp>
      <p:grpSp>
        <p:nvGrpSpPr>
          <p:cNvPr name="Group 7" id="7"/>
          <p:cNvGrpSpPr/>
          <p:nvPr/>
        </p:nvGrpSpPr>
        <p:grpSpPr>
          <a:xfrm rot="0">
            <a:off x="5112077" y="898903"/>
            <a:ext cx="2085499" cy="944994"/>
            <a:chOff x="0" y="0"/>
            <a:chExt cx="2780665" cy="1259992"/>
          </a:xfrm>
        </p:grpSpPr>
        <p:sp>
          <p:nvSpPr>
            <p:cNvPr name="Freeform 8" id="8"/>
            <p:cNvSpPr/>
            <p:nvPr/>
          </p:nvSpPr>
          <p:spPr>
            <a:xfrm flipH="false" flipV="false" rot="0">
              <a:off x="0" y="0"/>
              <a:ext cx="2780665" cy="1259967"/>
            </a:xfrm>
            <a:custGeom>
              <a:avLst/>
              <a:gdLst/>
              <a:ahLst/>
              <a:cxnLst/>
              <a:rect r="r" b="b" t="t" l="l"/>
              <a:pathLst>
                <a:path h="1259967" w="2780665">
                  <a:moveTo>
                    <a:pt x="0" y="0"/>
                  </a:moveTo>
                  <a:lnTo>
                    <a:pt x="2780665" y="0"/>
                  </a:lnTo>
                  <a:lnTo>
                    <a:pt x="2780665" y="1259967"/>
                  </a:lnTo>
                  <a:lnTo>
                    <a:pt x="0" y="1259967"/>
                  </a:lnTo>
                  <a:lnTo>
                    <a:pt x="0" y="0"/>
                  </a:lnTo>
                  <a:close/>
                </a:path>
              </a:pathLst>
            </a:custGeom>
            <a:blipFill>
              <a:blip r:embed="rId9"/>
              <a:stretch>
                <a:fillRect l="0" t="-85" r="0" b="-87"/>
              </a:stretch>
            </a:blipFill>
          </p:spPr>
        </p:sp>
      </p:grpSp>
      <p:sp>
        <p:nvSpPr>
          <p:cNvPr name="Freeform 9" id="9"/>
          <p:cNvSpPr/>
          <p:nvPr/>
        </p:nvSpPr>
        <p:spPr>
          <a:xfrm flipH="false" flipV="false" rot="0">
            <a:off x="1028700" y="1081897"/>
            <a:ext cx="226095" cy="226095"/>
          </a:xfrm>
          <a:custGeom>
            <a:avLst/>
            <a:gdLst/>
            <a:ahLst/>
            <a:cxnLst/>
            <a:rect r="r" b="b" t="t" l="l"/>
            <a:pathLst>
              <a:path h="226095" w="226095">
                <a:moveTo>
                  <a:pt x="0" y="0"/>
                </a:moveTo>
                <a:lnTo>
                  <a:pt x="226095" y="0"/>
                </a:lnTo>
                <a:lnTo>
                  <a:pt x="226095" y="226095"/>
                </a:lnTo>
                <a:lnTo>
                  <a:pt x="0" y="226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028700" y="1434817"/>
            <a:ext cx="226095" cy="226095"/>
          </a:xfrm>
          <a:custGeom>
            <a:avLst/>
            <a:gdLst/>
            <a:ahLst/>
            <a:cxnLst/>
            <a:rect r="r" b="b" t="t" l="l"/>
            <a:pathLst>
              <a:path h="226095" w="226095">
                <a:moveTo>
                  <a:pt x="0" y="226095"/>
                </a:moveTo>
                <a:lnTo>
                  <a:pt x="226095" y="226095"/>
                </a:lnTo>
                <a:lnTo>
                  <a:pt x="226095" y="0"/>
                </a:lnTo>
                <a:lnTo>
                  <a:pt x="0" y="0"/>
                </a:lnTo>
                <a:lnTo>
                  <a:pt x="0" y="22609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false" rot="0">
            <a:off x="1381411" y="1081897"/>
            <a:ext cx="226095" cy="226095"/>
          </a:xfrm>
          <a:custGeom>
            <a:avLst/>
            <a:gdLst/>
            <a:ahLst/>
            <a:cxnLst/>
            <a:rect r="r" b="b" t="t" l="l"/>
            <a:pathLst>
              <a:path h="226095" w="226095">
                <a:moveTo>
                  <a:pt x="226095" y="0"/>
                </a:moveTo>
                <a:lnTo>
                  <a:pt x="0" y="0"/>
                </a:lnTo>
                <a:lnTo>
                  <a:pt x="0" y="226095"/>
                </a:lnTo>
                <a:lnTo>
                  <a:pt x="226095" y="226095"/>
                </a:lnTo>
                <a:lnTo>
                  <a:pt x="226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true" flipV="true" rot="0">
            <a:off x="1381411" y="1434817"/>
            <a:ext cx="226095" cy="226095"/>
          </a:xfrm>
          <a:custGeom>
            <a:avLst/>
            <a:gdLst/>
            <a:ahLst/>
            <a:cxnLst/>
            <a:rect r="r" b="b" t="t" l="l"/>
            <a:pathLst>
              <a:path h="226095" w="226095">
                <a:moveTo>
                  <a:pt x="226095" y="226095"/>
                </a:moveTo>
                <a:lnTo>
                  <a:pt x="0" y="226095"/>
                </a:lnTo>
                <a:lnTo>
                  <a:pt x="0" y="0"/>
                </a:lnTo>
                <a:lnTo>
                  <a:pt x="226095" y="0"/>
                </a:lnTo>
                <a:lnTo>
                  <a:pt x="226095" y="2260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731331" y="928983"/>
            <a:ext cx="2878260" cy="599362"/>
          </a:xfrm>
          <a:prstGeom prst="rect">
            <a:avLst/>
          </a:prstGeom>
        </p:spPr>
        <p:txBody>
          <a:bodyPr anchor="t" rtlCol="false" tIns="0" lIns="0" bIns="0" rIns="0">
            <a:spAutoFit/>
          </a:bodyPr>
          <a:lstStyle/>
          <a:p>
            <a:pPr algn="l">
              <a:lnSpc>
                <a:spcPts val="4582"/>
              </a:lnSpc>
            </a:pPr>
            <a:r>
              <a:rPr lang="en-US" b="true" sz="3272" spc="64">
                <a:solidFill>
                  <a:srgbClr val="2323E6"/>
                </a:solidFill>
                <a:latin typeface="Helvetica World Bold"/>
                <a:ea typeface="Helvetica World Bold"/>
                <a:cs typeface="Helvetica World Bold"/>
                <a:sym typeface="Helvetica World Bold"/>
              </a:rPr>
              <a:t>OR’CHESTRE</a:t>
            </a:r>
          </a:p>
        </p:txBody>
      </p:sp>
      <p:sp>
        <p:nvSpPr>
          <p:cNvPr name="TextBox 14" id="14"/>
          <p:cNvSpPr txBox="true"/>
          <p:nvPr/>
        </p:nvSpPr>
        <p:spPr>
          <a:xfrm rot="0">
            <a:off x="1775993" y="1459030"/>
            <a:ext cx="2723817" cy="219056"/>
          </a:xfrm>
          <a:prstGeom prst="rect">
            <a:avLst/>
          </a:prstGeom>
        </p:spPr>
        <p:txBody>
          <a:bodyPr anchor="t" rtlCol="false" tIns="0" lIns="0" bIns="0" rIns="0">
            <a:spAutoFit/>
          </a:bodyPr>
          <a:lstStyle/>
          <a:p>
            <a:pPr algn="l">
              <a:lnSpc>
                <a:spcPts val="1716"/>
              </a:lnSpc>
            </a:pPr>
            <a:r>
              <a:rPr lang="en-US" sz="1224" spc="317">
                <a:solidFill>
                  <a:srgbClr val="587DFF"/>
                </a:solidFill>
                <a:latin typeface="Helvetica World"/>
                <a:ea typeface="Helvetica World"/>
                <a:cs typeface="Helvetica World"/>
                <a:sym typeface="Helvetica World"/>
              </a:rPr>
              <a:t>PROJET CENTRALE LILLE</a:t>
            </a:r>
          </a:p>
        </p:txBody>
      </p:sp>
      <p:sp>
        <p:nvSpPr>
          <p:cNvPr name="TextBox 15" id="15"/>
          <p:cNvSpPr txBox="true"/>
          <p:nvPr/>
        </p:nvSpPr>
        <p:spPr>
          <a:xfrm rot="0">
            <a:off x="866775" y="3923770"/>
            <a:ext cx="7804937" cy="1555086"/>
          </a:xfrm>
          <a:prstGeom prst="rect">
            <a:avLst/>
          </a:prstGeom>
        </p:spPr>
        <p:txBody>
          <a:bodyPr anchor="t" rtlCol="false" tIns="0" lIns="0" bIns="0" rIns="0">
            <a:spAutoFit/>
          </a:bodyPr>
          <a:lstStyle/>
          <a:p>
            <a:pPr algn="l">
              <a:lnSpc>
                <a:spcPts val="11759"/>
              </a:lnSpc>
            </a:pPr>
            <a:r>
              <a:rPr lang="en-US" sz="8399" b="true">
                <a:solidFill>
                  <a:srgbClr val="2323E6"/>
                </a:solidFill>
                <a:latin typeface="Helvetica World Bold"/>
                <a:ea typeface="Helvetica World Bold"/>
                <a:cs typeface="Helvetica World Bold"/>
                <a:sym typeface="Helvetica World Bold"/>
              </a:rPr>
              <a:t>Démonstration</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NORMES RGPD ET PROTECTION DES DONNÉES DE SANTÉ</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TextBox 7" id="7"/>
          <p:cNvSpPr txBox="true"/>
          <p:nvPr/>
        </p:nvSpPr>
        <p:spPr>
          <a:xfrm rot="0">
            <a:off x="777240" y="8466325"/>
            <a:ext cx="16733520" cy="857250"/>
          </a:xfrm>
          <a:prstGeom prst="rect">
            <a:avLst/>
          </a:prstGeom>
        </p:spPr>
        <p:txBody>
          <a:bodyPr anchor="t" rtlCol="false" tIns="0" lIns="0" bIns="0" rIns="0">
            <a:spAutoFit/>
          </a:bodyPr>
          <a:lstStyle/>
          <a:p>
            <a:pPr algn="l">
              <a:lnSpc>
                <a:spcPts val="3119"/>
              </a:lnSpc>
            </a:pPr>
            <a:r>
              <a:rPr lang="en-US" b="true" sz="2599">
                <a:solidFill>
                  <a:srgbClr val="171C2A"/>
                </a:solidFill>
                <a:latin typeface="Helvetica World Bold"/>
                <a:ea typeface="Helvetica World Bold"/>
                <a:cs typeface="Helvetica World Bold"/>
                <a:sym typeface="Helvetica World Bold"/>
              </a:rPr>
              <a:t>Avant tout usage clinique : validation métier, évaluation en mode observation, conformité et continuité garanties. (voir ANNEXE F)</a:t>
            </a:r>
          </a:p>
        </p:txBody>
      </p:sp>
      <p:grpSp>
        <p:nvGrpSpPr>
          <p:cNvPr name="Group 8" id="8"/>
          <p:cNvGrpSpPr/>
          <p:nvPr/>
        </p:nvGrpSpPr>
        <p:grpSpPr>
          <a:xfrm rot="0">
            <a:off x="777240" y="1736117"/>
            <a:ext cx="5394960" cy="871188"/>
            <a:chOff x="0" y="0"/>
            <a:chExt cx="7193280" cy="1161584"/>
          </a:xfrm>
        </p:grpSpPr>
        <p:sp>
          <p:nvSpPr>
            <p:cNvPr name="Freeform 9" id="9"/>
            <p:cNvSpPr/>
            <p:nvPr/>
          </p:nvSpPr>
          <p:spPr>
            <a:xfrm flipH="false" flipV="false" rot="0">
              <a:off x="0" y="0"/>
              <a:ext cx="7193280" cy="1161584"/>
            </a:xfrm>
            <a:custGeom>
              <a:avLst/>
              <a:gdLst/>
              <a:ahLst/>
              <a:cxnLst/>
              <a:rect r="r" b="b" t="t" l="l"/>
              <a:pathLst>
                <a:path h="1161584" w="7193280">
                  <a:moveTo>
                    <a:pt x="0" y="0"/>
                  </a:moveTo>
                  <a:lnTo>
                    <a:pt x="7193280" y="0"/>
                  </a:lnTo>
                  <a:lnTo>
                    <a:pt x="7193280" y="1161584"/>
                  </a:lnTo>
                  <a:lnTo>
                    <a:pt x="0" y="1161584"/>
                  </a:lnTo>
                  <a:close/>
                </a:path>
              </a:pathLst>
            </a:custGeom>
            <a:solidFill>
              <a:srgbClr val="171C2A"/>
            </a:solidFill>
          </p:spPr>
        </p:sp>
        <p:sp>
          <p:nvSpPr>
            <p:cNvPr name="TextBox 10" id="10"/>
            <p:cNvSpPr txBox="true"/>
            <p:nvPr/>
          </p:nvSpPr>
          <p:spPr>
            <a:xfrm>
              <a:off x="0" y="9525"/>
              <a:ext cx="719328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Continuité de service</a:t>
              </a:r>
            </a:p>
          </p:txBody>
        </p:sp>
      </p:grpSp>
      <p:grpSp>
        <p:nvGrpSpPr>
          <p:cNvPr name="Group 11" id="11"/>
          <p:cNvGrpSpPr/>
          <p:nvPr/>
        </p:nvGrpSpPr>
        <p:grpSpPr>
          <a:xfrm rot="0">
            <a:off x="777240" y="2601479"/>
            <a:ext cx="5394960" cy="5454609"/>
            <a:chOff x="0" y="0"/>
            <a:chExt cx="7193280" cy="7272812"/>
          </a:xfrm>
        </p:grpSpPr>
        <p:sp>
          <p:nvSpPr>
            <p:cNvPr name="Freeform 12" id="12"/>
            <p:cNvSpPr/>
            <p:nvPr/>
          </p:nvSpPr>
          <p:spPr>
            <a:xfrm flipH="false" flipV="false" rot="0">
              <a:off x="0" y="0"/>
              <a:ext cx="7193280" cy="7272776"/>
            </a:xfrm>
            <a:custGeom>
              <a:avLst/>
              <a:gdLst/>
              <a:ahLst/>
              <a:cxnLst/>
              <a:rect r="r" b="b" t="t" l="l"/>
              <a:pathLst>
                <a:path h="7272776" w="7193280">
                  <a:moveTo>
                    <a:pt x="0" y="0"/>
                  </a:moveTo>
                  <a:lnTo>
                    <a:pt x="7193280" y="0"/>
                  </a:lnTo>
                  <a:lnTo>
                    <a:pt x="7193280" y="7272776"/>
                  </a:lnTo>
                  <a:lnTo>
                    <a:pt x="0" y="7272776"/>
                  </a:lnTo>
                  <a:close/>
                </a:path>
              </a:pathLst>
            </a:custGeom>
            <a:solidFill>
              <a:srgbClr val="F2F8F6"/>
            </a:solidFill>
          </p:spPr>
        </p:sp>
      </p:grpSp>
      <p:sp>
        <p:nvSpPr>
          <p:cNvPr name="TextBox 13" id="13"/>
          <p:cNvSpPr txBox="true"/>
          <p:nvPr/>
        </p:nvSpPr>
        <p:spPr>
          <a:xfrm rot="0">
            <a:off x="978408" y="2766071"/>
            <a:ext cx="4992624" cy="5010150"/>
          </a:xfrm>
          <a:prstGeom prst="rect">
            <a:avLst/>
          </a:prstGeom>
        </p:spPr>
        <p:txBody>
          <a:bodyPr anchor="t" rtlCol="false" tIns="0" lIns="0" bIns="0" rIns="0">
            <a:spAutoFit/>
          </a:bodyPr>
          <a:lstStyle/>
          <a:p>
            <a:pPr algn="l" marL="349884" indent="-174942" lvl="1">
              <a:lnSpc>
                <a:spcPts val="3479"/>
              </a:lnSpc>
              <a:buFont typeface="Arial"/>
              <a:buChar char="•"/>
            </a:pPr>
            <a:r>
              <a:rPr lang="en-US" b="true" sz="2899">
                <a:solidFill>
                  <a:srgbClr val="171C2A"/>
                </a:solidFill>
                <a:latin typeface="Helvetica World Bold"/>
                <a:ea typeface="Helvetica World Bold"/>
                <a:cs typeface="Helvetica World Bold"/>
                <a:sym typeface="Helvetica World Bold"/>
              </a:rPr>
              <a:t>Mode dégradé : </a:t>
            </a:r>
            <a:r>
              <a:rPr lang="en-US" sz="2899">
                <a:solidFill>
                  <a:srgbClr val="171C2A"/>
                </a:solidFill>
                <a:latin typeface="Helvetica World"/>
                <a:ea typeface="Helvetica World"/>
                <a:cs typeface="Helvetica World"/>
                <a:sym typeface="Helvetica World"/>
              </a:rPr>
              <a:t>consultable hors ligne, export PDF.</a:t>
            </a:r>
          </a:p>
          <a:p>
            <a:pPr algn="l" marL="349884" indent="-174942" lvl="1">
              <a:lnSpc>
                <a:spcPts val="3479"/>
              </a:lnSpc>
              <a:buFont typeface="Arial"/>
              <a:buChar char="•"/>
            </a:pPr>
            <a:r>
              <a:rPr lang="en-US" b="true" sz="2899">
                <a:solidFill>
                  <a:srgbClr val="171C2A"/>
                </a:solidFill>
                <a:latin typeface="Helvetica World Bold"/>
                <a:ea typeface="Helvetica World Bold"/>
                <a:cs typeface="Helvetica World Bold"/>
                <a:sym typeface="Helvetica World Bold"/>
              </a:rPr>
              <a:t>Procédure papier</a:t>
            </a:r>
            <a:r>
              <a:rPr lang="en-US" sz="2899">
                <a:solidFill>
                  <a:srgbClr val="171C2A"/>
                </a:solidFill>
                <a:latin typeface="Helvetica World"/>
                <a:ea typeface="Helvetica World"/>
                <a:cs typeface="Helvetica World"/>
                <a:sym typeface="Helvetica World"/>
              </a:rPr>
              <a:t> de secours rédigée avec le bloc.</a:t>
            </a:r>
          </a:p>
          <a:p>
            <a:pPr algn="l" marL="349884" indent="-174942" lvl="1">
              <a:lnSpc>
                <a:spcPts val="3479"/>
              </a:lnSpc>
              <a:buFont typeface="Arial"/>
              <a:buChar char="•"/>
            </a:pPr>
            <a:r>
              <a:rPr lang="en-US" b="true" sz="2899">
                <a:solidFill>
                  <a:srgbClr val="171C2A"/>
                </a:solidFill>
                <a:latin typeface="Helvetica World Bold"/>
                <a:ea typeface="Helvetica World Bold"/>
                <a:cs typeface="Helvetica World Bold"/>
                <a:sym typeface="Helvetica World Bold"/>
              </a:rPr>
              <a:t>Astreinte support</a:t>
            </a:r>
            <a:r>
              <a:rPr lang="en-US" sz="2899">
                <a:solidFill>
                  <a:srgbClr val="171C2A"/>
                </a:solidFill>
                <a:latin typeface="Helvetica World"/>
                <a:ea typeface="Helvetica World"/>
                <a:cs typeface="Helvetica World"/>
                <a:sym typeface="Helvetica World"/>
              </a:rPr>
              <a:t> nuit, week-end et jours fériés.</a:t>
            </a:r>
          </a:p>
          <a:p>
            <a:pPr algn="l" marL="349884" indent="-174942" lvl="1">
              <a:lnSpc>
                <a:spcPts val="3479"/>
              </a:lnSpc>
              <a:buFont typeface="Arial"/>
              <a:buChar char="•"/>
            </a:pPr>
            <a:r>
              <a:rPr lang="en-US" sz="2899">
                <a:solidFill>
                  <a:srgbClr val="171C2A"/>
                </a:solidFill>
                <a:latin typeface="Helvetica World"/>
                <a:ea typeface="Helvetica World"/>
                <a:cs typeface="Helvetica World"/>
                <a:sym typeface="Helvetica World"/>
              </a:rPr>
              <a:t>Après une panne, urgences papier </a:t>
            </a:r>
            <a:r>
              <a:rPr lang="en-US" b="true" sz="2899">
                <a:solidFill>
                  <a:srgbClr val="171C2A"/>
                </a:solidFill>
                <a:latin typeface="Helvetica World Bold"/>
                <a:ea typeface="Helvetica World Bold"/>
                <a:cs typeface="Helvetica World Bold"/>
                <a:sym typeface="Helvetica World Bold"/>
              </a:rPr>
              <a:t>ressaisies et tracées.</a:t>
            </a:r>
          </a:p>
        </p:txBody>
      </p:sp>
      <p:grpSp>
        <p:nvGrpSpPr>
          <p:cNvPr name="Group 14" id="14"/>
          <p:cNvGrpSpPr/>
          <p:nvPr/>
        </p:nvGrpSpPr>
        <p:grpSpPr>
          <a:xfrm rot="0">
            <a:off x="6446520" y="1736117"/>
            <a:ext cx="5394960" cy="871188"/>
            <a:chOff x="0" y="0"/>
            <a:chExt cx="7193280" cy="1161584"/>
          </a:xfrm>
        </p:grpSpPr>
        <p:sp>
          <p:nvSpPr>
            <p:cNvPr name="Freeform 15" id="15"/>
            <p:cNvSpPr/>
            <p:nvPr/>
          </p:nvSpPr>
          <p:spPr>
            <a:xfrm flipH="false" flipV="false" rot="0">
              <a:off x="0" y="0"/>
              <a:ext cx="7193280" cy="1161584"/>
            </a:xfrm>
            <a:custGeom>
              <a:avLst/>
              <a:gdLst/>
              <a:ahLst/>
              <a:cxnLst/>
              <a:rect r="r" b="b" t="t" l="l"/>
              <a:pathLst>
                <a:path h="1161584" w="7193280">
                  <a:moveTo>
                    <a:pt x="0" y="0"/>
                  </a:moveTo>
                  <a:lnTo>
                    <a:pt x="7193280" y="0"/>
                  </a:lnTo>
                  <a:lnTo>
                    <a:pt x="7193280" y="1161584"/>
                  </a:lnTo>
                  <a:lnTo>
                    <a:pt x="0" y="1161584"/>
                  </a:lnTo>
                  <a:close/>
                </a:path>
              </a:pathLst>
            </a:custGeom>
            <a:solidFill>
              <a:srgbClr val="171C2A"/>
            </a:solidFill>
          </p:spPr>
        </p:sp>
        <p:sp>
          <p:nvSpPr>
            <p:cNvPr name="TextBox 16" id="16"/>
            <p:cNvSpPr txBox="true"/>
            <p:nvPr/>
          </p:nvSpPr>
          <p:spPr>
            <a:xfrm>
              <a:off x="0" y="9525"/>
              <a:ext cx="719328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Confidentialité</a:t>
              </a:r>
            </a:p>
          </p:txBody>
        </p:sp>
      </p:grpSp>
      <p:grpSp>
        <p:nvGrpSpPr>
          <p:cNvPr name="Group 17" id="17"/>
          <p:cNvGrpSpPr/>
          <p:nvPr/>
        </p:nvGrpSpPr>
        <p:grpSpPr>
          <a:xfrm rot="0">
            <a:off x="6446520" y="2601479"/>
            <a:ext cx="5394960" cy="5454609"/>
            <a:chOff x="0" y="0"/>
            <a:chExt cx="7193280" cy="7272812"/>
          </a:xfrm>
        </p:grpSpPr>
        <p:sp>
          <p:nvSpPr>
            <p:cNvPr name="Freeform 18" id="18"/>
            <p:cNvSpPr/>
            <p:nvPr/>
          </p:nvSpPr>
          <p:spPr>
            <a:xfrm flipH="false" flipV="false" rot="0">
              <a:off x="0" y="0"/>
              <a:ext cx="7193280" cy="7272776"/>
            </a:xfrm>
            <a:custGeom>
              <a:avLst/>
              <a:gdLst/>
              <a:ahLst/>
              <a:cxnLst/>
              <a:rect r="r" b="b" t="t" l="l"/>
              <a:pathLst>
                <a:path h="7272776" w="7193280">
                  <a:moveTo>
                    <a:pt x="0" y="0"/>
                  </a:moveTo>
                  <a:lnTo>
                    <a:pt x="7193280" y="0"/>
                  </a:lnTo>
                  <a:lnTo>
                    <a:pt x="7193280" y="7272776"/>
                  </a:lnTo>
                  <a:lnTo>
                    <a:pt x="0" y="7272776"/>
                  </a:lnTo>
                  <a:close/>
                </a:path>
              </a:pathLst>
            </a:custGeom>
            <a:solidFill>
              <a:srgbClr val="F2F8F6"/>
            </a:solidFill>
          </p:spPr>
        </p:sp>
      </p:grpSp>
      <p:sp>
        <p:nvSpPr>
          <p:cNvPr name="TextBox 19" id="19"/>
          <p:cNvSpPr txBox="true"/>
          <p:nvPr/>
        </p:nvSpPr>
        <p:spPr>
          <a:xfrm rot="0">
            <a:off x="6647688" y="2766071"/>
            <a:ext cx="4992624" cy="4972050"/>
          </a:xfrm>
          <a:prstGeom prst="rect">
            <a:avLst/>
          </a:prstGeom>
        </p:spPr>
        <p:txBody>
          <a:bodyPr anchor="t" rtlCol="false" tIns="0" lIns="0" bIns="0" rIns="0">
            <a:spAutoFit/>
          </a:bodyPr>
          <a:lstStyle/>
          <a:p>
            <a:pPr algn="l" marL="349884" indent="-174942" lvl="1">
              <a:lnSpc>
                <a:spcPts val="3479"/>
              </a:lnSpc>
              <a:buFont typeface="Arial"/>
              <a:buChar char="•"/>
            </a:pPr>
            <a:r>
              <a:rPr lang="en-US" sz="2899">
                <a:solidFill>
                  <a:srgbClr val="171C2A"/>
                </a:solidFill>
                <a:latin typeface="Helvetica World"/>
                <a:ea typeface="Helvetica World"/>
                <a:cs typeface="Helvetica World"/>
                <a:sym typeface="Helvetica World"/>
              </a:rPr>
              <a:t>Le planning contient des </a:t>
            </a:r>
            <a:r>
              <a:rPr lang="en-US" b="true" sz="2899">
                <a:solidFill>
                  <a:srgbClr val="171C2A"/>
                </a:solidFill>
                <a:latin typeface="Helvetica World Bold"/>
                <a:ea typeface="Helvetica World Bold"/>
                <a:cs typeface="Helvetica World Bold"/>
                <a:sym typeface="Helvetica World Bold"/>
              </a:rPr>
              <a:t>données de santé.</a:t>
            </a:r>
          </a:p>
          <a:p>
            <a:pPr algn="l" marL="349884" indent="-174942" lvl="1">
              <a:lnSpc>
                <a:spcPts val="3479"/>
              </a:lnSpc>
              <a:buFont typeface="Arial"/>
              <a:buChar char="•"/>
            </a:pPr>
            <a:r>
              <a:rPr lang="en-US" b="true" sz="2899">
                <a:solidFill>
                  <a:srgbClr val="171C2A"/>
                </a:solidFill>
                <a:latin typeface="Helvetica World Bold"/>
                <a:ea typeface="Helvetica World Bold"/>
                <a:cs typeface="Helvetica World Bold"/>
                <a:sym typeface="Helvetica World Bold"/>
              </a:rPr>
              <a:t>Hébergeur certifié HDS</a:t>
            </a:r>
            <a:r>
              <a:rPr lang="en-US" sz="2899">
                <a:solidFill>
                  <a:srgbClr val="171C2A"/>
                </a:solidFill>
                <a:latin typeface="Helvetica World"/>
                <a:ea typeface="Helvetica World"/>
                <a:cs typeface="Helvetica World"/>
                <a:sym typeface="Helvetica World"/>
              </a:rPr>
              <a:t> (référentiel v2) si l'éditeur héberge.</a:t>
            </a:r>
          </a:p>
          <a:p>
            <a:pPr algn="l" marL="349884" indent="-174942" lvl="1">
              <a:lnSpc>
                <a:spcPts val="3479"/>
              </a:lnSpc>
              <a:buFont typeface="Arial"/>
              <a:buChar char="•"/>
            </a:pPr>
            <a:r>
              <a:rPr lang="en-US" b="true" sz="2899">
                <a:solidFill>
                  <a:srgbClr val="171C2A"/>
                </a:solidFill>
                <a:latin typeface="Helvetica World Bold"/>
                <a:ea typeface="Helvetica World Bold"/>
                <a:cs typeface="Helvetica World Bold"/>
                <a:sym typeface="Helvetica World Bold"/>
              </a:rPr>
              <a:t>RGPD : </a:t>
            </a:r>
            <a:r>
              <a:rPr lang="en-US" sz="2899">
                <a:solidFill>
                  <a:srgbClr val="171C2A"/>
                </a:solidFill>
                <a:latin typeface="Helvetica World"/>
                <a:ea typeface="Helvetica World"/>
                <a:cs typeface="Helvetica World"/>
                <a:sym typeface="Helvetica World"/>
              </a:rPr>
              <a:t>l'hôpital responsable de traitement, l'éditeur sous-traitant.</a:t>
            </a:r>
          </a:p>
          <a:p>
            <a:pPr algn="l" marL="349884" indent="-174942" lvl="1">
              <a:lnSpc>
                <a:spcPts val="3479"/>
              </a:lnSpc>
              <a:buFont typeface="Arial"/>
              <a:buChar char="•"/>
            </a:pPr>
            <a:r>
              <a:rPr lang="en-US" b="true" sz="2899">
                <a:solidFill>
                  <a:srgbClr val="171C2A"/>
                </a:solidFill>
                <a:latin typeface="Helvetica World Bold"/>
                <a:ea typeface="Helvetica World Bold"/>
                <a:cs typeface="Helvetica World Bold"/>
                <a:sym typeface="Helvetica World Bold"/>
              </a:rPr>
              <a:t>Analyse d'impact</a:t>
            </a:r>
            <a:r>
              <a:rPr lang="en-US" sz="2899">
                <a:solidFill>
                  <a:srgbClr val="171C2A"/>
                </a:solidFill>
                <a:latin typeface="Helvetica World"/>
                <a:ea typeface="Helvetica World"/>
                <a:cs typeface="Helvetica World"/>
                <a:sym typeface="Helvetica World"/>
              </a:rPr>
              <a:t> avec le délégué à la protection des données.</a:t>
            </a:r>
          </a:p>
        </p:txBody>
      </p:sp>
      <p:grpSp>
        <p:nvGrpSpPr>
          <p:cNvPr name="Group 20" id="20"/>
          <p:cNvGrpSpPr/>
          <p:nvPr/>
        </p:nvGrpSpPr>
        <p:grpSpPr>
          <a:xfrm rot="0">
            <a:off x="12115800" y="1736117"/>
            <a:ext cx="5394960" cy="871188"/>
            <a:chOff x="0" y="0"/>
            <a:chExt cx="7193280" cy="1161584"/>
          </a:xfrm>
        </p:grpSpPr>
        <p:sp>
          <p:nvSpPr>
            <p:cNvPr name="Freeform 21" id="21"/>
            <p:cNvSpPr/>
            <p:nvPr/>
          </p:nvSpPr>
          <p:spPr>
            <a:xfrm flipH="false" flipV="false" rot="0">
              <a:off x="0" y="0"/>
              <a:ext cx="7193280" cy="1161584"/>
            </a:xfrm>
            <a:custGeom>
              <a:avLst/>
              <a:gdLst/>
              <a:ahLst/>
              <a:cxnLst/>
              <a:rect r="r" b="b" t="t" l="l"/>
              <a:pathLst>
                <a:path h="1161584" w="7193280">
                  <a:moveTo>
                    <a:pt x="0" y="0"/>
                  </a:moveTo>
                  <a:lnTo>
                    <a:pt x="7193280" y="0"/>
                  </a:lnTo>
                  <a:lnTo>
                    <a:pt x="7193280" y="1161584"/>
                  </a:lnTo>
                  <a:lnTo>
                    <a:pt x="0" y="1161584"/>
                  </a:lnTo>
                  <a:close/>
                </a:path>
              </a:pathLst>
            </a:custGeom>
            <a:solidFill>
              <a:srgbClr val="171C2A"/>
            </a:solidFill>
          </p:spPr>
        </p:sp>
        <p:sp>
          <p:nvSpPr>
            <p:cNvPr name="TextBox 22" id="22"/>
            <p:cNvSpPr txBox="true"/>
            <p:nvPr/>
          </p:nvSpPr>
          <p:spPr>
            <a:xfrm>
              <a:off x="0" y="9525"/>
              <a:ext cx="719328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Hébergement</a:t>
              </a:r>
            </a:p>
          </p:txBody>
        </p:sp>
      </p:grpSp>
      <p:grpSp>
        <p:nvGrpSpPr>
          <p:cNvPr name="Group 23" id="23"/>
          <p:cNvGrpSpPr/>
          <p:nvPr/>
        </p:nvGrpSpPr>
        <p:grpSpPr>
          <a:xfrm rot="0">
            <a:off x="12115800" y="2601479"/>
            <a:ext cx="5394960" cy="5454609"/>
            <a:chOff x="0" y="0"/>
            <a:chExt cx="7193280" cy="7272812"/>
          </a:xfrm>
        </p:grpSpPr>
        <p:sp>
          <p:nvSpPr>
            <p:cNvPr name="Freeform 24" id="24"/>
            <p:cNvSpPr/>
            <p:nvPr/>
          </p:nvSpPr>
          <p:spPr>
            <a:xfrm flipH="false" flipV="false" rot="0">
              <a:off x="0" y="0"/>
              <a:ext cx="7193280" cy="7272776"/>
            </a:xfrm>
            <a:custGeom>
              <a:avLst/>
              <a:gdLst/>
              <a:ahLst/>
              <a:cxnLst/>
              <a:rect r="r" b="b" t="t" l="l"/>
              <a:pathLst>
                <a:path h="7272776" w="7193280">
                  <a:moveTo>
                    <a:pt x="0" y="0"/>
                  </a:moveTo>
                  <a:lnTo>
                    <a:pt x="7193280" y="0"/>
                  </a:lnTo>
                  <a:lnTo>
                    <a:pt x="7193280" y="7272776"/>
                  </a:lnTo>
                  <a:lnTo>
                    <a:pt x="0" y="7272776"/>
                  </a:lnTo>
                  <a:close/>
                </a:path>
              </a:pathLst>
            </a:custGeom>
            <a:solidFill>
              <a:srgbClr val="F2F8F6"/>
            </a:solidFill>
          </p:spPr>
        </p:sp>
      </p:grpSp>
      <p:sp>
        <p:nvSpPr>
          <p:cNvPr name="TextBox 25" id="25"/>
          <p:cNvSpPr txBox="true"/>
          <p:nvPr/>
        </p:nvSpPr>
        <p:spPr>
          <a:xfrm rot="0">
            <a:off x="12316968" y="2766071"/>
            <a:ext cx="4992624" cy="4495800"/>
          </a:xfrm>
          <a:prstGeom prst="rect">
            <a:avLst/>
          </a:prstGeom>
        </p:spPr>
        <p:txBody>
          <a:bodyPr anchor="t" rtlCol="false" tIns="0" lIns="0" bIns="0" rIns="0">
            <a:spAutoFit/>
          </a:bodyPr>
          <a:lstStyle/>
          <a:p>
            <a:pPr algn="l" marL="349884" indent="-174942" lvl="1">
              <a:lnSpc>
                <a:spcPts val="3479"/>
              </a:lnSpc>
              <a:buFont typeface="Arial"/>
              <a:buChar char="•"/>
            </a:pPr>
            <a:r>
              <a:rPr lang="en-US" b="true" sz="2899">
                <a:solidFill>
                  <a:srgbClr val="171C2A"/>
                </a:solidFill>
                <a:latin typeface="Helvetica World Bold"/>
                <a:ea typeface="Helvetica World Bold"/>
                <a:cs typeface="Helvetica World Bold"/>
                <a:sym typeface="Helvetica World Bold"/>
              </a:rPr>
              <a:t>SaaS</a:t>
            </a:r>
            <a:r>
              <a:rPr lang="en-US" sz="2899">
                <a:solidFill>
                  <a:srgbClr val="171C2A"/>
                </a:solidFill>
                <a:latin typeface="Helvetica World"/>
                <a:ea typeface="Helvetica World"/>
                <a:cs typeface="Helvetica World"/>
                <a:sym typeface="Helvetica World"/>
              </a:rPr>
              <a:t> chez un hébergeur certifié HDS, avec mode dégradé local.</a:t>
            </a:r>
          </a:p>
          <a:p>
            <a:pPr algn="l" marL="349884" indent="-174942" lvl="1">
              <a:lnSpc>
                <a:spcPts val="3479"/>
              </a:lnSpc>
              <a:buFont typeface="Arial"/>
              <a:buChar char="•"/>
            </a:pPr>
            <a:r>
              <a:rPr lang="en-US" b="true" sz="2899">
                <a:solidFill>
                  <a:srgbClr val="171C2A"/>
                </a:solidFill>
                <a:latin typeface="Helvetica World Bold"/>
                <a:ea typeface="Helvetica World Bold"/>
                <a:cs typeface="Helvetica World Bold"/>
                <a:sym typeface="Helvetica World Bold"/>
              </a:rPr>
              <a:t>Sur site ou hybride : </a:t>
            </a:r>
            <a:r>
              <a:rPr lang="en-US" sz="2899">
                <a:solidFill>
                  <a:srgbClr val="171C2A"/>
                </a:solidFill>
                <a:latin typeface="Helvetica World"/>
                <a:ea typeface="Helvetica World"/>
                <a:cs typeface="Helvetica World"/>
                <a:sym typeface="Helvetica World"/>
              </a:rPr>
              <a:t>pas de dépendance au lien Internet, plus adapté à un outil critique.</a:t>
            </a:r>
          </a:p>
          <a:p>
            <a:pPr algn="l" marL="349884" indent="-174942" lvl="1">
              <a:lnSpc>
                <a:spcPts val="3479"/>
              </a:lnSpc>
              <a:buFont typeface="Arial"/>
              <a:buChar char="•"/>
            </a:pPr>
            <a:r>
              <a:rPr lang="en-US" sz="2899">
                <a:solidFill>
                  <a:srgbClr val="171C2A"/>
                </a:solidFill>
                <a:latin typeface="Helvetica World"/>
                <a:ea typeface="Helvetica World"/>
                <a:cs typeface="Helvetica World"/>
                <a:sym typeface="Helvetica World"/>
              </a:rPr>
              <a:t>Choix arrêté </a:t>
            </a:r>
            <a:r>
              <a:rPr lang="en-US" b="true" sz="2899">
                <a:solidFill>
                  <a:srgbClr val="171C2A"/>
                </a:solidFill>
                <a:latin typeface="Helvetica World Bold"/>
                <a:ea typeface="Helvetica World Bold"/>
                <a:cs typeface="Helvetica World Bold"/>
                <a:sym typeface="Helvetica World Bold"/>
              </a:rPr>
              <a:t>avec la DSI</a:t>
            </a:r>
            <a:r>
              <a:rPr lang="en-US" sz="2899">
                <a:solidFill>
                  <a:srgbClr val="171C2A"/>
                </a:solidFill>
                <a:latin typeface="Helvetica World"/>
                <a:ea typeface="Helvetica World"/>
                <a:cs typeface="Helvetica World"/>
                <a:sym typeface="Helvetica World"/>
              </a:rPr>
              <a:t> pendant le cadrage du pilote.</a:t>
            </a:r>
          </a:p>
        </p:txBody>
      </p:sp>
      <p:grpSp>
        <p:nvGrpSpPr>
          <p:cNvPr name="Group 26" id="26"/>
          <p:cNvGrpSpPr/>
          <p:nvPr/>
        </p:nvGrpSpPr>
        <p:grpSpPr>
          <a:xfrm rot="0">
            <a:off x="453390" y="9699939"/>
            <a:ext cx="2230494" cy="396881"/>
            <a:chOff x="0" y="0"/>
            <a:chExt cx="2973991" cy="529175"/>
          </a:xfrm>
        </p:grpSpPr>
        <p:sp>
          <p:nvSpPr>
            <p:cNvPr name="Freeform 27" id="27"/>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1" id="31"/>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32" id="32"/>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33" id="3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b="true" sz="3200">
                  <a:solidFill>
                    <a:srgbClr val="171C2A"/>
                  </a:solidFill>
                  <a:latin typeface="Helvetica World Bold"/>
                  <a:ea typeface="Helvetica World Bold"/>
                  <a:cs typeface="Helvetica World Bold"/>
                  <a:sym typeface="Helvetica World Bold"/>
                </a:rPr>
                <a:t>INTÉGRATION DE L’OUTIL DANS L’HOPITAL</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453390" y="9699939"/>
            <a:ext cx="2230494" cy="396881"/>
            <a:chOff x="0" y="0"/>
            <a:chExt cx="2973991" cy="529175"/>
          </a:xfrm>
        </p:grpSpPr>
        <p:sp>
          <p:nvSpPr>
            <p:cNvPr name="Freeform 8" id="8"/>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3" id="13"/>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grpSp>
        <p:nvGrpSpPr>
          <p:cNvPr name="Group 14" id="14"/>
          <p:cNvGrpSpPr/>
          <p:nvPr/>
        </p:nvGrpSpPr>
        <p:grpSpPr>
          <a:xfrm rot="0">
            <a:off x="1877981" y="1841947"/>
            <a:ext cx="1668808" cy="1668808"/>
            <a:chOff x="0" y="0"/>
            <a:chExt cx="1967649" cy="1967649"/>
          </a:xfrm>
        </p:grpSpPr>
        <p:sp>
          <p:nvSpPr>
            <p:cNvPr name="Freeform 15" id="15"/>
            <p:cNvSpPr/>
            <p:nvPr/>
          </p:nvSpPr>
          <p:spPr>
            <a:xfrm flipH="false" flipV="false" rot="0">
              <a:off x="0" y="0"/>
              <a:ext cx="1967738" cy="1967738"/>
            </a:xfrm>
            <a:custGeom>
              <a:avLst/>
              <a:gdLst/>
              <a:ahLst/>
              <a:cxnLst/>
              <a:rect r="r" b="b" t="t" l="l"/>
              <a:pathLst>
                <a:path h="1967738" w="1967738">
                  <a:moveTo>
                    <a:pt x="0" y="983869"/>
                  </a:moveTo>
                  <a:cubicBezTo>
                    <a:pt x="0" y="440436"/>
                    <a:pt x="440436" y="0"/>
                    <a:pt x="983869" y="0"/>
                  </a:cubicBezTo>
                  <a:cubicBezTo>
                    <a:pt x="1527302" y="0"/>
                    <a:pt x="1967738" y="440436"/>
                    <a:pt x="1967738" y="983869"/>
                  </a:cubicBezTo>
                  <a:cubicBezTo>
                    <a:pt x="1967738" y="1527302"/>
                    <a:pt x="1527302" y="1967738"/>
                    <a:pt x="983869" y="1967738"/>
                  </a:cubicBezTo>
                  <a:cubicBezTo>
                    <a:pt x="440436" y="1967738"/>
                    <a:pt x="0" y="1527175"/>
                    <a:pt x="0" y="983869"/>
                  </a:cubicBezTo>
                  <a:close/>
                </a:path>
              </a:pathLst>
            </a:custGeom>
            <a:solidFill>
              <a:srgbClr val="171C2A"/>
            </a:solidFill>
            <a:ln w="12700" cap="sq">
              <a:solidFill>
                <a:srgbClr val="FFFFFF"/>
              </a:solidFill>
              <a:prstDash val="solid"/>
              <a:miter/>
            </a:ln>
          </p:spPr>
        </p:sp>
      </p:grpSp>
      <p:grpSp>
        <p:nvGrpSpPr>
          <p:cNvPr name="Group 16" id="16"/>
          <p:cNvGrpSpPr/>
          <p:nvPr/>
        </p:nvGrpSpPr>
        <p:grpSpPr>
          <a:xfrm rot="0">
            <a:off x="2136489" y="2100455"/>
            <a:ext cx="1151793" cy="1151793"/>
            <a:chOff x="0" y="0"/>
            <a:chExt cx="1358049" cy="1358049"/>
          </a:xfrm>
        </p:grpSpPr>
        <p:sp>
          <p:nvSpPr>
            <p:cNvPr name="Freeform 17" id="17"/>
            <p:cNvSpPr/>
            <p:nvPr/>
          </p:nvSpPr>
          <p:spPr>
            <a:xfrm flipH="false" flipV="false" rot="0">
              <a:off x="0" y="0"/>
              <a:ext cx="1358138" cy="1358011"/>
            </a:xfrm>
            <a:custGeom>
              <a:avLst/>
              <a:gdLst/>
              <a:ahLst/>
              <a:cxnLst/>
              <a:rect r="r" b="b" t="t" l="l"/>
              <a:pathLst>
                <a:path h="1358011" w="1358138">
                  <a:moveTo>
                    <a:pt x="0" y="679069"/>
                  </a:moveTo>
                  <a:cubicBezTo>
                    <a:pt x="0" y="304038"/>
                    <a:pt x="304038" y="0"/>
                    <a:pt x="679069" y="0"/>
                  </a:cubicBezTo>
                  <a:cubicBezTo>
                    <a:pt x="1054100" y="0"/>
                    <a:pt x="1358138" y="304038"/>
                    <a:pt x="1358138" y="679069"/>
                  </a:cubicBezTo>
                  <a:cubicBezTo>
                    <a:pt x="1358138" y="1054100"/>
                    <a:pt x="1054100" y="1358011"/>
                    <a:pt x="679069" y="1358011"/>
                  </a:cubicBezTo>
                  <a:cubicBezTo>
                    <a:pt x="304038" y="1358011"/>
                    <a:pt x="0" y="1054100"/>
                    <a:pt x="0" y="679069"/>
                  </a:cubicBezTo>
                  <a:close/>
                </a:path>
              </a:pathLst>
            </a:custGeom>
            <a:solidFill>
              <a:srgbClr val="2323E6"/>
            </a:solidFill>
            <a:ln w="12700" cap="sq">
              <a:solidFill>
                <a:srgbClr val="2323E6"/>
              </a:solidFill>
              <a:prstDash val="solid"/>
              <a:miter/>
            </a:ln>
          </p:spPr>
        </p:sp>
      </p:grpSp>
      <p:sp>
        <p:nvSpPr>
          <p:cNvPr name="TextBox 18" id="18"/>
          <p:cNvSpPr txBox="true"/>
          <p:nvPr/>
        </p:nvSpPr>
        <p:spPr>
          <a:xfrm rot="0">
            <a:off x="1853833" y="2276612"/>
            <a:ext cx="1654450" cy="895252"/>
          </a:xfrm>
          <a:prstGeom prst="rect">
            <a:avLst/>
          </a:prstGeom>
        </p:spPr>
        <p:txBody>
          <a:bodyPr anchor="t" rtlCol="false" tIns="0" lIns="0" bIns="0" rIns="0">
            <a:spAutoFit/>
          </a:bodyPr>
          <a:lstStyle/>
          <a:p>
            <a:pPr algn="ctr">
              <a:lnSpc>
                <a:spcPts val="7191"/>
              </a:lnSpc>
            </a:pPr>
            <a:r>
              <a:rPr lang="en-US" b="true" sz="5993">
                <a:solidFill>
                  <a:srgbClr val="F6FCF9"/>
                </a:solidFill>
                <a:latin typeface="Inter Bold"/>
                <a:ea typeface="Inter Bold"/>
                <a:cs typeface="Inter Bold"/>
                <a:sym typeface="Inter Bold"/>
              </a:rPr>
              <a:t>1</a:t>
            </a:r>
          </a:p>
        </p:txBody>
      </p:sp>
      <p:sp>
        <p:nvSpPr>
          <p:cNvPr name="TextBox 19" id="19"/>
          <p:cNvSpPr txBox="true"/>
          <p:nvPr/>
        </p:nvSpPr>
        <p:spPr>
          <a:xfrm rot="0">
            <a:off x="624341" y="3766855"/>
            <a:ext cx="4273320" cy="550772"/>
          </a:xfrm>
          <a:prstGeom prst="rect">
            <a:avLst/>
          </a:prstGeom>
        </p:spPr>
        <p:txBody>
          <a:bodyPr anchor="t" rtlCol="false" tIns="0" lIns="0" bIns="0" rIns="0">
            <a:spAutoFit/>
          </a:bodyPr>
          <a:lstStyle/>
          <a:p>
            <a:pPr algn="ctr">
              <a:lnSpc>
                <a:spcPts val="4342"/>
              </a:lnSpc>
            </a:pPr>
            <a:r>
              <a:rPr lang="en-US" b="true" sz="3618">
                <a:solidFill>
                  <a:srgbClr val="171C2A"/>
                </a:solidFill>
                <a:latin typeface="Inter Bold"/>
                <a:ea typeface="Inter Bold"/>
                <a:cs typeface="Inter Bold"/>
                <a:sym typeface="Inter Bold"/>
              </a:rPr>
              <a:t>Mode Ombre</a:t>
            </a:r>
          </a:p>
        </p:txBody>
      </p:sp>
      <p:sp>
        <p:nvSpPr>
          <p:cNvPr name="TextBox 20" id="20"/>
          <p:cNvSpPr txBox="true"/>
          <p:nvPr/>
        </p:nvSpPr>
        <p:spPr>
          <a:xfrm rot="0">
            <a:off x="577215" y="4365252"/>
            <a:ext cx="4647876" cy="3580919"/>
          </a:xfrm>
          <a:prstGeom prst="rect">
            <a:avLst/>
          </a:prstGeom>
        </p:spPr>
        <p:txBody>
          <a:bodyPr anchor="t" rtlCol="false" tIns="0" lIns="0" bIns="0" rIns="0">
            <a:spAutoFit/>
          </a:bodyPr>
          <a:lstStyle/>
          <a:p>
            <a:pPr algn="l" marL="653150" indent="-326575" lvl="1">
              <a:lnSpc>
                <a:spcPts val="4084"/>
              </a:lnSpc>
              <a:buFont typeface="Arial"/>
              <a:buChar char="•"/>
            </a:pPr>
            <a:r>
              <a:rPr lang="en-US" b="true" sz="3025">
                <a:solidFill>
                  <a:srgbClr val="171C2A"/>
                </a:solidFill>
                <a:latin typeface="Inter Semi-Bold"/>
                <a:ea typeface="Inter Semi-Bold"/>
                <a:cs typeface="Inter Semi-Bold"/>
                <a:sym typeface="Inter Semi-Bold"/>
              </a:rPr>
              <a:t>Planning généré en parallèle du fonctionnement habituel</a:t>
            </a:r>
          </a:p>
          <a:p>
            <a:pPr algn="l" marL="653150" indent="-326575" lvl="1">
              <a:lnSpc>
                <a:spcPts val="4084"/>
              </a:lnSpc>
              <a:buFont typeface="Arial"/>
              <a:buChar char="•"/>
            </a:pPr>
            <a:r>
              <a:rPr lang="en-US" b="true" sz="3025">
                <a:solidFill>
                  <a:srgbClr val="171C2A"/>
                </a:solidFill>
                <a:latin typeface="Inter Semi-Bold"/>
                <a:ea typeface="Inter Semi-Bold"/>
                <a:cs typeface="Inter Semi-Bold"/>
                <a:sym typeface="Inter Semi-Bold"/>
              </a:rPr>
              <a:t>Comparaison des résultats sans impact sur les décisions</a:t>
            </a:r>
          </a:p>
        </p:txBody>
      </p:sp>
      <p:grpSp>
        <p:nvGrpSpPr>
          <p:cNvPr name="Group 21" id="21"/>
          <p:cNvGrpSpPr/>
          <p:nvPr/>
        </p:nvGrpSpPr>
        <p:grpSpPr>
          <a:xfrm rot="0">
            <a:off x="8262969" y="1841947"/>
            <a:ext cx="1668808" cy="1668808"/>
            <a:chOff x="0" y="0"/>
            <a:chExt cx="1967649" cy="1967649"/>
          </a:xfrm>
        </p:grpSpPr>
        <p:sp>
          <p:nvSpPr>
            <p:cNvPr name="Freeform 22" id="22"/>
            <p:cNvSpPr/>
            <p:nvPr/>
          </p:nvSpPr>
          <p:spPr>
            <a:xfrm flipH="false" flipV="false" rot="0">
              <a:off x="0" y="0"/>
              <a:ext cx="1967738" cy="1967738"/>
            </a:xfrm>
            <a:custGeom>
              <a:avLst/>
              <a:gdLst/>
              <a:ahLst/>
              <a:cxnLst/>
              <a:rect r="r" b="b" t="t" l="l"/>
              <a:pathLst>
                <a:path h="1967738" w="1967738">
                  <a:moveTo>
                    <a:pt x="0" y="983869"/>
                  </a:moveTo>
                  <a:cubicBezTo>
                    <a:pt x="0" y="440436"/>
                    <a:pt x="440436" y="0"/>
                    <a:pt x="983869" y="0"/>
                  </a:cubicBezTo>
                  <a:cubicBezTo>
                    <a:pt x="1527302" y="0"/>
                    <a:pt x="1967738" y="440436"/>
                    <a:pt x="1967738" y="983869"/>
                  </a:cubicBezTo>
                  <a:cubicBezTo>
                    <a:pt x="1967738" y="1527302"/>
                    <a:pt x="1527302" y="1967738"/>
                    <a:pt x="983869" y="1967738"/>
                  </a:cubicBezTo>
                  <a:cubicBezTo>
                    <a:pt x="440436" y="1967738"/>
                    <a:pt x="0" y="1527175"/>
                    <a:pt x="0" y="983869"/>
                  </a:cubicBezTo>
                  <a:close/>
                </a:path>
              </a:pathLst>
            </a:custGeom>
            <a:solidFill>
              <a:srgbClr val="171C2A"/>
            </a:solidFill>
            <a:ln w="12700" cap="sq">
              <a:solidFill>
                <a:srgbClr val="FFFFFF"/>
              </a:solidFill>
              <a:prstDash val="solid"/>
              <a:miter/>
            </a:ln>
          </p:spPr>
        </p:sp>
      </p:grpSp>
      <p:grpSp>
        <p:nvGrpSpPr>
          <p:cNvPr name="Group 23" id="23"/>
          <p:cNvGrpSpPr/>
          <p:nvPr/>
        </p:nvGrpSpPr>
        <p:grpSpPr>
          <a:xfrm rot="0">
            <a:off x="8521476" y="2100455"/>
            <a:ext cx="1151793" cy="1151793"/>
            <a:chOff x="0" y="0"/>
            <a:chExt cx="1358049" cy="1358049"/>
          </a:xfrm>
        </p:grpSpPr>
        <p:sp>
          <p:nvSpPr>
            <p:cNvPr name="Freeform 24" id="24"/>
            <p:cNvSpPr/>
            <p:nvPr/>
          </p:nvSpPr>
          <p:spPr>
            <a:xfrm flipH="false" flipV="false" rot="0">
              <a:off x="0" y="0"/>
              <a:ext cx="1358138" cy="1358011"/>
            </a:xfrm>
            <a:custGeom>
              <a:avLst/>
              <a:gdLst/>
              <a:ahLst/>
              <a:cxnLst/>
              <a:rect r="r" b="b" t="t" l="l"/>
              <a:pathLst>
                <a:path h="1358011" w="1358138">
                  <a:moveTo>
                    <a:pt x="0" y="679069"/>
                  </a:moveTo>
                  <a:cubicBezTo>
                    <a:pt x="0" y="304038"/>
                    <a:pt x="304038" y="0"/>
                    <a:pt x="679069" y="0"/>
                  </a:cubicBezTo>
                  <a:cubicBezTo>
                    <a:pt x="1054100" y="0"/>
                    <a:pt x="1358138" y="304038"/>
                    <a:pt x="1358138" y="679069"/>
                  </a:cubicBezTo>
                  <a:cubicBezTo>
                    <a:pt x="1358138" y="1054100"/>
                    <a:pt x="1054100" y="1358011"/>
                    <a:pt x="679069" y="1358011"/>
                  </a:cubicBezTo>
                  <a:cubicBezTo>
                    <a:pt x="304038" y="1358011"/>
                    <a:pt x="0" y="1054100"/>
                    <a:pt x="0" y="679069"/>
                  </a:cubicBezTo>
                  <a:close/>
                </a:path>
              </a:pathLst>
            </a:custGeom>
            <a:solidFill>
              <a:srgbClr val="2323E6"/>
            </a:solidFill>
            <a:ln w="12700" cap="sq">
              <a:solidFill>
                <a:srgbClr val="2323E6"/>
              </a:solidFill>
              <a:prstDash val="solid"/>
              <a:miter/>
            </a:ln>
          </p:spPr>
        </p:sp>
      </p:grpSp>
      <p:sp>
        <p:nvSpPr>
          <p:cNvPr name="TextBox 25" id="25"/>
          <p:cNvSpPr txBox="true"/>
          <p:nvPr/>
        </p:nvSpPr>
        <p:spPr>
          <a:xfrm rot="0">
            <a:off x="7026605" y="3800611"/>
            <a:ext cx="4273320" cy="542925"/>
          </a:xfrm>
          <a:prstGeom prst="rect">
            <a:avLst/>
          </a:prstGeom>
        </p:spPr>
        <p:txBody>
          <a:bodyPr anchor="t" rtlCol="false" tIns="0" lIns="0" bIns="0" rIns="0">
            <a:spAutoFit/>
          </a:bodyPr>
          <a:lstStyle/>
          <a:p>
            <a:pPr algn="ctr">
              <a:lnSpc>
                <a:spcPts val="4342"/>
              </a:lnSpc>
            </a:pPr>
            <a:r>
              <a:rPr lang="en-US" b="true" sz="3618">
                <a:solidFill>
                  <a:srgbClr val="171C2A"/>
                </a:solidFill>
                <a:latin typeface="Inter Bold"/>
                <a:ea typeface="Inter Bold"/>
                <a:cs typeface="Inter Bold"/>
                <a:sym typeface="Inter Bold"/>
              </a:rPr>
              <a:t>Phase Pilote</a:t>
            </a:r>
          </a:p>
        </p:txBody>
      </p:sp>
      <p:sp>
        <p:nvSpPr>
          <p:cNvPr name="TextBox 26" id="26"/>
          <p:cNvSpPr txBox="true"/>
          <p:nvPr/>
        </p:nvSpPr>
        <p:spPr>
          <a:xfrm rot="0">
            <a:off x="7063416" y="4365252"/>
            <a:ext cx="4555752" cy="3580919"/>
          </a:xfrm>
          <a:prstGeom prst="rect">
            <a:avLst/>
          </a:prstGeom>
        </p:spPr>
        <p:txBody>
          <a:bodyPr anchor="t" rtlCol="false" tIns="0" lIns="0" bIns="0" rIns="0">
            <a:spAutoFit/>
          </a:bodyPr>
          <a:lstStyle/>
          <a:p>
            <a:pPr algn="l" marL="653150" indent="-326575" lvl="1">
              <a:lnSpc>
                <a:spcPts val="4084"/>
              </a:lnSpc>
              <a:buFont typeface="Arial"/>
              <a:buChar char="•"/>
            </a:pPr>
            <a:r>
              <a:rPr lang="en-US" b="true" sz="3025">
                <a:solidFill>
                  <a:srgbClr val="171C2A"/>
                </a:solidFill>
                <a:latin typeface="Inter Semi-Bold"/>
                <a:ea typeface="Inter Semi-Bold"/>
                <a:cs typeface="Inter Semi-Bold"/>
                <a:sym typeface="Inter Semi-Bold"/>
              </a:rPr>
              <a:t>Expérimentation sur un seul bloc opératoire</a:t>
            </a:r>
          </a:p>
          <a:p>
            <a:pPr algn="l" marL="653150" indent="-326575" lvl="1">
              <a:lnSpc>
                <a:spcPts val="4084"/>
              </a:lnSpc>
              <a:buFont typeface="Arial"/>
              <a:buChar char="•"/>
            </a:pPr>
            <a:r>
              <a:rPr lang="en-US" b="true" sz="3025">
                <a:solidFill>
                  <a:srgbClr val="171C2A"/>
                </a:solidFill>
                <a:latin typeface="Inter Semi-Bold"/>
                <a:ea typeface="Inter Semi-Bold"/>
                <a:cs typeface="Inter Semi-Bold"/>
                <a:sym typeface="Inter Semi-Bold"/>
              </a:rPr>
              <a:t>Validation systématique des propositions par un professionnel</a:t>
            </a:r>
          </a:p>
        </p:txBody>
      </p:sp>
      <p:grpSp>
        <p:nvGrpSpPr>
          <p:cNvPr name="Group 27" id="27"/>
          <p:cNvGrpSpPr/>
          <p:nvPr/>
        </p:nvGrpSpPr>
        <p:grpSpPr>
          <a:xfrm rot="0">
            <a:off x="14672104" y="1841947"/>
            <a:ext cx="1668808" cy="1668808"/>
            <a:chOff x="0" y="0"/>
            <a:chExt cx="1967649" cy="1967649"/>
          </a:xfrm>
        </p:grpSpPr>
        <p:sp>
          <p:nvSpPr>
            <p:cNvPr name="Freeform 28" id="28"/>
            <p:cNvSpPr/>
            <p:nvPr/>
          </p:nvSpPr>
          <p:spPr>
            <a:xfrm flipH="false" flipV="false" rot="0">
              <a:off x="0" y="0"/>
              <a:ext cx="1967738" cy="1967738"/>
            </a:xfrm>
            <a:custGeom>
              <a:avLst/>
              <a:gdLst/>
              <a:ahLst/>
              <a:cxnLst/>
              <a:rect r="r" b="b" t="t" l="l"/>
              <a:pathLst>
                <a:path h="1967738" w="1967738">
                  <a:moveTo>
                    <a:pt x="0" y="983869"/>
                  </a:moveTo>
                  <a:cubicBezTo>
                    <a:pt x="0" y="440436"/>
                    <a:pt x="440436" y="0"/>
                    <a:pt x="983869" y="0"/>
                  </a:cubicBezTo>
                  <a:cubicBezTo>
                    <a:pt x="1527302" y="0"/>
                    <a:pt x="1967738" y="440436"/>
                    <a:pt x="1967738" y="983869"/>
                  </a:cubicBezTo>
                  <a:cubicBezTo>
                    <a:pt x="1967738" y="1527302"/>
                    <a:pt x="1527302" y="1967738"/>
                    <a:pt x="983869" y="1967738"/>
                  </a:cubicBezTo>
                  <a:cubicBezTo>
                    <a:pt x="440436" y="1967738"/>
                    <a:pt x="0" y="1527175"/>
                    <a:pt x="0" y="983869"/>
                  </a:cubicBezTo>
                  <a:close/>
                </a:path>
              </a:pathLst>
            </a:custGeom>
            <a:solidFill>
              <a:srgbClr val="171C2A"/>
            </a:solidFill>
            <a:ln w="12700" cap="sq">
              <a:solidFill>
                <a:srgbClr val="FFFFFF"/>
              </a:solidFill>
              <a:prstDash val="solid"/>
              <a:miter/>
            </a:ln>
          </p:spPr>
        </p:sp>
      </p:grpSp>
      <p:grpSp>
        <p:nvGrpSpPr>
          <p:cNvPr name="Group 29" id="29"/>
          <p:cNvGrpSpPr/>
          <p:nvPr/>
        </p:nvGrpSpPr>
        <p:grpSpPr>
          <a:xfrm rot="0">
            <a:off x="14930612" y="2100455"/>
            <a:ext cx="1151793" cy="1151793"/>
            <a:chOff x="0" y="0"/>
            <a:chExt cx="1358049" cy="1358049"/>
          </a:xfrm>
        </p:grpSpPr>
        <p:sp>
          <p:nvSpPr>
            <p:cNvPr name="Freeform 30" id="30"/>
            <p:cNvSpPr/>
            <p:nvPr/>
          </p:nvSpPr>
          <p:spPr>
            <a:xfrm flipH="false" flipV="false" rot="0">
              <a:off x="0" y="0"/>
              <a:ext cx="1358138" cy="1358011"/>
            </a:xfrm>
            <a:custGeom>
              <a:avLst/>
              <a:gdLst/>
              <a:ahLst/>
              <a:cxnLst/>
              <a:rect r="r" b="b" t="t" l="l"/>
              <a:pathLst>
                <a:path h="1358011" w="1358138">
                  <a:moveTo>
                    <a:pt x="0" y="679069"/>
                  </a:moveTo>
                  <a:cubicBezTo>
                    <a:pt x="0" y="304038"/>
                    <a:pt x="304038" y="0"/>
                    <a:pt x="679069" y="0"/>
                  </a:cubicBezTo>
                  <a:cubicBezTo>
                    <a:pt x="1054100" y="0"/>
                    <a:pt x="1358138" y="304038"/>
                    <a:pt x="1358138" y="679069"/>
                  </a:cubicBezTo>
                  <a:cubicBezTo>
                    <a:pt x="1358138" y="1054100"/>
                    <a:pt x="1054100" y="1358011"/>
                    <a:pt x="679069" y="1358011"/>
                  </a:cubicBezTo>
                  <a:cubicBezTo>
                    <a:pt x="304038" y="1358011"/>
                    <a:pt x="0" y="1054100"/>
                    <a:pt x="0" y="679069"/>
                  </a:cubicBezTo>
                  <a:close/>
                </a:path>
              </a:pathLst>
            </a:custGeom>
            <a:solidFill>
              <a:srgbClr val="2323E6"/>
            </a:solidFill>
            <a:ln w="12700" cap="sq">
              <a:solidFill>
                <a:srgbClr val="1B1B5E"/>
              </a:solidFill>
              <a:prstDash val="solid"/>
              <a:miter/>
            </a:ln>
          </p:spPr>
        </p:sp>
      </p:grpSp>
      <p:sp>
        <p:nvSpPr>
          <p:cNvPr name="TextBox 31" id="31"/>
          <p:cNvSpPr txBox="true"/>
          <p:nvPr/>
        </p:nvSpPr>
        <p:spPr>
          <a:xfrm rot="0">
            <a:off x="13639499" y="3766855"/>
            <a:ext cx="3737911" cy="550772"/>
          </a:xfrm>
          <a:prstGeom prst="rect">
            <a:avLst/>
          </a:prstGeom>
        </p:spPr>
        <p:txBody>
          <a:bodyPr anchor="t" rtlCol="false" tIns="0" lIns="0" bIns="0" rIns="0">
            <a:spAutoFit/>
          </a:bodyPr>
          <a:lstStyle/>
          <a:p>
            <a:pPr algn="ctr">
              <a:lnSpc>
                <a:spcPts val="4342"/>
              </a:lnSpc>
            </a:pPr>
            <a:r>
              <a:rPr lang="en-US" b="true" sz="3618">
                <a:solidFill>
                  <a:srgbClr val="171C2A"/>
                </a:solidFill>
                <a:latin typeface="Inter Bold"/>
                <a:ea typeface="Inter Bold"/>
                <a:cs typeface="Inter Bold"/>
                <a:sym typeface="Inter Bold"/>
              </a:rPr>
              <a:t>Extension</a:t>
            </a:r>
          </a:p>
        </p:txBody>
      </p:sp>
      <p:sp>
        <p:nvSpPr>
          <p:cNvPr name="TextBox 32" id="32"/>
          <p:cNvSpPr txBox="true"/>
          <p:nvPr/>
        </p:nvSpPr>
        <p:spPr>
          <a:xfrm rot="0">
            <a:off x="13612832" y="4365252"/>
            <a:ext cx="3955078" cy="3580919"/>
          </a:xfrm>
          <a:prstGeom prst="rect">
            <a:avLst/>
          </a:prstGeom>
        </p:spPr>
        <p:txBody>
          <a:bodyPr anchor="t" rtlCol="false" tIns="0" lIns="0" bIns="0" rIns="0">
            <a:spAutoFit/>
          </a:bodyPr>
          <a:lstStyle/>
          <a:p>
            <a:pPr algn="l" marL="653150" indent="-326575" lvl="1">
              <a:lnSpc>
                <a:spcPts val="4084"/>
              </a:lnSpc>
              <a:buFont typeface="Arial"/>
              <a:buChar char="•"/>
            </a:pPr>
            <a:r>
              <a:rPr lang="en-US" b="true" sz="3025">
                <a:solidFill>
                  <a:srgbClr val="171C2A"/>
                </a:solidFill>
                <a:latin typeface="Inter Semi-Bold"/>
                <a:ea typeface="Inter Semi-Bold"/>
                <a:cs typeface="Inter Semi-Bold"/>
                <a:sym typeface="Inter Semi-Bold"/>
              </a:rPr>
              <a:t>Généralisation si les objectifs sont atteints</a:t>
            </a:r>
          </a:p>
          <a:p>
            <a:pPr algn="l" marL="653150" indent="-326575" lvl="1">
              <a:lnSpc>
                <a:spcPts val="4084"/>
              </a:lnSpc>
              <a:buFont typeface="Arial"/>
              <a:buChar char="•"/>
            </a:pPr>
            <a:r>
              <a:rPr lang="en-US" b="true" sz="3025">
                <a:solidFill>
                  <a:srgbClr val="171C2A"/>
                </a:solidFill>
                <a:latin typeface="Inter Semi-Bold"/>
                <a:ea typeface="Inter Semi-Bold"/>
                <a:cs typeface="Inter Semi-Bold"/>
                <a:sym typeface="Inter Semi-Bold"/>
              </a:rPr>
              <a:t>Suivi des indicateurs : occupation des salles, retard...</a:t>
            </a:r>
          </a:p>
        </p:txBody>
      </p:sp>
      <p:sp>
        <p:nvSpPr>
          <p:cNvPr name="TextBox 33" id="33"/>
          <p:cNvSpPr txBox="true"/>
          <p:nvPr/>
        </p:nvSpPr>
        <p:spPr>
          <a:xfrm rot="0">
            <a:off x="8277326" y="2286137"/>
            <a:ext cx="1654450" cy="895252"/>
          </a:xfrm>
          <a:prstGeom prst="rect">
            <a:avLst/>
          </a:prstGeom>
        </p:spPr>
        <p:txBody>
          <a:bodyPr anchor="t" rtlCol="false" tIns="0" lIns="0" bIns="0" rIns="0">
            <a:spAutoFit/>
          </a:bodyPr>
          <a:lstStyle/>
          <a:p>
            <a:pPr algn="ctr">
              <a:lnSpc>
                <a:spcPts val="7191"/>
              </a:lnSpc>
            </a:pPr>
            <a:r>
              <a:rPr lang="en-US" sz="5993" b="true">
                <a:solidFill>
                  <a:srgbClr val="F6FCF9"/>
                </a:solidFill>
                <a:latin typeface="Inter Bold"/>
                <a:ea typeface="Inter Bold"/>
                <a:cs typeface="Inter Bold"/>
                <a:sym typeface="Inter Bold"/>
              </a:rPr>
              <a:t>2</a:t>
            </a:r>
          </a:p>
        </p:txBody>
      </p:sp>
      <p:sp>
        <p:nvSpPr>
          <p:cNvPr name="TextBox 34" id="34"/>
          <p:cNvSpPr txBox="true"/>
          <p:nvPr/>
        </p:nvSpPr>
        <p:spPr>
          <a:xfrm rot="0">
            <a:off x="14681163" y="2286137"/>
            <a:ext cx="1654450" cy="895252"/>
          </a:xfrm>
          <a:prstGeom prst="rect">
            <a:avLst/>
          </a:prstGeom>
        </p:spPr>
        <p:txBody>
          <a:bodyPr anchor="t" rtlCol="false" tIns="0" lIns="0" bIns="0" rIns="0">
            <a:spAutoFit/>
          </a:bodyPr>
          <a:lstStyle/>
          <a:p>
            <a:pPr algn="ctr">
              <a:lnSpc>
                <a:spcPts val="7191"/>
              </a:lnSpc>
            </a:pPr>
            <a:r>
              <a:rPr lang="en-US" sz="5993" b="true">
                <a:solidFill>
                  <a:srgbClr val="F6FCF9"/>
                </a:solidFill>
                <a:latin typeface="Inter Bold"/>
                <a:ea typeface="Inter Bold"/>
                <a:cs typeface="Inter Bold"/>
                <a:sym typeface="Inter Bold"/>
              </a:rPr>
              <a:t>3</a:t>
            </a:r>
          </a:p>
        </p:txBody>
      </p:sp>
      <p:sp>
        <p:nvSpPr>
          <p:cNvPr name="AutoShape 35" id="35"/>
          <p:cNvSpPr/>
          <p:nvPr/>
        </p:nvSpPr>
        <p:spPr>
          <a:xfrm>
            <a:off x="3546789" y="2676352"/>
            <a:ext cx="4716180" cy="0"/>
          </a:xfrm>
          <a:prstGeom prst="line">
            <a:avLst/>
          </a:prstGeom>
          <a:ln cap="flat" w="57150">
            <a:solidFill>
              <a:srgbClr val="000000"/>
            </a:solidFill>
            <a:prstDash val="sysDot"/>
            <a:headEnd type="none" len="sm" w="sm"/>
            <a:tailEnd type="triangle" len="med" w="lg"/>
          </a:ln>
        </p:spPr>
      </p:sp>
      <p:sp>
        <p:nvSpPr>
          <p:cNvPr name="AutoShape 36" id="36"/>
          <p:cNvSpPr/>
          <p:nvPr/>
        </p:nvSpPr>
        <p:spPr>
          <a:xfrm>
            <a:off x="9931777" y="2676352"/>
            <a:ext cx="4740327" cy="0"/>
          </a:xfrm>
          <a:prstGeom prst="line">
            <a:avLst/>
          </a:prstGeom>
          <a:ln cap="flat" w="57150">
            <a:solidFill>
              <a:srgbClr val="000000"/>
            </a:solidFill>
            <a:prstDash val="sysDot"/>
            <a:headEnd type="none" len="sm" w="sm"/>
            <a:tailEnd type="triangle" len="med" w="lg"/>
          </a:ln>
        </p:spPr>
      </p:sp>
      <p:sp>
        <p:nvSpPr>
          <p:cNvPr name="TextBox 37" id="37"/>
          <p:cNvSpPr txBox="true"/>
          <p:nvPr/>
        </p:nvSpPr>
        <p:spPr>
          <a:xfrm rot="0">
            <a:off x="777240" y="8765321"/>
            <a:ext cx="16733520" cy="428625"/>
          </a:xfrm>
          <a:prstGeom prst="rect">
            <a:avLst/>
          </a:prstGeom>
        </p:spPr>
        <p:txBody>
          <a:bodyPr anchor="t" rtlCol="false" tIns="0" lIns="0" bIns="0" rIns="0">
            <a:spAutoFit/>
          </a:bodyPr>
          <a:lstStyle/>
          <a:p>
            <a:pPr algn="ctr">
              <a:lnSpc>
                <a:spcPts val="3119"/>
              </a:lnSpc>
            </a:pPr>
            <a:r>
              <a:rPr lang="en-US" sz="2599" b="true">
                <a:solidFill>
                  <a:srgbClr val="171C2A"/>
                </a:solidFill>
                <a:latin typeface="Helvetica World Bold"/>
                <a:ea typeface="Helvetica World Bold"/>
                <a:cs typeface="Helvetica World Bold"/>
                <a:sym typeface="Helvetica World Bold"/>
              </a:rPr>
              <a:t>À chaque étape, il y a une supervision humaine et une évaluation des performances</a:t>
            </a:r>
          </a:p>
        </p:txBody>
      </p:sp>
      <p:sp>
        <p:nvSpPr>
          <p:cNvPr name="TextBox 38" id="3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29</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LIMITES ET PROCHAINES ÉTAPES</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777240" y="1966881"/>
            <a:ext cx="8183880" cy="871188"/>
            <a:chOff x="0" y="0"/>
            <a:chExt cx="10911840" cy="1161584"/>
          </a:xfrm>
        </p:grpSpPr>
        <p:sp>
          <p:nvSpPr>
            <p:cNvPr name="Freeform 8" id="8"/>
            <p:cNvSpPr/>
            <p:nvPr/>
          </p:nvSpPr>
          <p:spPr>
            <a:xfrm flipH="false" flipV="false" rot="0">
              <a:off x="0" y="0"/>
              <a:ext cx="10911840" cy="1161584"/>
            </a:xfrm>
            <a:custGeom>
              <a:avLst/>
              <a:gdLst/>
              <a:ahLst/>
              <a:cxnLst/>
              <a:rect r="r" b="b" t="t" l="l"/>
              <a:pathLst>
                <a:path h="1161584" w="10911840">
                  <a:moveTo>
                    <a:pt x="0" y="0"/>
                  </a:moveTo>
                  <a:lnTo>
                    <a:pt x="10911840" y="0"/>
                  </a:lnTo>
                  <a:lnTo>
                    <a:pt x="10911840" y="1161584"/>
                  </a:lnTo>
                  <a:lnTo>
                    <a:pt x="0" y="1161584"/>
                  </a:lnTo>
                  <a:close/>
                </a:path>
              </a:pathLst>
            </a:custGeom>
            <a:solidFill>
              <a:srgbClr val="171C2A"/>
            </a:solidFill>
          </p:spPr>
        </p:sp>
        <p:sp>
          <p:nvSpPr>
            <p:cNvPr name="TextBox 9" id="9"/>
            <p:cNvSpPr txBox="true"/>
            <p:nvPr/>
          </p:nvSpPr>
          <p:spPr>
            <a:xfrm>
              <a:off x="0" y="9525"/>
              <a:ext cx="1091184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Ce qui repose encore sur des hypothèses</a:t>
              </a:r>
            </a:p>
          </p:txBody>
        </p:sp>
      </p:grpSp>
      <p:grpSp>
        <p:nvGrpSpPr>
          <p:cNvPr name="Group 10" id="10"/>
          <p:cNvGrpSpPr/>
          <p:nvPr/>
        </p:nvGrpSpPr>
        <p:grpSpPr>
          <a:xfrm rot="0">
            <a:off x="777240" y="2838069"/>
            <a:ext cx="8183880" cy="5082170"/>
            <a:chOff x="0" y="0"/>
            <a:chExt cx="10911840" cy="6776227"/>
          </a:xfrm>
        </p:grpSpPr>
        <p:sp>
          <p:nvSpPr>
            <p:cNvPr name="Freeform 11" id="11"/>
            <p:cNvSpPr/>
            <p:nvPr/>
          </p:nvSpPr>
          <p:spPr>
            <a:xfrm flipH="false" flipV="false" rot="0">
              <a:off x="0" y="0"/>
              <a:ext cx="10911840" cy="6776196"/>
            </a:xfrm>
            <a:custGeom>
              <a:avLst/>
              <a:gdLst/>
              <a:ahLst/>
              <a:cxnLst/>
              <a:rect r="r" b="b" t="t" l="l"/>
              <a:pathLst>
                <a:path h="6776196" w="10911840">
                  <a:moveTo>
                    <a:pt x="0" y="0"/>
                  </a:moveTo>
                  <a:lnTo>
                    <a:pt x="10911840" y="0"/>
                  </a:lnTo>
                  <a:lnTo>
                    <a:pt x="10911840" y="6776196"/>
                  </a:lnTo>
                  <a:lnTo>
                    <a:pt x="0" y="6776196"/>
                  </a:lnTo>
                  <a:close/>
                </a:path>
              </a:pathLst>
            </a:custGeom>
            <a:solidFill>
              <a:srgbClr val="F2F8F6"/>
            </a:solidFill>
          </p:spPr>
        </p:sp>
      </p:grpSp>
      <p:sp>
        <p:nvSpPr>
          <p:cNvPr name="TextBox 12" id="12"/>
          <p:cNvSpPr txBox="true"/>
          <p:nvPr/>
        </p:nvSpPr>
        <p:spPr>
          <a:xfrm rot="0">
            <a:off x="978408" y="3002661"/>
            <a:ext cx="7781544" cy="5915149"/>
          </a:xfrm>
          <a:prstGeom prst="rect">
            <a:avLst/>
          </a:prstGeom>
        </p:spPr>
        <p:txBody>
          <a:bodyPr anchor="t" rtlCol="false" tIns="0" lIns="0" bIns="0" rIns="0">
            <a:spAutoFit/>
          </a:bodyPr>
          <a:lstStyle/>
          <a:p>
            <a:pPr algn="l" marL="386080" indent="-193040" lvl="1">
              <a:lnSpc>
                <a:spcPts val="3840"/>
              </a:lnSpc>
              <a:buFont typeface="Arial"/>
              <a:buChar char="•"/>
            </a:pPr>
            <a:r>
              <a:rPr lang="en-US" sz="3200">
                <a:solidFill>
                  <a:srgbClr val="171C2A"/>
                </a:solidFill>
                <a:latin typeface="Helvetica World"/>
                <a:ea typeface="Helvetica World"/>
                <a:cs typeface="Helvetica World"/>
                <a:sym typeface="Helvetica World"/>
              </a:rPr>
              <a:t>Les patients à programmer sont </a:t>
            </a:r>
            <a:r>
              <a:rPr lang="en-US" b="true" sz="3200">
                <a:solidFill>
                  <a:srgbClr val="171C2A"/>
                </a:solidFill>
                <a:latin typeface="Helvetica World Bold"/>
                <a:ea typeface="Helvetica World Bold"/>
                <a:cs typeface="Helvetica World Bold"/>
                <a:sym typeface="Helvetica World Bold"/>
              </a:rPr>
              <a:t>générés</a:t>
            </a:r>
            <a:r>
              <a:rPr lang="en-US" sz="3200">
                <a:solidFill>
                  <a:srgbClr val="171C2A"/>
                </a:solidFill>
                <a:latin typeface="Helvetica World"/>
                <a:ea typeface="Helvetica World"/>
                <a:cs typeface="Helvetica World"/>
                <a:sym typeface="Helvetica World"/>
              </a:rPr>
              <a:t> : il faut la vraie file d'attente du DPI.</a:t>
            </a:r>
          </a:p>
          <a:p>
            <a:pPr algn="l" marL="386080" indent="-193040" lvl="1">
              <a:lnSpc>
                <a:spcPts val="3840"/>
              </a:lnSpc>
              <a:buFont typeface="Arial"/>
              <a:buChar char="•"/>
            </a:pPr>
            <a:r>
              <a:rPr lang="en-US" sz="3200">
                <a:solidFill>
                  <a:srgbClr val="171C2A"/>
                </a:solidFill>
                <a:latin typeface="Helvetica World"/>
                <a:ea typeface="Helvetica World"/>
                <a:cs typeface="Helvetica World"/>
                <a:sym typeface="Helvetica World"/>
              </a:rPr>
              <a:t>Les </a:t>
            </a:r>
            <a:r>
              <a:rPr lang="en-US" b="true" sz="3200">
                <a:solidFill>
                  <a:srgbClr val="171C2A"/>
                </a:solidFill>
                <a:latin typeface="Helvetica World Bold"/>
                <a:ea typeface="Helvetica World Bold"/>
                <a:cs typeface="Helvetica World Bold"/>
                <a:sym typeface="Helvetica World Bold"/>
              </a:rPr>
              <a:t>capacités</a:t>
            </a:r>
            <a:r>
              <a:rPr lang="en-US" sz="3200">
                <a:solidFill>
                  <a:srgbClr val="171C2A"/>
                </a:solidFill>
                <a:latin typeface="Helvetica World"/>
                <a:ea typeface="Helvetica World"/>
                <a:cs typeface="Helvetica World"/>
                <a:sym typeface="Helvetica World"/>
              </a:rPr>
              <a:t> (30 lits, 20 places) et les </a:t>
            </a:r>
            <a:r>
              <a:rPr lang="en-US" b="true" sz="3200">
                <a:solidFill>
                  <a:srgbClr val="171C2A"/>
                </a:solidFill>
                <a:latin typeface="Helvetica World Bold"/>
                <a:ea typeface="Helvetica World Bold"/>
                <a:cs typeface="Helvetica World Bold"/>
                <a:sym typeface="Helvetica World Bold"/>
              </a:rPr>
              <a:t>spécialités</a:t>
            </a:r>
            <a:r>
              <a:rPr lang="en-US" sz="3200">
                <a:solidFill>
                  <a:srgbClr val="171C2A"/>
                </a:solidFill>
                <a:latin typeface="Helvetica World"/>
                <a:ea typeface="Helvetica World"/>
                <a:cs typeface="Helvetica World"/>
                <a:sym typeface="Helvetica World"/>
              </a:rPr>
              <a:t> sont à confirmer avec l'établissement.</a:t>
            </a:r>
          </a:p>
          <a:p>
            <a:pPr algn="l" marL="386080" indent="-193040" lvl="1">
              <a:lnSpc>
                <a:spcPts val="3840"/>
              </a:lnSpc>
              <a:buFont typeface="Arial"/>
              <a:buChar char="•"/>
            </a:pPr>
            <a:r>
              <a:rPr lang="en-US" b="true" sz="3200">
                <a:solidFill>
                  <a:srgbClr val="171C2A"/>
                </a:solidFill>
                <a:latin typeface="Helvetica World Bold"/>
                <a:ea typeface="Helvetica World Bold"/>
                <a:cs typeface="Helvetica World Bold"/>
                <a:sym typeface="Helvetica World Bold"/>
              </a:rPr>
              <a:t>L'affectation des chirurgiens aux plages</a:t>
            </a:r>
            <a:r>
              <a:rPr lang="en-US" sz="3200">
                <a:solidFill>
                  <a:srgbClr val="171C2A"/>
                </a:solidFill>
                <a:latin typeface="Helvetica World"/>
                <a:ea typeface="Helvetica World"/>
                <a:cs typeface="Helvetica World"/>
                <a:sym typeface="Helvetica World"/>
              </a:rPr>
              <a:t> est optimisée sur l'instance d'étude, pas encore sur le planning v28.</a:t>
            </a:r>
          </a:p>
        </p:txBody>
      </p:sp>
      <p:grpSp>
        <p:nvGrpSpPr>
          <p:cNvPr name="Group 13" id="13"/>
          <p:cNvGrpSpPr/>
          <p:nvPr/>
        </p:nvGrpSpPr>
        <p:grpSpPr>
          <a:xfrm rot="0">
            <a:off x="9326880" y="1966881"/>
            <a:ext cx="8183880" cy="871188"/>
            <a:chOff x="0" y="0"/>
            <a:chExt cx="10911840" cy="1161584"/>
          </a:xfrm>
        </p:grpSpPr>
        <p:sp>
          <p:nvSpPr>
            <p:cNvPr name="Freeform 14" id="14"/>
            <p:cNvSpPr/>
            <p:nvPr/>
          </p:nvSpPr>
          <p:spPr>
            <a:xfrm flipH="false" flipV="false" rot="0">
              <a:off x="0" y="0"/>
              <a:ext cx="10911840" cy="1161584"/>
            </a:xfrm>
            <a:custGeom>
              <a:avLst/>
              <a:gdLst/>
              <a:ahLst/>
              <a:cxnLst/>
              <a:rect r="r" b="b" t="t" l="l"/>
              <a:pathLst>
                <a:path h="1161584" w="10911840">
                  <a:moveTo>
                    <a:pt x="0" y="0"/>
                  </a:moveTo>
                  <a:lnTo>
                    <a:pt x="10911840" y="0"/>
                  </a:lnTo>
                  <a:lnTo>
                    <a:pt x="10911840" y="1161584"/>
                  </a:lnTo>
                  <a:lnTo>
                    <a:pt x="0" y="1161584"/>
                  </a:lnTo>
                  <a:close/>
                </a:path>
              </a:pathLst>
            </a:custGeom>
            <a:solidFill>
              <a:srgbClr val="2628ED"/>
            </a:solidFill>
          </p:spPr>
        </p:sp>
        <p:sp>
          <p:nvSpPr>
            <p:cNvPr name="TextBox 15" id="15"/>
            <p:cNvSpPr txBox="true"/>
            <p:nvPr/>
          </p:nvSpPr>
          <p:spPr>
            <a:xfrm>
              <a:off x="0" y="9525"/>
              <a:ext cx="1091184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Ce qu'il faut faire ensuite</a:t>
              </a:r>
            </a:p>
          </p:txBody>
        </p:sp>
      </p:grpSp>
      <p:grpSp>
        <p:nvGrpSpPr>
          <p:cNvPr name="Group 16" id="16"/>
          <p:cNvGrpSpPr/>
          <p:nvPr/>
        </p:nvGrpSpPr>
        <p:grpSpPr>
          <a:xfrm rot="0">
            <a:off x="9326880" y="2838069"/>
            <a:ext cx="8183880" cy="5082170"/>
            <a:chOff x="0" y="0"/>
            <a:chExt cx="10911840" cy="6776227"/>
          </a:xfrm>
        </p:grpSpPr>
        <p:sp>
          <p:nvSpPr>
            <p:cNvPr name="Freeform 17" id="17"/>
            <p:cNvSpPr/>
            <p:nvPr/>
          </p:nvSpPr>
          <p:spPr>
            <a:xfrm flipH="false" flipV="false" rot="0">
              <a:off x="0" y="0"/>
              <a:ext cx="10911840" cy="6776196"/>
            </a:xfrm>
            <a:custGeom>
              <a:avLst/>
              <a:gdLst/>
              <a:ahLst/>
              <a:cxnLst/>
              <a:rect r="r" b="b" t="t" l="l"/>
              <a:pathLst>
                <a:path h="6776196" w="10911840">
                  <a:moveTo>
                    <a:pt x="0" y="0"/>
                  </a:moveTo>
                  <a:lnTo>
                    <a:pt x="10911840" y="0"/>
                  </a:lnTo>
                  <a:lnTo>
                    <a:pt x="10911840" y="6776196"/>
                  </a:lnTo>
                  <a:lnTo>
                    <a:pt x="0" y="6776196"/>
                  </a:lnTo>
                  <a:close/>
                </a:path>
              </a:pathLst>
            </a:custGeom>
            <a:solidFill>
              <a:srgbClr val="F2F8F6"/>
            </a:solidFill>
          </p:spPr>
        </p:sp>
      </p:grpSp>
      <p:sp>
        <p:nvSpPr>
          <p:cNvPr name="TextBox 18" id="18"/>
          <p:cNvSpPr txBox="true"/>
          <p:nvPr/>
        </p:nvSpPr>
        <p:spPr>
          <a:xfrm rot="0">
            <a:off x="9528048" y="3002661"/>
            <a:ext cx="7781544" cy="5915149"/>
          </a:xfrm>
          <a:prstGeom prst="rect">
            <a:avLst/>
          </a:prstGeom>
        </p:spPr>
        <p:txBody>
          <a:bodyPr anchor="t" rtlCol="false" tIns="0" lIns="0" bIns="0" rIns="0">
            <a:spAutoFit/>
          </a:bodyPr>
          <a:lstStyle/>
          <a:p>
            <a:pPr algn="l" marL="386080" indent="-193040" lvl="1">
              <a:lnSpc>
                <a:spcPts val="3840"/>
              </a:lnSpc>
              <a:buFont typeface="Arial"/>
              <a:buChar char="•"/>
            </a:pPr>
            <a:r>
              <a:rPr lang="en-US" b="true" sz="3200">
                <a:solidFill>
                  <a:srgbClr val="2628ED"/>
                </a:solidFill>
                <a:latin typeface="Helvetica World Bold"/>
                <a:ea typeface="Helvetica World Bold"/>
                <a:cs typeface="Helvetica World Bold"/>
                <a:sym typeface="Helvetica World Bold"/>
              </a:rPr>
              <a:t>Mesurer sur le terrain</a:t>
            </a:r>
            <a:r>
              <a:rPr lang="en-US" sz="3200">
                <a:solidFill>
                  <a:srgbClr val="171C2A"/>
                </a:solidFill>
                <a:latin typeface="Helvetica World"/>
                <a:ea typeface="Helvetica World"/>
                <a:cs typeface="Helvetica World"/>
                <a:sym typeface="Helvetica World"/>
              </a:rPr>
              <a:t> l'écart entre prédiction et valeur retenue par le chirurgien.</a:t>
            </a:r>
          </a:p>
          <a:p>
            <a:pPr algn="l" marL="386080" indent="-193040" lvl="1">
              <a:lnSpc>
                <a:spcPts val="3840"/>
              </a:lnSpc>
              <a:buFont typeface="Arial"/>
              <a:buChar char="•"/>
            </a:pPr>
            <a:r>
              <a:rPr lang="en-US" b="true" sz="3200">
                <a:solidFill>
                  <a:srgbClr val="2628ED"/>
                </a:solidFill>
                <a:latin typeface="Helvetica World Bold"/>
                <a:ea typeface="Helvetica World Bold"/>
                <a:cs typeface="Helvetica World Bold"/>
                <a:sym typeface="Helvetica World Bold"/>
              </a:rPr>
              <a:t>Réentraîner les modèles chaque trimestre</a:t>
            </a:r>
            <a:r>
              <a:rPr lang="en-US" sz="3200">
                <a:solidFill>
                  <a:srgbClr val="171C2A"/>
                </a:solidFill>
                <a:latin typeface="Helvetica World"/>
                <a:ea typeface="Helvetica World"/>
                <a:cs typeface="Helvetica World"/>
                <a:sym typeface="Helvetica World"/>
              </a:rPr>
              <a:t> (nouveaux praticiens, nouvelles pratiques).</a:t>
            </a:r>
          </a:p>
          <a:p>
            <a:pPr algn="l" marL="386080" indent="-193040" lvl="1">
              <a:lnSpc>
                <a:spcPts val="3840"/>
              </a:lnSpc>
              <a:buFont typeface="Arial"/>
              <a:buChar char="•"/>
            </a:pPr>
            <a:r>
              <a:rPr lang="en-US" b="true" sz="3200">
                <a:solidFill>
                  <a:srgbClr val="2628ED"/>
                </a:solidFill>
                <a:latin typeface="Helvetica World Bold"/>
                <a:ea typeface="Helvetica World Bold"/>
                <a:cs typeface="Helvetica World Bold"/>
                <a:sym typeface="Helvetica World Bold"/>
              </a:rPr>
              <a:t>Héberger sur une infrastructure HDS</a:t>
            </a:r>
            <a:r>
              <a:rPr lang="en-US" sz="3200">
                <a:solidFill>
                  <a:srgbClr val="171C2A"/>
                </a:solidFill>
                <a:latin typeface="Helvetica World"/>
                <a:ea typeface="Helvetica World"/>
                <a:cs typeface="Helvetica World"/>
                <a:sym typeface="Helvetica World"/>
              </a:rPr>
              <a:t>, avec analyse d'impact et authentification forte.</a:t>
            </a:r>
          </a:p>
        </p:txBody>
      </p:sp>
      <p:grpSp>
        <p:nvGrpSpPr>
          <p:cNvPr name="Group 19" id="19"/>
          <p:cNvGrpSpPr/>
          <p:nvPr/>
        </p:nvGrpSpPr>
        <p:grpSpPr>
          <a:xfrm rot="0">
            <a:off x="453390" y="9699939"/>
            <a:ext cx="2230494" cy="396881"/>
            <a:chOff x="0" y="0"/>
            <a:chExt cx="2973991" cy="529175"/>
          </a:xfrm>
        </p:grpSpPr>
        <p:sp>
          <p:nvSpPr>
            <p:cNvPr name="Freeform 20" id="20"/>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4" id="24"/>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25" id="25"/>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CONCLUSION </a:t>
              </a:r>
            </a:p>
          </p:txBody>
        </p:sp>
      </p:grpSp>
      <p:grpSp>
        <p:nvGrpSpPr>
          <p:cNvPr name="Group 5" id="5"/>
          <p:cNvGrpSpPr/>
          <p:nvPr/>
        </p:nvGrpSpPr>
        <p:grpSpPr>
          <a:xfrm rot="0">
            <a:off x="777240" y="1288923"/>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7" id="7"/>
          <p:cNvGrpSpPr/>
          <p:nvPr/>
        </p:nvGrpSpPr>
        <p:grpSpPr>
          <a:xfrm rot="0">
            <a:off x="777240" y="2200045"/>
            <a:ext cx="16733520" cy="1761678"/>
            <a:chOff x="0" y="0"/>
            <a:chExt cx="22311360" cy="2348904"/>
          </a:xfrm>
        </p:grpSpPr>
        <p:sp>
          <p:nvSpPr>
            <p:cNvPr name="Freeform 8" id="8"/>
            <p:cNvSpPr/>
            <p:nvPr/>
          </p:nvSpPr>
          <p:spPr>
            <a:xfrm flipH="false" flipV="false" rot="0">
              <a:off x="0" y="0"/>
              <a:ext cx="22311361" cy="2348904"/>
            </a:xfrm>
            <a:custGeom>
              <a:avLst/>
              <a:gdLst/>
              <a:ahLst/>
              <a:cxnLst/>
              <a:rect r="r" b="b" t="t" l="l"/>
              <a:pathLst>
                <a:path h="2348904" w="22311361">
                  <a:moveTo>
                    <a:pt x="0" y="0"/>
                  </a:moveTo>
                  <a:lnTo>
                    <a:pt x="22311361" y="0"/>
                  </a:lnTo>
                  <a:lnTo>
                    <a:pt x="22311361" y="2348904"/>
                  </a:lnTo>
                  <a:lnTo>
                    <a:pt x="0" y="2348904"/>
                  </a:lnTo>
                  <a:close/>
                </a:path>
              </a:pathLst>
            </a:custGeom>
            <a:blipFill>
              <a:blip r:embed="rId3">
                <a:alphaModFix amt="0"/>
              </a:blip>
              <a:stretch>
                <a:fillRect l="0" t="-151342" r="0" b="-118819"/>
              </a:stretch>
            </a:blipFill>
          </p:spPr>
        </p:sp>
        <p:sp>
          <p:nvSpPr>
            <p:cNvPr name="TextBox 9" id="9"/>
            <p:cNvSpPr txBox="true"/>
            <p:nvPr/>
          </p:nvSpPr>
          <p:spPr>
            <a:xfrm>
              <a:off x="0" y="0"/>
              <a:ext cx="22311360" cy="2348904"/>
            </a:xfrm>
            <a:prstGeom prst="rect">
              <a:avLst/>
            </a:prstGeom>
          </p:spPr>
          <p:txBody>
            <a:bodyPr anchor="ctr" rtlCol="false" tIns="0" lIns="0" bIns="0" rIns="0"/>
            <a:lstStyle/>
            <a:p>
              <a:pPr algn="ctr">
                <a:lnSpc>
                  <a:spcPts val="7919"/>
                </a:lnSpc>
              </a:pPr>
              <a:r>
                <a:rPr lang="en-US" sz="6599" b="true">
                  <a:solidFill>
                    <a:srgbClr val="171C2A"/>
                  </a:solidFill>
                  <a:latin typeface="Helvetica World Bold"/>
                  <a:ea typeface="Helvetica World Bold"/>
                  <a:cs typeface="Helvetica World Bold"/>
                  <a:sym typeface="Helvetica World Bold"/>
                </a:rPr>
                <a:t>PRÉDIRE  →  PLANIFIER  →  ADAPTER</a:t>
              </a:r>
            </a:p>
          </p:txBody>
        </p:sp>
      </p:grpSp>
      <p:grpSp>
        <p:nvGrpSpPr>
          <p:cNvPr name="Group 10" id="10"/>
          <p:cNvGrpSpPr/>
          <p:nvPr/>
        </p:nvGrpSpPr>
        <p:grpSpPr>
          <a:xfrm rot="0">
            <a:off x="777240" y="4352544"/>
            <a:ext cx="5394960" cy="2286000"/>
            <a:chOff x="0" y="0"/>
            <a:chExt cx="7193280" cy="3048000"/>
          </a:xfrm>
        </p:grpSpPr>
        <p:sp>
          <p:nvSpPr>
            <p:cNvPr name="Freeform 11" id="11"/>
            <p:cNvSpPr/>
            <p:nvPr/>
          </p:nvSpPr>
          <p:spPr>
            <a:xfrm flipH="false" flipV="false" rot="0">
              <a:off x="0" y="0"/>
              <a:ext cx="7193280" cy="3048000"/>
            </a:xfrm>
            <a:custGeom>
              <a:avLst/>
              <a:gdLst/>
              <a:ahLst/>
              <a:cxnLst/>
              <a:rect r="r" b="b" t="t" l="l"/>
              <a:pathLst>
                <a:path h="3048000" w="7193280">
                  <a:moveTo>
                    <a:pt x="0" y="0"/>
                  </a:moveTo>
                  <a:lnTo>
                    <a:pt x="7193280" y="0"/>
                  </a:lnTo>
                  <a:lnTo>
                    <a:pt x="7193280" y="3048000"/>
                  </a:lnTo>
                  <a:lnTo>
                    <a:pt x="0" y="3048000"/>
                  </a:lnTo>
                  <a:close/>
                </a:path>
              </a:pathLst>
            </a:custGeom>
            <a:solidFill>
              <a:srgbClr val="F2F8F6"/>
            </a:solidFill>
          </p:spPr>
        </p:sp>
      </p:grpSp>
      <p:sp>
        <p:nvSpPr>
          <p:cNvPr name="TextBox 12" id="12"/>
          <p:cNvSpPr txBox="true"/>
          <p:nvPr/>
        </p:nvSpPr>
        <p:spPr>
          <a:xfrm rot="0">
            <a:off x="1005840" y="4553712"/>
            <a:ext cx="4937760" cy="530225"/>
          </a:xfrm>
          <a:prstGeom prst="rect">
            <a:avLst/>
          </a:prstGeom>
        </p:spPr>
        <p:txBody>
          <a:bodyPr anchor="t" rtlCol="false" tIns="0" lIns="0" bIns="0" rIns="0">
            <a:spAutoFit/>
          </a:bodyPr>
          <a:lstStyle/>
          <a:p>
            <a:pPr algn="ctr">
              <a:lnSpc>
                <a:spcPts val="3839"/>
              </a:lnSpc>
            </a:pPr>
            <a:r>
              <a:rPr lang="en-US" sz="3199" b="true">
                <a:solidFill>
                  <a:srgbClr val="2628ED"/>
                </a:solidFill>
                <a:latin typeface="Helvetica World Bold"/>
                <a:ea typeface="Helvetica World Bold"/>
                <a:cs typeface="Helvetica World Bold"/>
                <a:sym typeface="Helvetica World Bold"/>
              </a:rPr>
              <a:t>Une approche globale</a:t>
            </a:r>
          </a:p>
        </p:txBody>
      </p:sp>
      <p:sp>
        <p:nvSpPr>
          <p:cNvPr name="TextBox 13" id="13"/>
          <p:cNvSpPr txBox="true"/>
          <p:nvPr/>
        </p:nvSpPr>
        <p:spPr>
          <a:xfrm rot="0">
            <a:off x="1005840" y="5294757"/>
            <a:ext cx="4937760" cy="885825"/>
          </a:xfrm>
          <a:prstGeom prst="rect">
            <a:avLst/>
          </a:prstGeom>
        </p:spPr>
        <p:txBody>
          <a:bodyPr anchor="t" rtlCol="false" tIns="0" lIns="0" bIns="0" rIns="0">
            <a:spAutoFit/>
          </a:bodyPr>
          <a:lstStyle/>
          <a:p>
            <a:pPr algn="ctr">
              <a:lnSpc>
                <a:spcPts val="3599"/>
              </a:lnSpc>
            </a:pPr>
            <a:r>
              <a:rPr lang="en-US" sz="2999">
                <a:solidFill>
                  <a:srgbClr val="171C2A"/>
                </a:solidFill>
                <a:latin typeface="Helvetica World"/>
                <a:ea typeface="Helvetica World"/>
                <a:cs typeface="Helvetica World"/>
                <a:sym typeface="Helvetica World"/>
              </a:rPr>
              <a:t>bloc, lits et places optimisés ensemble</a:t>
            </a:r>
          </a:p>
        </p:txBody>
      </p:sp>
      <p:grpSp>
        <p:nvGrpSpPr>
          <p:cNvPr name="Group 14" id="14"/>
          <p:cNvGrpSpPr/>
          <p:nvPr/>
        </p:nvGrpSpPr>
        <p:grpSpPr>
          <a:xfrm rot="0">
            <a:off x="6446520" y="4352544"/>
            <a:ext cx="5394960" cy="2286000"/>
            <a:chOff x="0" y="0"/>
            <a:chExt cx="7193280" cy="3048000"/>
          </a:xfrm>
        </p:grpSpPr>
        <p:sp>
          <p:nvSpPr>
            <p:cNvPr name="Freeform 15" id="15"/>
            <p:cNvSpPr/>
            <p:nvPr/>
          </p:nvSpPr>
          <p:spPr>
            <a:xfrm flipH="false" flipV="false" rot="0">
              <a:off x="0" y="0"/>
              <a:ext cx="7193280" cy="3048000"/>
            </a:xfrm>
            <a:custGeom>
              <a:avLst/>
              <a:gdLst/>
              <a:ahLst/>
              <a:cxnLst/>
              <a:rect r="r" b="b" t="t" l="l"/>
              <a:pathLst>
                <a:path h="3048000" w="7193280">
                  <a:moveTo>
                    <a:pt x="0" y="0"/>
                  </a:moveTo>
                  <a:lnTo>
                    <a:pt x="7193280" y="0"/>
                  </a:lnTo>
                  <a:lnTo>
                    <a:pt x="7193280" y="3048000"/>
                  </a:lnTo>
                  <a:lnTo>
                    <a:pt x="0" y="3048000"/>
                  </a:lnTo>
                  <a:close/>
                </a:path>
              </a:pathLst>
            </a:custGeom>
            <a:solidFill>
              <a:srgbClr val="F2F8F6"/>
            </a:solidFill>
          </p:spPr>
        </p:sp>
      </p:grpSp>
      <p:sp>
        <p:nvSpPr>
          <p:cNvPr name="TextBox 16" id="16"/>
          <p:cNvSpPr txBox="true"/>
          <p:nvPr/>
        </p:nvSpPr>
        <p:spPr>
          <a:xfrm rot="0">
            <a:off x="6675120" y="4553712"/>
            <a:ext cx="4937760" cy="530225"/>
          </a:xfrm>
          <a:prstGeom prst="rect">
            <a:avLst/>
          </a:prstGeom>
        </p:spPr>
        <p:txBody>
          <a:bodyPr anchor="t" rtlCol="false" tIns="0" lIns="0" bIns="0" rIns="0">
            <a:spAutoFit/>
          </a:bodyPr>
          <a:lstStyle/>
          <a:p>
            <a:pPr algn="ctr">
              <a:lnSpc>
                <a:spcPts val="3839"/>
              </a:lnSpc>
            </a:pPr>
            <a:r>
              <a:rPr lang="en-US" sz="3199" b="true">
                <a:solidFill>
                  <a:srgbClr val="2628ED"/>
                </a:solidFill>
                <a:latin typeface="Helvetica World Bold"/>
                <a:ea typeface="Helvetica World Bold"/>
                <a:cs typeface="Helvetica World Bold"/>
                <a:sym typeface="Helvetica World Bold"/>
              </a:rPr>
              <a:t>Une méthode vérifiable</a:t>
            </a:r>
          </a:p>
        </p:txBody>
      </p:sp>
      <p:sp>
        <p:nvSpPr>
          <p:cNvPr name="TextBox 17" id="17"/>
          <p:cNvSpPr txBox="true"/>
          <p:nvPr/>
        </p:nvSpPr>
        <p:spPr>
          <a:xfrm rot="0">
            <a:off x="6675120" y="5294757"/>
            <a:ext cx="4937760" cy="885825"/>
          </a:xfrm>
          <a:prstGeom prst="rect">
            <a:avLst/>
          </a:prstGeom>
        </p:spPr>
        <p:txBody>
          <a:bodyPr anchor="t" rtlCol="false" tIns="0" lIns="0" bIns="0" rIns="0">
            <a:spAutoFit/>
          </a:bodyPr>
          <a:lstStyle/>
          <a:p>
            <a:pPr algn="ctr">
              <a:lnSpc>
                <a:spcPts val="3599"/>
              </a:lnSpc>
            </a:pPr>
            <a:r>
              <a:rPr lang="en-US" sz="2999">
                <a:solidFill>
                  <a:srgbClr val="171C2A"/>
                </a:solidFill>
                <a:latin typeface="Helvetica World"/>
                <a:ea typeface="Helvetica World"/>
                <a:cs typeface="Helvetica World"/>
                <a:sym typeface="Helvetica World"/>
              </a:rPr>
              <a:t>contraintes, métriques, tests reproductibles</a:t>
            </a:r>
          </a:p>
        </p:txBody>
      </p:sp>
      <p:grpSp>
        <p:nvGrpSpPr>
          <p:cNvPr name="Group 18" id="18"/>
          <p:cNvGrpSpPr/>
          <p:nvPr/>
        </p:nvGrpSpPr>
        <p:grpSpPr>
          <a:xfrm rot="0">
            <a:off x="12115800" y="4352544"/>
            <a:ext cx="5394960" cy="2286000"/>
            <a:chOff x="0" y="0"/>
            <a:chExt cx="7193280" cy="3048000"/>
          </a:xfrm>
        </p:grpSpPr>
        <p:sp>
          <p:nvSpPr>
            <p:cNvPr name="Freeform 19" id="19"/>
            <p:cNvSpPr/>
            <p:nvPr/>
          </p:nvSpPr>
          <p:spPr>
            <a:xfrm flipH="false" flipV="false" rot="0">
              <a:off x="0" y="0"/>
              <a:ext cx="7193280" cy="3048000"/>
            </a:xfrm>
            <a:custGeom>
              <a:avLst/>
              <a:gdLst/>
              <a:ahLst/>
              <a:cxnLst/>
              <a:rect r="r" b="b" t="t" l="l"/>
              <a:pathLst>
                <a:path h="3048000" w="7193280">
                  <a:moveTo>
                    <a:pt x="0" y="0"/>
                  </a:moveTo>
                  <a:lnTo>
                    <a:pt x="7193280" y="0"/>
                  </a:lnTo>
                  <a:lnTo>
                    <a:pt x="7193280" y="3048000"/>
                  </a:lnTo>
                  <a:lnTo>
                    <a:pt x="0" y="3048000"/>
                  </a:lnTo>
                  <a:close/>
                </a:path>
              </a:pathLst>
            </a:custGeom>
            <a:solidFill>
              <a:srgbClr val="F2F8F6"/>
            </a:solidFill>
          </p:spPr>
        </p:sp>
      </p:grpSp>
      <p:sp>
        <p:nvSpPr>
          <p:cNvPr name="TextBox 20" id="20"/>
          <p:cNvSpPr txBox="true"/>
          <p:nvPr/>
        </p:nvSpPr>
        <p:spPr>
          <a:xfrm rot="0">
            <a:off x="12344400" y="4553712"/>
            <a:ext cx="4937760" cy="530225"/>
          </a:xfrm>
          <a:prstGeom prst="rect">
            <a:avLst/>
          </a:prstGeom>
        </p:spPr>
        <p:txBody>
          <a:bodyPr anchor="t" rtlCol="false" tIns="0" lIns="0" bIns="0" rIns="0">
            <a:spAutoFit/>
          </a:bodyPr>
          <a:lstStyle/>
          <a:p>
            <a:pPr algn="ctr">
              <a:lnSpc>
                <a:spcPts val="3839"/>
              </a:lnSpc>
            </a:pPr>
            <a:r>
              <a:rPr lang="en-US" sz="3199" b="true">
                <a:solidFill>
                  <a:srgbClr val="2628ED"/>
                </a:solidFill>
                <a:latin typeface="Helvetica World Bold"/>
                <a:ea typeface="Helvetica World Bold"/>
                <a:cs typeface="Helvetica World Bold"/>
                <a:sym typeface="Helvetica World Bold"/>
              </a:rPr>
              <a:t>Une décision humaine</a:t>
            </a:r>
          </a:p>
        </p:txBody>
      </p:sp>
      <p:sp>
        <p:nvSpPr>
          <p:cNvPr name="TextBox 21" id="21"/>
          <p:cNvSpPr txBox="true"/>
          <p:nvPr/>
        </p:nvSpPr>
        <p:spPr>
          <a:xfrm rot="0">
            <a:off x="12344400" y="5294757"/>
            <a:ext cx="4937760" cy="885825"/>
          </a:xfrm>
          <a:prstGeom prst="rect">
            <a:avLst/>
          </a:prstGeom>
        </p:spPr>
        <p:txBody>
          <a:bodyPr anchor="t" rtlCol="false" tIns="0" lIns="0" bIns="0" rIns="0">
            <a:spAutoFit/>
          </a:bodyPr>
          <a:lstStyle/>
          <a:p>
            <a:pPr algn="ctr">
              <a:lnSpc>
                <a:spcPts val="3599"/>
              </a:lnSpc>
            </a:pPr>
            <a:r>
              <a:rPr lang="en-US" sz="2999">
                <a:solidFill>
                  <a:srgbClr val="171C2A"/>
                </a:solidFill>
                <a:latin typeface="Helvetica World"/>
                <a:ea typeface="Helvetica World"/>
                <a:cs typeface="Helvetica World"/>
                <a:sym typeface="Helvetica World"/>
              </a:rPr>
              <a:t>le système propose, le soignant décide</a:t>
            </a:r>
          </a:p>
        </p:txBody>
      </p:sp>
      <p:grpSp>
        <p:nvGrpSpPr>
          <p:cNvPr name="Group 22" id="22"/>
          <p:cNvGrpSpPr/>
          <p:nvPr/>
        </p:nvGrpSpPr>
        <p:grpSpPr>
          <a:xfrm rot="0">
            <a:off x="453390" y="9699939"/>
            <a:ext cx="2230494" cy="396881"/>
            <a:chOff x="0" y="0"/>
            <a:chExt cx="2973991" cy="529175"/>
          </a:xfrm>
        </p:grpSpPr>
        <p:sp>
          <p:nvSpPr>
            <p:cNvPr name="Freeform 23" id="23"/>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6" id="26"/>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7" id="27"/>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28" id="28"/>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29" id="29"/>
          <p:cNvSpPr txBox="true"/>
          <p:nvPr/>
        </p:nvSpPr>
        <p:spPr>
          <a:xfrm rot="0">
            <a:off x="777240" y="7658100"/>
            <a:ext cx="16733520" cy="1527175"/>
          </a:xfrm>
          <a:prstGeom prst="rect">
            <a:avLst/>
          </a:prstGeom>
        </p:spPr>
        <p:txBody>
          <a:bodyPr anchor="t" rtlCol="false" tIns="0" lIns="0" bIns="0" rIns="0">
            <a:spAutoFit/>
          </a:bodyPr>
          <a:lstStyle/>
          <a:p>
            <a:pPr algn="ctr">
              <a:lnSpc>
                <a:spcPts val="5520"/>
              </a:lnSpc>
            </a:pPr>
            <a:r>
              <a:rPr lang="en-US" sz="4600" b="true">
                <a:solidFill>
                  <a:srgbClr val="2628ED"/>
                </a:solidFill>
                <a:latin typeface="Helvetica World Bold"/>
                <a:ea typeface="Helvetica World Bold"/>
                <a:cs typeface="Helvetica World Bold"/>
                <a:sym typeface="Helvetica World Bold"/>
              </a:rPr>
              <a:t>OR'CHESTRE : transformer la prévision en</a:t>
            </a:r>
          </a:p>
          <a:p>
            <a:pPr algn="ctr">
              <a:lnSpc>
                <a:spcPts val="5520"/>
              </a:lnSpc>
            </a:pPr>
            <a:r>
              <a:rPr lang="en-US" b="true" sz="4600" u="sng">
                <a:solidFill>
                  <a:srgbClr val="2628ED"/>
                </a:solidFill>
                <a:latin typeface="Helvetica World Bold"/>
                <a:ea typeface="Helvetica World Bold"/>
                <a:cs typeface="Helvetica World Bold"/>
                <a:sym typeface="Helvetica World Bold"/>
              </a:rPr>
              <a:t>décision opérationnelle</a:t>
            </a:r>
            <a:r>
              <a:rPr lang="en-US" sz="4600" b="true">
                <a:solidFill>
                  <a:srgbClr val="2628ED"/>
                </a:solidFill>
                <a:latin typeface="Helvetica World Bold"/>
                <a:ea typeface="Helvetica World Bold"/>
                <a:cs typeface="Helvetica World Bold"/>
                <a:sym typeface="Helvetica World Bold"/>
              </a:rPr>
              <a:t>.</a:t>
            </a:r>
          </a:p>
        </p:txBody>
      </p:sp>
      <p:sp>
        <p:nvSpPr>
          <p:cNvPr name="TextBox 30" id="3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6FCF9"/>
        </a:solidFill>
      </p:bgPr>
    </p:bg>
    <p:spTree>
      <p:nvGrpSpPr>
        <p:cNvPr id="1" name=""/>
        <p:cNvGrpSpPr/>
        <p:nvPr/>
      </p:nvGrpSpPr>
      <p:grpSpPr>
        <a:xfrm>
          <a:off x="0" y="0"/>
          <a:ext cx="0" cy="0"/>
          <a:chOff x="0" y="0"/>
          <a:chExt cx="0" cy="0"/>
        </a:xfrm>
      </p:grpSpPr>
      <p:sp>
        <p:nvSpPr>
          <p:cNvPr name="Freeform 2" id="2"/>
          <p:cNvSpPr/>
          <p:nvPr/>
        </p:nvSpPr>
        <p:spPr>
          <a:xfrm flipH="false" flipV="false" rot="0">
            <a:off x="8001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227000" y="226000"/>
            <a:ext cx="10061000" cy="10061000"/>
          </a:xfrm>
          <a:custGeom>
            <a:avLst/>
            <a:gdLst/>
            <a:ahLst/>
            <a:cxnLst/>
            <a:rect r="r" b="b" t="t" l="l"/>
            <a:pathLst>
              <a:path h="10061000" w="10061000">
                <a:moveTo>
                  <a:pt x="0" y="0"/>
                </a:moveTo>
                <a:lnTo>
                  <a:pt x="10061000" y="0"/>
                </a:lnTo>
                <a:lnTo>
                  <a:pt x="10061000" y="10061000"/>
                </a:lnTo>
                <a:lnTo>
                  <a:pt x="0" y="1006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441731" y="440731"/>
            <a:ext cx="9846269" cy="9846269"/>
          </a:xfrm>
          <a:custGeom>
            <a:avLst/>
            <a:gdLst/>
            <a:ahLst/>
            <a:cxnLst/>
            <a:rect r="r" b="b" t="t" l="l"/>
            <a:pathLst>
              <a:path h="9846269" w="9846269">
                <a:moveTo>
                  <a:pt x="0" y="0"/>
                </a:moveTo>
                <a:lnTo>
                  <a:pt x="9846269" y="0"/>
                </a:lnTo>
                <a:lnTo>
                  <a:pt x="9846269" y="9846269"/>
                </a:lnTo>
                <a:lnTo>
                  <a:pt x="0" y="98462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8671712" y="670712"/>
            <a:ext cx="9616288" cy="9616288"/>
            <a:chOff x="0" y="0"/>
            <a:chExt cx="12821717" cy="12821717"/>
          </a:xfrm>
        </p:grpSpPr>
        <p:sp>
          <p:nvSpPr>
            <p:cNvPr name="Freeform 6" id="6"/>
            <p:cNvSpPr/>
            <p:nvPr/>
          </p:nvSpPr>
          <p:spPr>
            <a:xfrm flipH="false" flipV="false" rot="0">
              <a:off x="0" y="0"/>
              <a:ext cx="12821666" cy="12821666"/>
            </a:xfrm>
            <a:custGeom>
              <a:avLst/>
              <a:gdLst/>
              <a:ahLst/>
              <a:cxnLst/>
              <a:rect r="r" b="b" t="t" l="l"/>
              <a:pathLst>
                <a:path h="12821666" w="12821666">
                  <a:moveTo>
                    <a:pt x="0" y="12821666"/>
                  </a:moveTo>
                  <a:lnTo>
                    <a:pt x="12821666" y="12821666"/>
                  </a:lnTo>
                  <a:lnTo>
                    <a:pt x="12821666" y="0"/>
                  </a:lnTo>
                  <a:cubicBezTo>
                    <a:pt x="5741543" y="0"/>
                    <a:pt x="0" y="5741543"/>
                    <a:pt x="0" y="12821666"/>
                  </a:cubicBezTo>
                  <a:close/>
                </a:path>
              </a:pathLst>
            </a:custGeom>
            <a:blipFill>
              <a:blip r:embed="rId8"/>
              <a:stretch>
                <a:fillRect l="-25000" t="0" r="-25000" b="0"/>
              </a:stretch>
            </a:blipFill>
          </p:spPr>
        </p:sp>
      </p:grpSp>
      <p:grpSp>
        <p:nvGrpSpPr>
          <p:cNvPr name="Group 7" id="7"/>
          <p:cNvGrpSpPr/>
          <p:nvPr/>
        </p:nvGrpSpPr>
        <p:grpSpPr>
          <a:xfrm rot="0">
            <a:off x="5112077" y="898903"/>
            <a:ext cx="2085499" cy="944994"/>
            <a:chOff x="0" y="0"/>
            <a:chExt cx="2780665" cy="1259992"/>
          </a:xfrm>
        </p:grpSpPr>
        <p:sp>
          <p:nvSpPr>
            <p:cNvPr name="Freeform 8" id="8"/>
            <p:cNvSpPr/>
            <p:nvPr/>
          </p:nvSpPr>
          <p:spPr>
            <a:xfrm flipH="false" flipV="false" rot="0">
              <a:off x="0" y="0"/>
              <a:ext cx="2780665" cy="1259967"/>
            </a:xfrm>
            <a:custGeom>
              <a:avLst/>
              <a:gdLst/>
              <a:ahLst/>
              <a:cxnLst/>
              <a:rect r="r" b="b" t="t" l="l"/>
              <a:pathLst>
                <a:path h="1259967" w="2780665">
                  <a:moveTo>
                    <a:pt x="0" y="0"/>
                  </a:moveTo>
                  <a:lnTo>
                    <a:pt x="2780665" y="0"/>
                  </a:lnTo>
                  <a:lnTo>
                    <a:pt x="2780665" y="1259967"/>
                  </a:lnTo>
                  <a:lnTo>
                    <a:pt x="0" y="1259967"/>
                  </a:lnTo>
                  <a:lnTo>
                    <a:pt x="0" y="0"/>
                  </a:lnTo>
                  <a:close/>
                </a:path>
              </a:pathLst>
            </a:custGeom>
            <a:blipFill>
              <a:blip r:embed="rId9"/>
              <a:stretch>
                <a:fillRect l="0" t="-85" r="0" b="-87"/>
              </a:stretch>
            </a:blipFill>
          </p:spPr>
        </p:sp>
      </p:grpSp>
      <p:sp>
        <p:nvSpPr>
          <p:cNvPr name="Freeform 9" id="9"/>
          <p:cNvSpPr/>
          <p:nvPr/>
        </p:nvSpPr>
        <p:spPr>
          <a:xfrm flipH="false" flipV="false" rot="0">
            <a:off x="1028700" y="1081897"/>
            <a:ext cx="226095" cy="226095"/>
          </a:xfrm>
          <a:custGeom>
            <a:avLst/>
            <a:gdLst/>
            <a:ahLst/>
            <a:cxnLst/>
            <a:rect r="r" b="b" t="t" l="l"/>
            <a:pathLst>
              <a:path h="226095" w="226095">
                <a:moveTo>
                  <a:pt x="0" y="0"/>
                </a:moveTo>
                <a:lnTo>
                  <a:pt x="226095" y="0"/>
                </a:lnTo>
                <a:lnTo>
                  <a:pt x="226095" y="226095"/>
                </a:lnTo>
                <a:lnTo>
                  <a:pt x="0" y="226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028700" y="1434817"/>
            <a:ext cx="226095" cy="226095"/>
          </a:xfrm>
          <a:custGeom>
            <a:avLst/>
            <a:gdLst/>
            <a:ahLst/>
            <a:cxnLst/>
            <a:rect r="r" b="b" t="t" l="l"/>
            <a:pathLst>
              <a:path h="226095" w="226095">
                <a:moveTo>
                  <a:pt x="0" y="226095"/>
                </a:moveTo>
                <a:lnTo>
                  <a:pt x="226095" y="226095"/>
                </a:lnTo>
                <a:lnTo>
                  <a:pt x="226095" y="0"/>
                </a:lnTo>
                <a:lnTo>
                  <a:pt x="0" y="0"/>
                </a:lnTo>
                <a:lnTo>
                  <a:pt x="0" y="22609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false" rot="0">
            <a:off x="1381411" y="1081897"/>
            <a:ext cx="226095" cy="226095"/>
          </a:xfrm>
          <a:custGeom>
            <a:avLst/>
            <a:gdLst/>
            <a:ahLst/>
            <a:cxnLst/>
            <a:rect r="r" b="b" t="t" l="l"/>
            <a:pathLst>
              <a:path h="226095" w="226095">
                <a:moveTo>
                  <a:pt x="226095" y="0"/>
                </a:moveTo>
                <a:lnTo>
                  <a:pt x="0" y="0"/>
                </a:lnTo>
                <a:lnTo>
                  <a:pt x="0" y="226095"/>
                </a:lnTo>
                <a:lnTo>
                  <a:pt x="226095" y="226095"/>
                </a:lnTo>
                <a:lnTo>
                  <a:pt x="226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true" flipV="true" rot="0">
            <a:off x="1381411" y="1434817"/>
            <a:ext cx="226095" cy="226095"/>
          </a:xfrm>
          <a:custGeom>
            <a:avLst/>
            <a:gdLst/>
            <a:ahLst/>
            <a:cxnLst/>
            <a:rect r="r" b="b" t="t" l="l"/>
            <a:pathLst>
              <a:path h="226095" w="226095">
                <a:moveTo>
                  <a:pt x="226095" y="226095"/>
                </a:moveTo>
                <a:lnTo>
                  <a:pt x="0" y="226095"/>
                </a:lnTo>
                <a:lnTo>
                  <a:pt x="0" y="0"/>
                </a:lnTo>
                <a:lnTo>
                  <a:pt x="226095" y="0"/>
                </a:lnTo>
                <a:lnTo>
                  <a:pt x="226095" y="2260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731331" y="928983"/>
            <a:ext cx="2878260" cy="599362"/>
          </a:xfrm>
          <a:prstGeom prst="rect">
            <a:avLst/>
          </a:prstGeom>
        </p:spPr>
        <p:txBody>
          <a:bodyPr anchor="t" rtlCol="false" tIns="0" lIns="0" bIns="0" rIns="0">
            <a:spAutoFit/>
          </a:bodyPr>
          <a:lstStyle/>
          <a:p>
            <a:pPr algn="l">
              <a:lnSpc>
                <a:spcPts val="4582"/>
              </a:lnSpc>
            </a:pPr>
            <a:r>
              <a:rPr lang="en-US" b="true" sz="3272" spc="64">
                <a:solidFill>
                  <a:srgbClr val="2323E6"/>
                </a:solidFill>
                <a:latin typeface="Helvetica World Bold"/>
                <a:ea typeface="Helvetica World Bold"/>
                <a:cs typeface="Helvetica World Bold"/>
                <a:sym typeface="Helvetica World Bold"/>
              </a:rPr>
              <a:t>OR’CHESTRE</a:t>
            </a:r>
          </a:p>
        </p:txBody>
      </p:sp>
      <p:sp>
        <p:nvSpPr>
          <p:cNvPr name="TextBox 14" id="14"/>
          <p:cNvSpPr txBox="true"/>
          <p:nvPr/>
        </p:nvSpPr>
        <p:spPr>
          <a:xfrm rot="0">
            <a:off x="1775993" y="1459030"/>
            <a:ext cx="2723817" cy="219056"/>
          </a:xfrm>
          <a:prstGeom prst="rect">
            <a:avLst/>
          </a:prstGeom>
        </p:spPr>
        <p:txBody>
          <a:bodyPr anchor="t" rtlCol="false" tIns="0" lIns="0" bIns="0" rIns="0">
            <a:spAutoFit/>
          </a:bodyPr>
          <a:lstStyle/>
          <a:p>
            <a:pPr algn="l">
              <a:lnSpc>
                <a:spcPts val="1716"/>
              </a:lnSpc>
            </a:pPr>
            <a:r>
              <a:rPr lang="en-US" sz="1224" spc="317">
                <a:solidFill>
                  <a:srgbClr val="587DFF"/>
                </a:solidFill>
                <a:latin typeface="Helvetica World"/>
                <a:ea typeface="Helvetica World"/>
                <a:cs typeface="Helvetica World"/>
                <a:sym typeface="Helvetica World"/>
              </a:rPr>
              <a:t>PROJET CENTRALE LILLE</a:t>
            </a:r>
          </a:p>
        </p:txBody>
      </p:sp>
      <p:sp>
        <p:nvSpPr>
          <p:cNvPr name="TextBox 15" id="15"/>
          <p:cNvSpPr txBox="true"/>
          <p:nvPr/>
        </p:nvSpPr>
        <p:spPr>
          <a:xfrm rot="0">
            <a:off x="800991" y="6533515"/>
            <a:ext cx="7643012" cy="2724785"/>
          </a:xfrm>
          <a:prstGeom prst="rect">
            <a:avLst/>
          </a:prstGeom>
        </p:spPr>
        <p:txBody>
          <a:bodyPr anchor="t" rtlCol="false" tIns="0" lIns="0" bIns="0" rIns="0">
            <a:spAutoFit/>
          </a:bodyPr>
          <a:lstStyle/>
          <a:p>
            <a:pPr algn="l">
              <a:lnSpc>
                <a:spcPts val="3640"/>
              </a:lnSpc>
            </a:pPr>
            <a:r>
              <a:rPr lang="en-US" sz="2600" spc="520">
                <a:solidFill>
                  <a:srgbClr val="587DFF"/>
                </a:solidFill>
                <a:latin typeface="Helvetica World"/>
                <a:ea typeface="Helvetica World"/>
                <a:cs typeface="Helvetica World"/>
                <a:sym typeface="Helvetica World"/>
              </a:rPr>
              <a:t>Kimlee Pasquier</a:t>
            </a:r>
          </a:p>
          <a:p>
            <a:pPr algn="l">
              <a:lnSpc>
                <a:spcPts val="3640"/>
              </a:lnSpc>
            </a:pPr>
            <a:r>
              <a:rPr lang="en-US" sz="2600" spc="520">
                <a:solidFill>
                  <a:srgbClr val="587DFF"/>
                </a:solidFill>
                <a:latin typeface="Helvetica World"/>
                <a:ea typeface="Helvetica World"/>
                <a:cs typeface="Helvetica World"/>
                <a:sym typeface="Helvetica World"/>
              </a:rPr>
              <a:t>Candy Mollier</a:t>
            </a:r>
          </a:p>
          <a:p>
            <a:pPr algn="l">
              <a:lnSpc>
                <a:spcPts val="3640"/>
              </a:lnSpc>
            </a:pPr>
            <a:r>
              <a:rPr lang="en-US" sz="2600" spc="520">
                <a:solidFill>
                  <a:srgbClr val="587DFF"/>
                </a:solidFill>
                <a:latin typeface="Helvetica World"/>
                <a:ea typeface="Helvetica World"/>
                <a:cs typeface="Helvetica World"/>
                <a:sym typeface="Helvetica World"/>
              </a:rPr>
              <a:t>Ingrid Mouradian</a:t>
            </a:r>
          </a:p>
          <a:p>
            <a:pPr algn="l">
              <a:lnSpc>
                <a:spcPts val="3640"/>
              </a:lnSpc>
            </a:pPr>
            <a:r>
              <a:rPr lang="en-US" sz="2600" spc="520">
                <a:solidFill>
                  <a:srgbClr val="587DFF"/>
                </a:solidFill>
                <a:latin typeface="Helvetica World"/>
                <a:ea typeface="Helvetica World"/>
                <a:cs typeface="Helvetica World"/>
                <a:sym typeface="Helvetica World"/>
              </a:rPr>
              <a:t>Richard Delmotte</a:t>
            </a:r>
          </a:p>
          <a:p>
            <a:pPr algn="l">
              <a:lnSpc>
                <a:spcPts val="3640"/>
              </a:lnSpc>
            </a:pPr>
            <a:r>
              <a:rPr lang="en-US" sz="2600" spc="520">
                <a:solidFill>
                  <a:srgbClr val="587DFF"/>
                </a:solidFill>
                <a:latin typeface="Helvetica World"/>
                <a:ea typeface="Helvetica World"/>
                <a:cs typeface="Helvetica World"/>
                <a:sym typeface="Helvetica World"/>
              </a:rPr>
              <a:t>Tanguy De Bock</a:t>
            </a:r>
          </a:p>
          <a:p>
            <a:pPr algn="l">
              <a:lnSpc>
                <a:spcPts val="3640"/>
              </a:lnSpc>
            </a:pPr>
            <a:r>
              <a:rPr lang="en-US" sz="2600" spc="520">
                <a:solidFill>
                  <a:srgbClr val="587DFF"/>
                </a:solidFill>
                <a:latin typeface="Helvetica World"/>
                <a:ea typeface="Helvetica World"/>
                <a:cs typeface="Helvetica World"/>
                <a:sym typeface="Helvetica World"/>
              </a:rPr>
              <a:t>François Le Meur</a:t>
            </a:r>
          </a:p>
        </p:txBody>
      </p:sp>
      <p:sp>
        <p:nvSpPr>
          <p:cNvPr name="TextBox 16" id="16"/>
          <p:cNvSpPr txBox="true"/>
          <p:nvPr/>
        </p:nvSpPr>
        <p:spPr>
          <a:xfrm rot="0">
            <a:off x="800991" y="4030120"/>
            <a:ext cx="9717734" cy="2051060"/>
          </a:xfrm>
          <a:prstGeom prst="rect">
            <a:avLst/>
          </a:prstGeom>
        </p:spPr>
        <p:txBody>
          <a:bodyPr anchor="t" rtlCol="false" tIns="0" lIns="0" bIns="0" rIns="0">
            <a:spAutoFit/>
          </a:bodyPr>
          <a:lstStyle/>
          <a:p>
            <a:pPr algn="l">
              <a:lnSpc>
                <a:spcPts val="7030"/>
              </a:lnSpc>
            </a:pPr>
            <a:r>
              <a:rPr lang="en-US" sz="7400" b="true">
                <a:solidFill>
                  <a:srgbClr val="2323E6"/>
                </a:solidFill>
                <a:latin typeface="Helvetica World Bold"/>
                <a:ea typeface="Helvetica World Bold"/>
                <a:cs typeface="Helvetica World Bold"/>
                <a:sym typeface="Helvetica World Bold"/>
              </a:rPr>
              <a:t>MERCI DE VOTRE ATTENTION</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2">
                <a:alphaModFix amt="0"/>
              </a:blip>
              <a:stretch>
                <a:fillRect l="0" t="-325082" r="0" b="-325082"/>
              </a:stretch>
            </a:blipFill>
          </p:spPr>
        </p:sp>
      </p:grpSp>
      <p:grpSp>
        <p:nvGrpSpPr>
          <p:cNvPr name="Group 4" id="4"/>
          <p:cNvGrpSpPr/>
          <p:nvPr/>
        </p:nvGrpSpPr>
        <p:grpSpPr>
          <a:xfrm rot="0">
            <a:off x="777240" y="347472"/>
            <a:ext cx="16733520" cy="868680"/>
            <a:chOff x="0" y="0"/>
            <a:chExt cx="22311360" cy="1158240"/>
          </a:xfrm>
        </p:grpSpPr>
        <p:sp>
          <p:nvSpPr>
            <p:cNvPr name="Freeform 5" id="5"/>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6" id="6"/>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ANNEXE A : Explication des variables de la fonction objectif </a:t>
              </a:r>
            </a:p>
          </p:txBody>
        </p:sp>
      </p:grpSp>
      <p:grpSp>
        <p:nvGrpSpPr>
          <p:cNvPr name="Group 7" id="7"/>
          <p:cNvGrpSpPr/>
          <p:nvPr/>
        </p:nvGrpSpPr>
        <p:grpSpPr>
          <a:xfrm rot="0">
            <a:off x="777240" y="1298448"/>
            <a:ext cx="16733520" cy="27432"/>
            <a:chOff x="0" y="0"/>
            <a:chExt cx="22311360" cy="36576"/>
          </a:xfrm>
        </p:grpSpPr>
        <p:sp>
          <p:nvSpPr>
            <p:cNvPr name="Freeform 8" id="8"/>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Freeform 9" id="9"/>
          <p:cNvSpPr/>
          <p:nvPr/>
        </p:nvSpPr>
        <p:spPr>
          <a:xfrm flipH="false" flipV="false" rot="0">
            <a:off x="453390" y="9732836"/>
            <a:ext cx="142132" cy="142132"/>
          </a:xfrm>
          <a:custGeom>
            <a:avLst/>
            <a:gdLst/>
            <a:ahLst/>
            <a:cxnLst/>
            <a:rect r="r" b="b" t="t" l="l"/>
            <a:pathLst>
              <a:path h="142132" w="142132">
                <a:moveTo>
                  <a:pt x="0" y="0"/>
                </a:moveTo>
                <a:lnTo>
                  <a:pt x="142132" y="0"/>
                </a:lnTo>
                <a:lnTo>
                  <a:pt x="142132" y="142132"/>
                </a:lnTo>
                <a:lnTo>
                  <a:pt x="0" y="1421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453390" y="9954692"/>
            <a:ext cx="142132" cy="142132"/>
          </a:xfrm>
          <a:custGeom>
            <a:avLst/>
            <a:gdLst/>
            <a:ahLst/>
            <a:cxnLst/>
            <a:rect r="r" b="b" t="t" l="l"/>
            <a:pathLst>
              <a:path h="142132" w="142132">
                <a:moveTo>
                  <a:pt x="0" y="142132"/>
                </a:moveTo>
                <a:lnTo>
                  <a:pt x="142132" y="142132"/>
                </a:lnTo>
                <a:lnTo>
                  <a:pt x="142132" y="0"/>
                </a:lnTo>
                <a:lnTo>
                  <a:pt x="0" y="0"/>
                </a:lnTo>
                <a:lnTo>
                  <a:pt x="0" y="14213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0">
            <a:off x="675113" y="9732836"/>
            <a:ext cx="142132" cy="142132"/>
          </a:xfrm>
          <a:custGeom>
            <a:avLst/>
            <a:gdLst/>
            <a:ahLst/>
            <a:cxnLst/>
            <a:rect r="r" b="b" t="t" l="l"/>
            <a:pathLst>
              <a:path h="142132" w="142132">
                <a:moveTo>
                  <a:pt x="142132" y="0"/>
                </a:moveTo>
                <a:lnTo>
                  <a:pt x="0" y="0"/>
                </a:lnTo>
                <a:lnTo>
                  <a:pt x="0" y="142132"/>
                </a:lnTo>
                <a:lnTo>
                  <a:pt x="142132" y="142132"/>
                </a:lnTo>
                <a:lnTo>
                  <a:pt x="14213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true" flipV="true" rot="0">
            <a:off x="675113" y="9954692"/>
            <a:ext cx="142132" cy="142132"/>
          </a:xfrm>
          <a:custGeom>
            <a:avLst/>
            <a:gdLst/>
            <a:ahLst/>
            <a:cxnLst/>
            <a:rect r="r" b="b" t="t" l="l"/>
            <a:pathLst>
              <a:path h="142132" w="142132">
                <a:moveTo>
                  <a:pt x="142132" y="142132"/>
                </a:moveTo>
                <a:lnTo>
                  <a:pt x="0" y="142132"/>
                </a:lnTo>
                <a:lnTo>
                  <a:pt x="0" y="0"/>
                </a:lnTo>
                <a:lnTo>
                  <a:pt x="142132" y="0"/>
                </a:lnTo>
                <a:lnTo>
                  <a:pt x="142132" y="1421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53390" y="1452897"/>
            <a:ext cx="16805910" cy="7381206"/>
          </a:xfrm>
          <a:custGeom>
            <a:avLst/>
            <a:gdLst/>
            <a:ahLst/>
            <a:cxnLst/>
            <a:rect r="r" b="b" t="t" l="l"/>
            <a:pathLst>
              <a:path h="7381206" w="16805910">
                <a:moveTo>
                  <a:pt x="0" y="0"/>
                </a:moveTo>
                <a:lnTo>
                  <a:pt x="16805910" y="0"/>
                </a:lnTo>
                <a:lnTo>
                  <a:pt x="16805910" y="7381206"/>
                </a:lnTo>
                <a:lnTo>
                  <a:pt x="0" y="7381206"/>
                </a:lnTo>
                <a:lnTo>
                  <a:pt x="0" y="0"/>
                </a:lnTo>
                <a:close/>
              </a:path>
            </a:pathLst>
          </a:custGeom>
          <a:blipFill>
            <a:blip r:embed="rId10"/>
            <a:stretch>
              <a:fillRect l="0" t="0" r="-5718" b="0"/>
            </a:stretch>
          </a:blipFill>
        </p:spPr>
      </p:sp>
      <p:sp>
        <p:nvSpPr>
          <p:cNvPr name="TextBox 14" id="14"/>
          <p:cNvSpPr txBox="true"/>
          <p:nvPr/>
        </p:nvSpPr>
        <p:spPr>
          <a:xfrm rot="0">
            <a:off x="923163" y="9616592"/>
            <a:ext cx="1760725" cy="391573"/>
          </a:xfrm>
          <a:prstGeom prst="rect">
            <a:avLst/>
          </a:prstGeom>
        </p:spPr>
        <p:txBody>
          <a:bodyPr anchor="t" rtlCol="false" tIns="0" lIns="0" bIns="0" rIns="0">
            <a:spAutoFit/>
          </a:bodyPr>
          <a:lstStyle/>
          <a:p>
            <a:pPr algn="l">
              <a:lnSpc>
                <a:spcPts val="2880"/>
              </a:lnSpc>
            </a:pPr>
            <a:r>
              <a:rPr lang="en-US" b="true" sz="2057" spc="40">
                <a:solidFill>
                  <a:srgbClr val="2323E6"/>
                </a:solidFill>
                <a:latin typeface="Inter Bold"/>
                <a:ea typeface="Inter Bold"/>
                <a:cs typeface="Inter Bold"/>
                <a:sym typeface="Inter Bold"/>
              </a:rPr>
              <a:t>OR’CHESTRE</a:t>
            </a:r>
          </a:p>
        </p:txBody>
      </p:sp>
      <p:sp>
        <p:nvSpPr>
          <p:cNvPr name="TextBox 15" id="15"/>
          <p:cNvSpPr txBox="true"/>
          <p:nvPr/>
        </p:nvSpPr>
        <p:spPr>
          <a:xfrm rot="0">
            <a:off x="943642" y="9947415"/>
            <a:ext cx="1740246" cy="149400"/>
          </a:xfrm>
          <a:prstGeom prst="rect">
            <a:avLst/>
          </a:prstGeom>
        </p:spPr>
        <p:txBody>
          <a:bodyPr anchor="t" rtlCol="false" tIns="0" lIns="0" bIns="0" rIns="0">
            <a:spAutoFit/>
          </a:bodyPr>
          <a:lstStyle/>
          <a:p>
            <a:pPr algn="l">
              <a:lnSpc>
                <a:spcPts val="1078"/>
              </a:lnSpc>
            </a:pPr>
            <a:r>
              <a:rPr lang="en-US" sz="770" spc="215">
                <a:solidFill>
                  <a:srgbClr val="587DFF"/>
                </a:solidFill>
                <a:latin typeface="Quicksand"/>
                <a:ea typeface="Quicksand"/>
                <a:cs typeface="Quicksand"/>
                <a:sym typeface="Quicksand"/>
              </a:rPr>
              <a:t>PROJET CENTRALE LILLE</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33</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ANNEXE B : COMPARAISON DES MÉTAHEURISTIQUES</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aphicFrame>
        <p:nvGraphicFramePr>
          <p:cNvPr name="Table 7" id="7"/>
          <p:cNvGraphicFramePr>
            <a:graphicFrameLocks noGrp="true"/>
          </p:cNvGraphicFramePr>
          <p:nvPr/>
        </p:nvGraphicFramePr>
        <p:xfrm>
          <a:off x="777240" y="2585837"/>
          <a:ext cx="9677400" cy="5486400"/>
        </p:xfrm>
        <a:graphic>
          <a:graphicData uri="http://schemas.openxmlformats.org/drawingml/2006/table">
            <a:tbl>
              <a:tblPr/>
              <a:tblGrid>
                <a:gridCol w="3834442"/>
                <a:gridCol w="1552036"/>
                <a:gridCol w="1460740"/>
                <a:gridCol w="1460740"/>
                <a:gridCol w="1369443"/>
              </a:tblGrid>
              <a:tr h="925417">
                <a:tc>
                  <a:txBody>
                    <a:bodyPr anchor="t" rtlCol="false"/>
                    <a:lstStyle/>
                    <a:p>
                      <a:pPr algn="l">
                        <a:lnSpc>
                          <a:spcPts val="2639"/>
                        </a:lnSpc>
                        <a:defRPr/>
                      </a:pPr>
                      <a:r>
                        <a:rPr lang="en-US" sz="2199" b="true">
                          <a:solidFill>
                            <a:srgbClr val="171C2A"/>
                          </a:solidFill>
                          <a:latin typeface="Helvetica World Bold"/>
                          <a:ea typeface="Helvetica World Bold"/>
                          <a:cs typeface="Helvetica World Bold"/>
                          <a:sym typeface="Helvetica World Bold"/>
                        </a:rPr>
                        <a:t>Variante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b="true">
                          <a:solidFill>
                            <a:srgbClr val="171C2A"/>
                          </a:solidFill>
                          <a:latin typeface="Helvetica World Bold"/>
                          <a:ea typeface="Helvetica World Bold"/>
                          <a:cs typeface="Helvetica World Bold"/>
                          <a:sym typeface="Helvetica World Bold"/>
                        </a:rPr>
                        <a:t>Score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b="true">
                          <a:solidFill>
                            <a:srgbClr val="171C2A"/>
                          </a:solidFill>
                          <a:latin typeface="Helvetica World Bold"/>
                          <a:ea typeface="Helvetica World Bold"/>
                          <a:cs typeface="Helvetica World Bold"/>
                          <a:sym typeface="Helvetica World Bold"/>
                        </a:rPr>
                        <a:t>Héberg.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b="true">
                          <a:solidFill>
                            <a:srgbClr val="171C2A"/>
                          </a:solidFill>
                          <a:latin typeface="Helvetica World Bold"/>
                          <a:ea typeface="Helvetica World Bold"/>
                          <a:cs typeface="Helvetica World Bold"/>
                          <a:sym typeface="Helvetica World Bold"/>
                        </a:rPr>
                        <a:t>Var. lits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b="true">
                          <a:solidFill>
                            <a:srgbClr val="171C2A"/>
                          </a:solidFill>
                          <a:latin typeface="Helvetica World Bold"/>
                          <a:ea typeface="Helvetica World Bold"/>
                          <a:cs typeface="Helvetica World Bold"/>
                          <a:sym typeface="Helvetica World Bold"/>
                        </a:rPr>
                        <a:t>Pic</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915974">
                <a:tc>
                  <a:txBody>
                    <a:bodyPr anchor="t" rtlCol="false"/>
                    <a:lstStyle/>
                    <a:p>
                      <a:pPr algn="l">
                        <a:lnSpc>
                          <a:spcPts val="2639"/>
                        </a:lnSpc>
                        <a:defRPr/>
                      </a:pPr>
                      <a:r>
                        <a:rPr lang="en-US" sz="2199" b="true">
                          <a:solidFill>
                            <a:srgbClr val="171C2A"/>
                          </a:solidFill>
                          <a:latin typeface="Helvetica World Bold"/>
                          <a:ea typeface="Helvetica World Bold"/>
                          <a:cs typeface="Helvetica World Bold"/>
                          <a:sym typeface="Helvetica World Bold"/>
                        </a:rPr>
                        <a:t>Hybride mémétique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2F8F6"/>
                    </a:solidFill>
                  </a:tcPr>
                </a:tc>
                <a:tc>
                  <a:txBody>
                    <a:bodyPr anchor="t" rtlCol="false"/>
                    <a:lstStyle/>
                    <a:p>
                      <a:pPr algn="ctr">
                        <a:lnSpc>
                          <a:spcPts val="2639"/>
                        </a:lnSpc>
                        <a:defRPr/>
                      </a:pPr>
                      <a:r>
                        <a:rPr lang="en-US" sz="2199" b="true">
                          <a:solidFill>
                            <a:srgbClr val="2628ED"/>
                          </a:solidFill>
                          <a:latin typeface="Helvetica World Bold"/>
                          <a:ea typeface="Helvetica World Bold"/>
                          <a:cs typeface="Helvetica World Bold"/>
                          <a:sym typeface="Helvetica World Bold"/>
                        </a:rPr>
                        <a:t>15 075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2F8F6"/>
                    </a:solidFill>
                  </a:tcPr>
                </a:tc>
                <a:tc>
                  <a:txBody>
                    <a:bodyPr anchor="t" rtlCol="false"/>
                    <a:lstStyle/>
                    <a:p>
                      <a:pPr algn="ctr">
                        <a:lnSpc>
                          <a:spcPts val="2639"/>
                        </a:lnSpc>
                        <a:defRPr/>
                      </a:pPr>
                      <a:r>
                        <a:rPr lang="en-US" sz="2199" b="true">
                          <a:solidFill>
                            <a:srgbClr val="2628ED"/>
                          </a:solidFill>
                          <a:latin typeface="Helvetica World Bold"/>
                          <a:ea typeface="Helvetica World Bold"/>
                          <a:cs typeface="Helvetica World Bold"/>
                          <a:sym typeface="Helvetica World Bold"/>
                        </a:rPr>
                        <a:t>306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2F8F6"/>
                    </a:solidFill>
                  </a:tcPr>
                </a:tc>
                <a:tc>
                  <a:txBody>
                    <a:bodyPr anchor="t" rtlCol="false"/>
                    <a:lstStyle/>
                    <a:p>
                      <a:pPr algn="ctr">
                        <a:lnSpc>
                          <a:spcPts val="2639"/>
                        </a:lnSpc>
                        <a:defRPr/>
                      </a:pPr>
                      <a:r>
                        <a:rPr lang="en-US" sz="2199" b="true">
                          <a:solidFill>
                            <a:srgbClr val="2628ED"/>
                          </a:solidFill>
                          <a:latin typeface="Helvetica World Bold"/>
                          <a:ea typeface="Helvetica World Bold"/>
                          <a:cs typeface="Helvetica World Bold"/>
                          <a:sym typeface="Helvetica World Bold"/>
                        </a:rPr>
                        <a:t>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2F8F6"/>
                    </a:solidFill>
                  </a:tcPr>
                </a:tc>
                <a:tc>
                  <a:txBody>
                    <a:bodyPr anchor="t" rtlCol="false"/>
                    <a:lstStyle/>
                    <a:p>
                      <a:pPr algn="ctr">
                        <a:lnSpc>
                          <a:spcPts val="2639"/>
                        </a:lnSpc>
                        <a:defRPr/>
                      </a:pPr>
                      <a:r>
                        <a:rPr lang="en-US" sz="2199" b="true">
                          <a:solidFill>
                            <a:srgbClr val="2628ED"/>
                          </a:solidFill>
                          <a:latin typeface="Helvetica World Bold"/>
                          <a:ea typeface="Helvetica World Bold"/>
                          <a:cs typeface="Helvetica World Bold"/>
                          <a:sym typeface="Helvetica World Bold"/>
                        </a:rPr>
                        <a:t>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2F8F6"/>
                    </a:solidFill>
                  </a:tcPr>
                </a:tc>
              </a:tr>
              <a:tr h="906531">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Tabou seul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15 088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319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906531">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Génétique seul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15 123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354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17,4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906531">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Recuit seul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15 185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416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19,8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925417">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Glouton de référence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30 647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54,5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27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r>
            </a:tbl>
          </a:graphicData>
        </a:graphic>
      </p:graphicFrame>
      <p:sp>
        <p:nvSpPr>
          <p:cNvPr name="TextBox 8" id="8"/>
          <p:cNvSpPr txBox="true"/>
          <p:nvPr/>
        </p:nvSpPr>
        <p:spPr>
          <a:xfrm rot="0">
            <a:off x="10881360" y="2747645"/>
            <a:ext cx="7021089" cy="4765252"/>
          </a:xfrm>
          <a:prstGeom prst="rect">
            <a:avLst/>
          </a:prstGeom>
        </p:spPr>
        <p:txBody>
          <a:bodyPr anchor="t" rtlCol="false" tIns="0" lIns="0" bIns="0" rIns="0">
            <a:spAutoFit/>
          </a:bodyPr>
          <a:lstStyle/>
          <a:p>
            <a:pPr algn="l">
              <a:lnSpc>
                <a:spcPts val="3639"/>
              </a:lnSpc>
            </a:pPr>
            <a:r>
              <a:rPr lang="en-US" sz="2599" b="true">
                <a:solidFill>
                  <a:srgbClr val="171C2A"/>
                </a:solidFill>
                <a:latin typeface="Helvetica World Bold"/>
                <a:ea typeface="Helvetica World Bold"/>
                <a:cs typeface="Helvetica World Bold"/>
                <a:sym typeface="Helvetica World Bold"/>
              </a:rPr>
              <a:t>Instance : </a:t>
            </a:r>
            <a:r>
              <a:rPr lang="en-US" sz="2599">
                <a:solidFill>
                  <a:srgbClr val="171C2A"/>
                </a:solidFill>
                <a:latin typeface="Helvetica World"/>
                <a:ea typeface="Helvetica World"/>
                <a:cs typeface="Helvetica World"/>
                <a:sym typeface="Helvetica World"/>
              </a:rPr>
              <a:t>planning v28, 4 semaines dès le 19/10/2026 ,421 patients, 144 vacations, 30 lits (dont 3 de réserve), 20 places.</a:t>
            </a:r>
          </a:p>
          <a:p>
            <a:pPr algn="l">
              <a:lnSpc>
                <a:spcPts val="3639"/>
              </a:lnSpc>
            </a:pPr>
            <a:r>
              <a:rPr lang="en-US" sz="2599" b="true">
                <a:solidFill>
                  <a:srgbClr val="171C2A"/>
                </a:solidFill>
                <a:latin typeface="Helvetica World Bold"/>
                <a:ea typeface="Helvetica World Bold"/>
                <a:cs typeface="Helvetica World Bold"/>
                <a:sym typeface="Helvetica World Bold"/>
              </a:rPr>
              <a:t>Équité : </a:t>
            </a:r>
            <a:r>
              <a:rPr lang="en-US" sz="2599">
                <a:solidFill>
                  <a:srgbClr val="171C2A"/>
                </a:solidFill>
                <a:latin typeface="Helvetica World"/>
                <a:ea typeface="Helvetica World"/>
                <a:cs typeface="Helvetica World"/>
                <a:sym typeface="Helvetica World"/>
              </a:rPr>
              <a:t>même départ glouton multidépart, 10 s par méthode, 10 graines.</a:t>
            </a:r>
          </a:p>
          <a:p>
            <a:pPr algn="l">
              <a:lnSpc>
                <a:spcPts val="3639"/>
              </a:lnSpc>
            </a:pPr>
            <a:r>
              <a:rPr lang="en-US" sz="2599" b="true">
                <a:solidFill>
                  <a:srgbClr val="171C2A"/>
                </a:solidFill>
                <a:latin typeface="Helvetica World Bold"/>
                <a:ea typeface="Helvetica World Bold"/>
                <a:cs typeface="Helvetica World Bold"/>
                <a:sym typeface="Helvetica World Bold"/>
              </a:rPr>
              <a:t>Référence : </a:t>
            </a:r>
            <a:r>
              <a:rPr lang="en-US" sz="2599">
                <a:solidFill>
                  <a:srgbClr val="171C2A"/>
                </a:solidFill>
                <a:latin typeface="Helvetica World"/>
                <a:ea typeface="Helvetica World"/>
                <a:cs typeface="Helvetica World"/>
                <a:sym typeface="Helvetica World"/>
              </a:rPr>
              <a:t>glouton commun du projet.</a:t>
            </a:r>
          </a:p>
          <a:p>
            <a:pPr algn="l">
              <a:lnSpc>
                <a:spcPts val="3639"/>
              </a:lnSpc>
            </a:pPr>
            <a:r>
              <a:rPr lang="en-US" sz="2599" b="true">
                <a:solidFill>
                  <a:srgbClr val="171C2A"/>
                </a:solidFill>
                <a:latin typeface="Helvetica World Bold"/>
                <a:ea typeface="Helvetica World Bold"/>
                <a:cs typeface="Helvetica World Bold"/>
                <a:sym typeface="Helvetica World Bold"/>
              </a:rPr>
              <a:t>Héberg. </a:t>
            </a:r>
            <a:r>
              <a:rPr lang="en-US" sz="2599">
                <a:solidFill>
                  <a:srgbClr val="171C2A"/>
                </a:solidFill>
                <a:latin typeface="Helvetica World"/>
                <a:ea typeface="Helvetica World"/>
                <a:cs typeface="Helvetica World"/>
                <a:sym typeface="Helvetica World"/>
              </a:rPr>
              <a:t>pénalités lits + places ; </a:t>
            </a:r>
            <a:r>
              <a:rPr lang="en-US" sz="2599" b="true">
                <a:solidFill>
                  <a:srgbClr val="171C2A"/>
                </a:solidFill>
                <a:latin typeface="Helvetica World Bold"/>
                <a:ea typeface="Helvetica World Bold"/>
                <a:cs typeface="Helvetica World Bold"/>
                <a:sym typeface="Helvetica World Bold"/>
              </a:rPr>
              <a:t>Var. lits </a:t>
            </a:r>
            <a:r>
              <a:rPr lang="en-US" sz="2599">
                <a:solidFill>
                  <a:srgbClr val="171C2A"/>
                </a:solidFill>
                <a:latin typeface="Helvetica World"/>
                <a:ea typeface="Helvetica World"/>
                <a:cs typeface="Helvetica World"/>
                <a:sym typeface="Helvetica World"/>
              </a:rPr>
              <a:t>variance journalière ; </a:t>
            </a:r>
            <a:r>
              <a:rPr lang="en-US" sz="2599" b="true">
                <a:solidFill>
                  <a:srgbClr val="171C2A"/>
                </a:solidFill>
                <a:latin typeface="Helvetica World Bold"/>
                <a:ea typeface="Helvetica World Bold"/>
                <a:cs typeface="Helvetica World Bold"/>
                <a:sym typeface="Helvetica World Bold"/>
              </a:rPr>
              <a:t>Pic </a:t>
            </a:r>
            <a:r>
              <a:rPr lang="en-US" sz="2599">
                <a:solidFill>
                  <a:srgbClr val="171C2A"/>
                </a:solidFill>
                <a:latin typeface="Helvetica World"/>
                <a:ea typeface="Helvetica World"/>
                <a:cs typeface="Helvetica World"/>
                <a:sym typeface="Helvetica World"/>
              </a:rPr>
              <a:t>lits au jour le plus chargé.</a:t>
            </a:r>
          </a:p>
          <a:p>
            <a:pPr algn="l">
              <a:lnSpc>
                <a:spcPts val="3639"/>
              </a:lnSpc>
            </a:pPr>
            <a:r>
              <a:rPr lang="en-US" sz="2599">
                <a:solidFill>
                  <a:srgbClr val="586776"/>
                </a:solidFill>
                <a:latin typeface="Helvetica World"/>
                <a:ea typeface="Helvetica World"/>
                <a:cs typeface="Helvetica World"/>
                <a:sym typeface="Helvetica World"/>
              </a:rPr>
              <a:t>Code : metaheuristiques/hybridage2.py</a:t>
            </a:r>
          </a:p>
        </p:txBody>
      </p:sp>
      <p:grpSp>
        <p:nvGrpSpPr>
          <p:cNvPr name="Group 9" id="9"/>
          <p:cNvGrpSpPr/>
          <p:nvPr/>
        </p:nvGrpSpPr>
        <p:grpSpPr>
          <a:xfrm rot="0">
            <a:off x="453390" y="9699939"/>
            <a:ext cx="2230494" cy="396881"/>
            <a:chOff x="0" y="0"/>
            <a:chExt cx="2973991" cy="529175"/>
          </a:xfrm>
        </p:grpSpPr>
        <p:sp>
          <p:nvSpPr>
            <p:cNvPr name="Freeform 10" id="10"/>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5" id="15"/>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34</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2">
                <a:alphaModFix amt="0"/>
              </a:blip>
              <a:stretch>
                <a:fillRect l="0" t="-325082" r="0" b="-325082"/>
              </a:stretch>
            </a:blipFill>
          </p:spPr>
        </p:sp>
      </p:grpSp>
      <p:grpSp>
        <p:nvGrpSpPr>
          <p:cNvPr name="Group 4" id="4"/>
          <p:cNvGrpSpPr/>
          <p:nvPr/>
        </p:nvGrpSpPr>
        <p:grpSpPr>
          <a:xfrm rot="0">
            <a:off x="777240" y="347472"/>
            <a:ext cx="16733520" cy="874776"/>
            <a:chOff x="0" y="0"/>
            <a:chExt cx="22311360" cy="1166368"/>
          </a:xfrm>
        </p:grpSpPr>
        <p:sp>
          <p:nvSpPr>
            <p:cNvPr name="Freeform 5" id="5"/>
            <p:cNvSpPr/>
            <p:nvPr/>
          </p:nvSpPr>
          <p:spPr>
            <a:xfrm flipH="false" flipV="false" rot="0">
              <a:off x="0" y="0"/>
              <a:ext cx="22311361" cy="1166368"/>
            </a:xfrm>
            <a:custGeom>
              <a:avLst/>
              <a:gdLst/>
              <a:ahLst/>
              <a:cxnLst/>
              <a:rect r="r" b="b" t="t" l="l"/>
              <a:pathLst>
                <a:path h="1166368" w="22311361">
                  <a:moveTo>
                    <a:pt x="0" y="0"/>
                  </a:moveTo>
                  <a:lnTo>
                    <a:pt x="22311361" y="0"/>
                  </a:lnTo>
                  <a:lnTo>
                    <a:pt x="22311361" y="1166368"/>
                  </a:lnTo>
                  <a:lnTo>
                    <a:pt x="0" y="1166368"/>
                  </a:lnTo>
                  <a:close/>
                </a:path>
              </a:pathLst>
            </a:custGeom>
            <a:blipFill>
              <a:blip r:embed="rId3">
                <a:alphaModFix amt="0"/>
              </a:blip>
              <a:stretch>
                <a:fillRect l="0" t="-323076" r="0" b="-322379"/>
              </a:stretch>
            </a:blipFill>
          </p:spPr>
        </p:sp>
        <p:sp>
          <p:nvSpPr>
            <p:cNvPr name="TextBox 6" id="6"/>
            <p:cNvSpPr txBox="true"/>
            <p:nvPr/>
          </p:nvSpPr>
          <p:spPr>
            <a:xfrm>
              <a:off x="0" y="0"/>
              <a:ext cx="22311360" cy="1166368"/>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ANNEXE C : Tableau donnant les liens entre les différents agents </a:t>
              </a:r>
            </a:p>
          </p:txBody>
        </p:sp>
      </p:grpSp>
      <p:grpSp>
        <p:nvGrpSpPr>
          <p:cNvPr name="Group 7" id="7"/>
          <p:cNvGrpSpPr/>
          <p:nvPr/>
        </p:nvGrpSpPr>
        <p:grpSpPr>
          <a:xfrm rot="0">
            <a:off x="777240" y="1298448"/>
            <a:ext cx="16733520" cy="27432"/>
            <a:chOff x="0" y="0"/>
            <a:chExt cx="22311360" cy="36576"/>
          </a:xfrm>
        </p:grpSpPr>
        <p:sp>
          <p:nvSpPr>
            <p:cNvPr name="Freeform 8" id="8"/>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Freeform 9" id="9"/>
          <p:cNvSpPr/>
          <p:nvPr/>
        </p:nvSpPr>
        <p:spPr>
          <a:xfrm flipH="false" flipV="false" rot="0">
            <a:off x="453390" y="9732836"/>
            <a:ext cx="142132" cy="142132"/>
          </a:xfrm>
          <a:custGeom>
            <a:avLst/>
            <a:gdLst/>
            <a:ahLst/>
            <a:cxnLst/>
            <a:rect r="r" b="b" t="t" l="l"/>
            <a:pathLst>
              <a:path h="142132" w="142132">
                <a:moveTo>
                  <a:pt x="0" y="0"/>
                </a:moveTo>
                <a:lnTo>
                  <a:pt x="142132" y="0"/>
                </a:lnTo>
                <a:lnTo>
                  <a:pt x="142132" y="142132"/>
                </a:lnTo>
                <a:lnTo>
                  <a:pt x="0" y="1421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453390" y="9954692"/>
            <a:ext cx="142132" cy="142132"/>
          </a:xfrm>
          <a:custGeom>
            <a:avLst/>
            <a:gdLst/>
            <a:ahLst/>
            <a:cxnLst/>
            <a:rect r="r" b="b" t="t" l="l"/>
            <a:pathLst>
              <a:path h="142132" w="142132">
                <a:moveTo>
                  <a:pt x="0" y="142132"/>
                </a:moveTo>
                <a:lnTo>
                  <a:pt x="142132" y="142132"/>
                </a:lnTo>
                <a:lnTo>
                  <a:pt x="142132" y="0"/>
                </a:lnTo>
                <a:lnTo>
                  <a:pt x="0" y="0"/>
                </a:lnTo>
                <a:lnTo>
                  <a:pt x="0" y="14213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0">
            <a:off x="675113" y="9732836"/>
            <a:ext cx="142132" cy="142132"/>
          </a:xfrm>
          <a:custGeom>
            <a:avLst/>
            <a:gdLst/>
            <a:ahLst/>
            <a:cxnLst/>
            <a:rect r="r" b="b" t="t" l="l"/>
            <a:pathLst>
              <a:path h="142132" w="142132">
                <a:moveTo>
                  <a:pt x="142132" y="0"/>
                </a:moveTo>
                <a:lnTo>
                  <a:pt x="0" y="0"/>
                </a:lnTo>
                <a:lnTo>
                  <a:pt x="0" y="142132"/>
                </a:lnTo>
                <a:lnTo>
                  <a:pt x="142132" y="142132"/>
                </a:lnTo>
                <a:lnTo>
                  <a:pt x="14213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true" flipV="true" rot="0">
            <a:off x="675113" y="9954692"/>
            <a:ext cx="142132" cy="142132"/>
          </a:xfrm>
          <a:custGeom>
            <a:avLst/>
            <a:gdLst/>
            <a:ahLst/>
            <a:cxnLst/>
            <a:rect r="r" b="b" t="t" l="l"/>
            <a:pathLst>
              <a:path h="142132" w="142132">
                <a:moveTo>
                  <a:pt x="142132" y="142132"/>
                </a:moveTo>
                <a:lnTo>
                  <a:pt x="0" y="142132"/>
                </a:lnTo>
                <a:lnTo>
                  <a:pt x="0" y="0"/>
                </a:lnTo>
                <a:lnTo>
                  <a:pt x="142132" y="0"/>
                </a:lnTo>
                <a:lnTo>
                  <a:pt x="142132" y="1421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923163" y="9616592"/>
            <a:ext cx="1760725" cy="391573"/>
          </a:xfrm>
          <a:prstGeom prst="rect">
            <a:avLst/>
          </a:prstGeom>
        </p:spPr>
        <p:txBody>
          <a:bodyPr anchor="t" rtlCol="false" tIns="0" lIns="0" bIns="0" rIns="0">
            <a:spAutoFit/>
          </a:bodyPr>
          <a:lstStyle/>
          <a:p>
            <a:pPr algn="l">
              <a:lnSpc>
                <a:spcPts val="2880"/>
              </a:lnSpc>
            </a:pPr>
            <a:r>
              <a:rPr lang="en-US" b="true" sz="2057" spc="40">
                <a:solidFill>
                  <a:srgbClr val="2323E6"/>
                </a:solidFill>
                <a:latin typeface="Inter Bold"/>
                <a:ea typeface="Inter Bold"/>
                <a:cs typeface="Inter Bold"/>
                <a:sym typeface="Inter Bold"/>
              </a:rPr>
              <a:t>OR’CHESTRE</a:t>
            </a:r>
          </a:p>
        </p:txBody>
      </p:sp>
      <p:sp>
        <p:nvSpPr>
          <p:cNvPr name="TextBox 14" id="14"/>
          <p:cNvSpPr txBox="true"/>
          <p:nvPr/>
        </p:nvSpPr>
        <p:spPr>
          <a:xfrm rot="0">
            <a:off x="943642" y="9947415"/>
            <a:ext cx="1740246" cy="149400"/>
          </a:xfrm>
          <a:prstGeom prst="rect">
            <a:avLst/>
          </a:prstGeom>
        </p:spPr>
        <p:txBody>
          <a:bodyPr anchor="t" rtlCol="false" tIns="0" lIns="0" bIns="0" rIns="0">
            <a:spAutoFit/>
          </a:bodyPr>
          <a:lstStyle/>
          <a:p>
            <a:pPr algn="l">
              <a:lnSpc>
                <a:spcPts val="1078"/>
              </a:lnSpc>
            </a:pPr>
            <a:r>
              <a:rPr lang="en-US" sz="770" spc="215">
                <a:solidFill>
                  <a:srgbClr val="587DFF"/>
                </a:solidFill>
                <a:latin typeface="Quicksand"/>
                <a:ea typeface="Quicksand"/>
                <a:cs typeface="Quicksand"/>
                <a:sym typeface="Quicksand"/>
              </a:rPr>
              <a:t>PROJET CENTRALE LILLE</a:t>
            </a:r>
          </a:p>
        </p:txBody>
      </p:sp>
      <p:sp>
        <p:nvSpPr>
          <p:cNvPr name="Freeform 15" id="15"/>
          <p:cNvSpPr/>
          <p:nvPr/>
        </p:nvSpPr>
        <p:spPr>
          <a:xfrm flipH="false" flipV="false" rot="0">
            <a:off x="2140530" y="1463560"/>
            <a:ext cx="14563774" cy="8192123"/>
          </a:xfrm>
          <a:custGeom>
            <a:avLst/>
            <a:gdLst/>
            <a:ahLst/>
            <a:cxnLst/>
            <a:rect r="r" b="b" t="t" l="l"/>
            <a:pathLst>
              <a:path h="8192123" w="14563774">
                <a:moveTo>
                  <a:pt x="0" y="0"/>
                </a:moveTo>
                <a:lnTo>
                  <a:pt x="14563774" y="0"/>
                </a:lnTo>
                <a:lnTo>
                  <a:pt x="14563774" y="8192123"/>
                </a:lnTo>
                <a:lnTo>
                  <a:pt x="0" y="8192123"/>
                </a:lnTo>
                <a:lnTo>
                  <a:pt x="0" y="0"/>
                </a:lnTo>
                <a:close/>
              </a:path>
            </a:pathLst>
          </a:custGeom>
          <a:blipFill>
            <a:blip r:embed="rId10"/>
            <a:stretch>
              <a:fillRect l="0" t="0" r="0" b="0"/>
            </a:stretch>
          </a:blipFill>
        </p:spPr>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35</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ANNEXE D : DÉLAIS ET COÛTS DES PERTURBATIONS</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TextBox 7" id="7"/>
          <p:cNvSpPr txBox="true"/>
          <p:nvPr/>
        </p:nvSpPr>
        <p:spPr>
          <a:xfrm rot="0">
            <a:off x="777240" y="8986774"/>
            <a:ext cx="16733520" cy="384175"/>
          </a:xfrm>
          <a:prstGeom prst="rect">
            <a:avLst/>
          </a:prstGeom>
        </p:spPr>
        <p:txBody>
          <a:bodyPr anchor="t" rtlCol="false" tIns="0" lIns="0" bIns="0" rIns="0">
            <a:spAutoFit/>
          </a:bodyPr>
          <a:lstStyle/>
          <a:p>
            <a:pPr algn="l">
              <a:lnSpc>
                <a:spcPts val="2879"/>
              </a:lnSpc>
            </a:pPr>
            <a:r>
              <a:rPr lang="en-US" b="true" sz="2399">
                <a:solidFill>
                  <a:srgbClr val="171C2A"/>
                </a:solidFill>
                <a:latin typeface="Helvetica World Bold"/>
                <a:ea typeface="Helvetica World Bold"/>
                <a:cs typeface="Helvetica World Bold"/>
                <a:sym typeface="Helvetica World Bold"/>
              </a:rPr>
              <a:t>Périmètre : </a:t>
            </a:r>
            <a:r>
              <a:rPr lang="en-US" sz="2399">
                <a:solidFill>
                  <a:srgbClr val="171C2A"/>
                </a:solidFill>
                <a:latin typeface="Helvetica World"/>
                <a:ea typeface="Helvetica World"/>
                <a:cs typeface="Helvetica World"/>
                <a:sym typeface="Helvetica World"/>
              </a:rPr>
              <a:t>valeurs par défaut de ParametresSMA et GRAVITES dans sma_urgences.py.</a:t>
            </a:r>
          </a:p>
        </p:txBody>
      </p:sp>
      <p:graphicFrame>
        <p:nvGraphicFramePr>
          <p:cNvPr name="Table 8" id="8"/>
          <p:cNvGraphicFramePr>
            <a:graphicFrameLocks noGrp="true"/>
          </p:cNvGraphicFramePr>
          <p:nvPr/>
        </p:nvGraphicFramePr>
        <p:xfrm>
          <a:off x="777240" y="2555557"/>
          <a:ext cx="8178800" cy="2743200"/>
        </p:xfrm>
        <a:graphic>
          <a:graphicData uri="http://schemas.openxmlformats.org/drawingml/2006/table">
            <a:tbl>
              <a:tblPr/>
              <a:tblGrid>
                <a:gridCol w="2375964"/>
                <a:gridCol w="2513039"/>
                <a:gridCol w="3289797"/>
              </a:tblGrid>
              <a:tr h="692822">
                <a:tc>
                  <a:txBody>
                    <a:bodyPr anchor="t" rtlCol="false"/>
                    <a:lstStyle/>
                    <a:p>
                      <a:pPr algn="l">
                        <a:lnSpc>
                          <a:spcPts val="2639"/>
                        </a:lnSpc>
                        <a:defRPr/>
                      </a:pPr>
                      <a:r>
                        <a:rPr lang="en-US" sz="2199" b="true">
                          <a:solidFill>
                            <a:srgbClr val="171C2A"/>
                          </a:solidFill>
                          <a:latin typeface="Helvetica World Bold"/>
                          <a:ea typeface="Helvetica World Bold"/>
                          <a:cs typeface="Helvetica World Bold"/>
                          <a:sym typeface="Helvetica World Bold"/>
                        </a:rPr>
                        <a:t>Gravité</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b="true">
                          <a:solidFill>
                            <a:srgbClr val="171C2A"/>
                          </a:solidFill>
                          <a:latin typeface="Helvetica World Bold"/>
                          <a:ea typeface="Helvetica World Bold"/>
                          <a:cs typeface="Helvetica World Bold"/>
                          <a:sym typeface="Helvetica World Bold"/>
                        </a:rPr>
                        <a:t>Délai maximal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b="true">
                          <a:solidFill>
                            <a:srgbClr val="171C2A"/>
                          </a:solidFill>
                          <a:latin typeface="Helvetica World Bold"/>
                          <a:ea typeface="Helvetica World Bold"/>
                          <a:cs typeface="Helvetica World Bold"/>
                          <a:sym typeface="Helvetica World Bold"/>
                        </a:rPr>
                        <a:t>Coût / min d'attente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83459">
                <a:tc>
                  <a:txBody>
                    <a:bodyPr anchor="t" rtlCol="false"/>
                    <a:lstStyle/>
                    <a:p>
                      <a:pPr algn="l">
                        <a:lnSpc>
                          <a:spcPts val="2639"/>
                        </a:lnSpc>
                        <a:defRPr/>
                      </a:pPr>
                      <a:r>
                        <a:rPr lang="en-US" sz="2199" b="true">
                          <a:solidFill>
                            <a:srgbClr val="171C2A"/>
                          </a:solidFill>
                          <a:latin typeface="Helvetica World Bold"/>
                          <a:ea typeface="Helvetica World Bold"/>
                          <a:cs typeface="Helvetica World Bold"/>
                          <a:sym typeface="Helvetica World Bold"/>
                        </a:rPr>
                        <a:t>Vitale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 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74097">
                <a:tc>
                  <a:txBody>
                    <a:bodyPr anchor="t" rtlCol="false"/>
                    <a:lstStyle/>
                    <a:p>
                      <a:pPr algn="l">
                        <a:lnSpc>
                          <a:spcPts val="2639"/>
                        </a:lnSpc>
                        <a:defRPr/>
                      </a:pPr>
                      <a:r>
                        <a:rPr lang="en-US" sz="2199" b="true">
                          <a:solidFill>
                            <a:srgbClr val="171C2A"/>
                          </a:solidFill>
                          <a:latin typeface="Helvetica World Bold"/>
                          <a:ea typeface="Helvetica World Bold"/>
                          <a:cs typeface="Helvetica World Bold"/>
                          <a:sym typeface="Helvetica World Bold"/>
                        </a:rPr>
                        <a:t>Urgente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6 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92822">
                <a:tc>
                  <a:txBody>
                    <a:bodyPr anchor="t" rtlCol="false"/>
                    <a:lstStyle/>
                    <a:p>
                      <a:pPr algn="l">
                        <a:lnSpc>
                          <a:spcPts val="2639"/>
                        </a:lnSpc>
                        <a:defRPr/>
                      </a:pPr>
                      <a:r>
                        <a:rPr lang="en-US" sz="2199" b="true">
                          <a:solidFill>
                            <a:srgbClr val="171C2A"/>
                          </a:solidFill>
                          <a:latin typeface="Helvetica World Bold"/>
                          <a:ea typeface="Helvetica World Bold"/>
                          <a:cs typeface="Helvetica World Bold"/>
                          <a:sym typeface="Helvetica World Bold"/>
                        </a:rPr>
                        <a:t>Différable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24 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r>
            </a:tbl>
          </a:graphicData>
        </a:graphic>
      </p:graphicFrame>
      <p:sp>
        <p:nvSpPr>
          <p:cNvPr name="TextBox 9" id="9"/>
          <p:cNvSpPr txBox="true"/>
          <p:nvPr/>
        </p:nvSpPr>
        <p:spPr>
          <a:xfrm rot="0">
            <a:off x="777240" y="5641657"/>
            <a:ext cx="8183880" cy="2343785"/>
          </a:xfrm>
          <a:prstGeom prst="rect">
            <a:avLst/>
          </a:prstGeom>
        </p:spPr>
        <p:txBody>
          <a:bodyPr anchor="t" rtlCol="false" tIns="0" lIns="0" bIns="0" rIns="0">
            <a:spAutoFit/>
          </a:bodyPr>
          <a:lstStyle/>
          <a:p>
            <a:pPr algn="l">
              <a:lnSpc>
                <a:spcPts val="3639"/>
              </a:lnSpc>
            </a:pPr>
            <a:r>
              <a:rPr lang="en-US" sz="2599" b="true">
                <a:solidFill>
                  <a:srgbClr val="171C2A"/>
                </a:solidFill>
                <a:latin typeface="Helvetica World Bold"/>
                <a:ea typeface="Helvetica World Bold"/>
                <a:cs typeface="Helvetica World Bold"/>
                <a:sym typeface="Helvetica World Bold"/>
              </a:rPr>
              <a:t>Règles : </a:t>
            </a:r>
            <a:r>
              <a:rPr lang="en-US" sz="2599">
                <a:solidFill>
                  <a:srgbClr val="171C2A"/>
                </a:solidFill>
                <a:latin typeface="Helvetica World"/>
                <a:ea typeface="Helvetica World"/>
                <a:cs typeface="Helvetica World"/>
                <a:sym typeface="Helvetica World"/>
              </a:rPr>
              <a:t>au plus 4 propositions par salle et 3 déprogrammations par plan ; on n'opère que dans les vacations ou la plage d'urgence, sans heures supplémentaires.</a:t>
            </a:r>
          </a:p>
          <a:p>
            <a:pPr algn="l">
              <a:lnSpc>
                <a:spcPts val="3639"/>
              </a:lnSpc>
            </a:pPr>
            <a:r>
              <a:rPr lang="en-US" sz="2599" b="true">
                <a:solidFill>
                  <a:srgbClr val="171C2A"/>
                </a:solidFill>
                <a:latin typeface="Helvetica World Bold"/>
                <a:ea typeface="Helvetica World Bold"/>
                <a:cs typeface="Helvetica World Bold"/>
                <a:sym typeface="Helvetica World Bold"/>
              </a:rPr>
              <a:t>Délai non tenable : </a:t>
            </a:r>
            <a:r>
              <a:rPr lang="en-US" sz="2599">
                <a:solidFill>
                  <a:srgbClr val="171C2A"/>
                </a:solidFill>
                <a:latin typeface="Helvetica World"/>
                <a:ea typeface="Helvetica World"/>
                <a:cs typeface="Helvetica World"/>
                <a:sym typeface="Helvetica World"/>
              </a:rPr>
              <a:t>alerte au médecin régulateur.</a:t>
            </a:r>
          </a:p>
        </p:txBody>
      </p:sp>
      <p:graphicFrame>
        <p:nvGraphicFramePr>
          <p:cNvPr name="Table 10" id="10"/>
          <p:cNvGraphicFramePr>
            <a:graphicFrameLocks noGrp="true"/>
          </p:cNvGraphicFramePr>
          <p:nvPr/>
        </p:nvGraphicFramePr>
        <p:xfrm>
          <a:off x="9326880" y="1691640"/>
          <a:ext cx="8166100" cy="6972300"/>
        </p:xfrm>
        <a:graphic>
          <a:graphicData uri="http://schemas.openxmlformats.org/drawingml/2006/table">
            <a:tbl>
              <a:tblPr/>
              <a:tblGrid>
                <a:gridCol w="4470826"/>
                <a:gridCol w="3695274"/>
              </a:tblGrid>
              <a:tr h="788229">
                <a:tc>
                  <a:txBody>
                    <a:bodyPr anchor="t" rtlCol="false"/>
                    <a:lstStyle/>
                    <a:p>
                      <a:pPr algn="l">
                        <a:lnSpc>
                          <a:spcPts val="2639"/>
                        </a:lnSpc>
                        <a:defRPr/>
                      </a:pPr>
                      <a:r>
                        <a:rPr lang="en-US" sz="2199" b="true">
                          <a:solidFill>
                            <a:srgbClr val="171C2A"/>
                          </a:solidFill>
                          <a:latin typeface="Helvetica World Bold"/>
                          <a:ea typeface="Helvetica World Bold"/>
                          <a:cs typeface="Helvetica World Bold"/>
                          <a:sym typeface="Helvetica World Bold"/>
                        </a:rPr>
                        <a:t>Perturbation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b="true">
                          <a:solidFill>
                            <a:srgbClr val="171C2A"/>
                          </a:solidFill>
                          <a:latin typeface="Helvetica World Bold"/>
                          <a:ea typeface="Helvetica World Bold"/>
                          <a:cs typeface="Helvetica World Bold"/>
                          <a:sym typeface="Helvetica World Bold"/>
                        </a:rPr>
                        <a:t>Coût (points)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78863">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Avancer un patient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0,5 / min × priorité</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69497">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Retarder un patient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 / min × priorité</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69497">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Reporter d'un jour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100 / jour × priorité</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69497">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Confier à un confrère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300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69497">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Lit de réserve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300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69497">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Rappeler l'astreinte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500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69497">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Déprogrammer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2 000 × priorité</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88229">
                <a:tc>
                  <a:txBody>
                    <a:bodyPr anchor="t" rtlCol="false"/>
                    <a:lstStyle/>
                    <a:p>
                      <a:pPr algn="l">
                        <a:lnSpc>
                          <a:spcPts val="2639"/>
                        </a:lnSpc>
                        <a:defRPr/>
                      </a:pPr>
                      <a:r>
                        <a:rPr lang="en-US" sz="2199">
                          <a:solidFill>
                            <a:srgbClr val="171C2A"/>
                          </a:solidFill>
                          <a:latin typeface="Helvetica World"/>
                          <a:ea typeface="Helvetica World"/>
                          <a:cs typeface="Helvetica World"/>
                          <a:sym typeface="Helvetica World"/>
                        </a:rPr>
                        <a:t>Dépasser la capacité en lits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c>
                  <a:txBody>
                    <a:bodyPr anchor="t" rtlCol="false"/>
                    <a:lstStyle/>
                    <a:p>
                      <a:pPr algn="ctr">
                        <a:lnSpc>
                          <a:spcPts val="2639"/>
                        </a:lnSpc>
                        <a:defRPr/>
                      </a:pPr>
                      <a:r>
                        <a:rPr lang="en-US" sz="2199">
                          <a:solidFill>
                            <a:srgbClr val="171C2A"/>
                          </a:solidFill>
                          <a:latin typeface="Helvetica World"/>
                          <a:ea typeface="Helvetica World"/>
                          <a:cs typeface="Helvetica World"/>
                          <a:sym typeface="Helvetica World"/>
                        </a:rPr>
                        <a:t>5 000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r>
            </a:tbl>
          </a:graphicData>
        </a:graphic>
      </p:graphicFrame>
      <p:grpSp>
        <p:nvGrpSpPr>
          <p:cNvPr name="Group 11" id="11"/>
          <p:cNvGrpSpPr/>
          <p:nvPr/>
        </p:nvGrpSpPr>
        <p:grpSpPr>
          <a:xfrm rot="0">
            <a:off x="453390" y="9699939"/>
            <a:ext cx="2230494" cy="396881"/>
            <a:chOff x="0" y="0"/>
            <a:chExt cx="2973991" cy="529175"/>
          </a:xfrm>
        </p:grpSpPr>
        <p:sp>
          <p:nvSpPr>
            <p:cNvPr name="Freeform 12" id="12"/>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7" id="17"/>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36</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1298448"/>
            <a:ext cx="16733520" cy="27432"/>
            <a:chOff x="0" y="0"/>
            <a:chExt cx="22311360" cy="36576"/>
          </a:xfrm>
        </p:grpSpPr>
        <p:sp>
          <p:nvSpPr>
            <p:cNvPr name="Freeform 3" id="3"/>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pSp>
        <p:nvGrpSpPr>
          <p:cNvPr name="Group 4" id="4"/>
          <p:cNvGrpSpPr/>
          <p:nvPr/>
        </p:nvGrpSpPr>
        <p:grpSpPr>
          <a:xfrm rot="0">
            <a:off x="453390" y="9699939"/>
            <a:ext cx="2230494" cy="396881"/>
            <a:chOff x="0" y="0"/>
            <a:chExt cx="2973991" cy="529175"/>
          </a:xfrm>
        </p:grpSpPr>
        <p:sp>
          <p:nvSpPr>
            <p:cNvPr name="Freeform 5" id="5"/>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10" id="10"/>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Freeform 11" id="11"/>
          <p:cNvSpPr/>
          <p:nvPr/>
        </p:nvSpPr>
        <p:spPr>
          <a:xfrm flipH="false" flipV="false" rot="0">
            <a:off x="3597785" y="1536599"/>
            <a:ext cx="11092431" cy="7721701"/>
          </a:xfrm>
          <a:custGeom>
            <a:avLst/>
            <a:gdLst/>
            <a:ahLst/>
            <a:cxnLst/>
            <a:rect r="r" b="b" t="t" l="l"/>
            <a:pathLst>
              <a:path h="7721701" w="11092431">
                <a:moveTo>
                  <a:pt x="0" y="0"/>
                </a:moveTo>
                <a:lnTo>
                  <a:pt x="11092430" y="0"/>
                </a:lnTo>
                <a:lnTo>
                  <a:pt x="11092430" y="7721701"/>
                </a:lnTo>
                <a:lnTo>
                  <a:pt x="0" y="7721701"/>
                </a:lnTo>
                <a:lnTo>
                  <a:pt x="0" y="0"/>
                </a:lnTo>
                <a:close/>
              </a:path>
            </a:pathLst>
          </a:custGeom>
          <a:blipFill>
            <a:blip r:embed="rId9"/>
            <a:stretch>
              <a:fillRect l="0" t="-2234" r="0" b="0"/>
            </a:stretch>
          </a:blipFill>
        </p:spPr>
      </p:sp>
      <p:grpSp>
        <p:nvGrpSpPr>
          <p:cNvPr name="Group 12" id="12"/>
          <p:cNvGrpSpPr/>
          <p:nvPr/>
        </p:nvGrpSpPr>
        <p:grpSpPr>
          <a:xfrm rot="0">
            <a:off x="777240" y="347472"/>
            <a:ext cx="16733520" cy="868680"/>
            <a:chOff x="0" y="0"/>
            <a:chExt cx="22311360" cy="1158240"/>
          </a:xfrm>
        </p:grpSpPr>
        <p:sp>
          <p:nvSpPr>
            <p:cNvPr name="Freeform 13" id="1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10">
                <a:alphaModFix amt="0"/>
              </a:blip>
              <a:stretch>
                <a:fillRect l="0" t="-325343" r="0" b="-325343"/>
              </a:stretch>
            </a:blipFill>
          </p:spPr>
        </p:sp>
        <p:sp>
          <p:nvSpPr>
            <p:cNvPr name="TextBox 14" id="1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ANNEXE E : Patients perturbés par scénarios</a:t>
              </a:r>
            </a:p>
          </p:txBody>
        </p:sp>
      </p:gr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37</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2">
                <a:alphaModFix amt="0"/>
              </a:blip>
              <a:stretch>
                <a:fillRect l="0" t="-325082" r="0" b="-325082"/>
              </a:stretch>
            </a:blipFill>
          </p:spPr>
        </p:sp>
      </p:grpSp>
      <p:grpSp>
        <p:nvGrpSpPr>
          <p:cNvPr name="Group 4" id="4"/>
          <p:cNvGrpSpPr/>
          <p:nvPr/>
        </p:nvGrpSpPr>
        <p:grpSpPr>
          <a:xfrm rot="0">
            <a:off x="777240" y="347472"/>
            <a:ext cx="16733520" cy="868680"/>
            <a:chOff x="0" y="0"/>
            <a:chExt cx="22311360" cy="1158240"/>
          </a:xfrm>
        </p:grpSpPr>
        <p:sp>
          <p:nvSpPr>
            <p:cNvPr name="Freeform 5" id="5"/>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6" id="6"/>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ANNEXE F : </a:t>
              </a:r>
              <a:r>
                <a:rPr lang="en-US" sz="3200" b="true">
                  <a:solidFill>
                    <a:srgbClr val="171C2A"/>
                  </a:solidFill>
                  <a:latin typeface="Helvetica World Bold"/>
                  <a:ea typeface="Helvetica World Bold"/>
                  <a:cs typeface="Helvetica World Bold"/>
                  <a:sym typeface="Helvetica World Bold"/>
                </a:rPr>
                <a:t>SÉCURITÉ ET PROTECTION DES DONNÉES DE SANTÉ</a:t>
              </a:r>
            </a:p>
          </p:txBody>
        </p:sp>
      </p:grpSp>
      <p:grpSp>
        <p:nvGrpSpPr>
          <p:cNvPr name="Group 7" id="7"/>
          <p:cNvGrpSpPr/>
          <p:nvPr/>
        </p:nvGrpSpPr>
        <p:grpSpPr>
          <a:xfrm rot="0">
            <a:off x="777240" y="1298448"/>
            <a:ext cx="16733520" cy="27432"/>
            <a:chOff x="0" y="0"/>
            <a:chExt cx="22311360" cy="36576"/>
          </a:xfrm>
        </p:grpSpPr>
        <p:sp>
          <p:nvSpPr>
            <p:cNvPr name="Freeform 8" id="8"/>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graphicFrame>
        <p:nvGraphicFramePr>
          <p:cNvPr name="Table 9" id="9"/>
          <p:cNvGraphicFramePr>
            <a:graphicFrameLocks noGrp="true"/>
          </p:cNvGraphicFramePr>
          <p:nvPr/>
        </p:nvGraphicFramePr>
        <p:xfrm>
          <a:off x="777240" y="1948077"/>
          <a:ext cx="16713200" cy="7052339"/>
        </p:xfrm>
        <a:graphic>
          <a:graphicData uri="http://schemas.openxmlformats.org/drawingml/2006/table">
            <a:tbl>
              <a:tblPr/>
              <a:tblGrid>
                <a:gridCol w="3835816"/>
                <a:gridCol w="12877384"/>
              </a:tblGrid>
              <a:tr h="869586">
                <a:tc>
                  <a:txBody>
                    <a:bodyPr anchor="t" rtlCol="false"/>
                    <a:lstStyle/>
                    <a:p>
                      <a:pPr algn="l">
                        <a:lnSpc>
                          <a:spcPts val="2638"/>
                        </a:lnSpc>
                        <a:defRPr/>
                      </a:pPr>
                      <a:r>
                        <a:rPr lang="en-US" sz="2199" b="true">
                          <a:solidFill>
                            <a:srgbClr val="171C2A"/>
                          </a:solidFill>
                          <a:latin typeface="Helvetica World Bold"/>
                          <a:ea typeface="Helvetica World Bold"/>
                          <a:cs typeface="Helvetica World Bold"/>
                          <a:sym typeface="Helvetica World Bold"/>
                        </a:rPr>
                        <a:t>Principe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638"/>
                        </a:lnSpc>
                        <a:defRPr/>
                      </a:pPr>
                      <a:r>
                        <a:rPr lang="en-US" sz="2199" b="true">
                          <a:solidFill>
                            <a:srgbClr val="171C2A"/>
                          </a:solidFill>
                          <a:latin typeface="Helvetica World Bold"/>
                          <a:ea typeface="Helvetica World Bold"/>
                          <a:cs typeface="Helvetica World Bold"/>
                          <a:sym typeface="Helvetica World Bold"/>
                        </a:rPr>
                        <a:t>Mise en œuvre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56087">
                <a:tc>
                  <a:txBody>
                    <a:bodyPr anchor="t" rtlCol="false"/>
                    <a:lstStyle/>
                    <a:p>
                      <a:pPr algn="l">
                        <a:lnSpc>
                          <a:spcPts val="2998"/>
                        </a:lnSpc>
                        <a:defRPr/>
                      </a:pPr>
                      <a:r>
                        <a:rPr lang="en-US" sz="2499" b="true">
                          <a:solidFill>
                            <a:srgbClr val="171C2A"/>
                          </a:solidFill>
                          <a:latin typeface="Helvetica World Bold"/>
                          <a:ea typeface="Helvetica World Bold"/>
                          <a:cs typeface="Helvetica World Bold"/>
                          <a:sym typeface="Helvetica World Bold"/>
                        </a:rPr>
                        <a:t>Minimisation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759"/>
                        </a:lnSpc>
                        <a:defRPr/>
                      </a:pPr>
                      <a:r>
                        <a:rPr lang="en-US" sz="2298">
                          <a:solidFill>
                            <a:srgbClr val="171C2A"/>
                          </a:solidFill>
                          <a:latin typeface="Helvetica World"/>
                          <a:ea typeface="Helvetica World"/>
                          <a:cs typeface="Helvetica World"/>
                          <a:sym typeface="Helvetica World"/>
                        </a:rPr>
                        <a:t>âge au lieu de la date de naissance ; ni nom ni prénom ; aucune variable inutile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171C2A"/>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37297">
                <a:tc>
                  <a:txBody>
                    <a:bodyPr anchor="t" rtlCol="false"/>
                    <a:lstStyle/>
                    <a:p>
                      <a:pPr algn="l">
                        <a:lnSpc>
                          <a:spcPts val="2998"/>
                        </a:lnSpc>
                        <a:defRPr/>
                      </a:pPr>
                      <a:r>
                        <a:rPr lang="en-US" sz="2499" b="true">
                          <a:solidFill>
                            <a:srgbClr val="171C2A"/>
                          </a:solidFill>
                          <a:latin typeface="Helvetica World Bold"/>
                          <a:ea typeface="Helvetica World Bold"/>
                          <a:cs typeface="Helvetica World Bold"/>
                          <a:sym typeface="Helvetica World Bold"/>
                        </a:rPr>
                        <a:t>Pseudonymisation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759"/>
                        </a:lnSpc>
                        <a:defRPr/>
                      </a:pPr>
                      <a:r>
                        <a:rPr lang="en-US" sz="2298">
                          <a:solidFill>
                            <a:srgbClr val="171C2A"/>
                          </a:solidFill>
                          <a:latin typeface="Helvetica World"/>
                          <a:ea typeface="Helvetica World"/>
                          <a:cs typeface="Helvetica World"/>
                          <a:sym typeface="Helvetica World"/>
                        </a:rPr>
                        <a:t>identifiant PAT-AA-NNNN ; référence de dossier facultative, chiffrée (Fernet, clé hors base)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107893">
                <a:tc>
                  <a:txBody>
                    <a:bodyPr anchor="t" rtlCol="false"/>
                    <a:lstStyle/>
                    <a:p>
                      <a:pPr algn="l">
                        <a:lnSpc>
                          <a:spcPts val="2998"/>
                        </a:lnSpc>
                        <a:defRPr/>
                      </a:pPr>
                      <a:r>
                        <a:rPr lang="en-US" sz="2499" b="true">
                          <a:solidFill>
                            <a:srgbClr val="171C2A"/>
                          </a:solidFill>
                          <a:latin typeface="Helvetica World Bold"/>
                          <a:ea typeface="Helvetica World Bold"/>
                          <a:cs typeface="Helvetica World Bold"/>
                          <a:sym typeface="Helvetica World Bold"/>
                        </a:rPr>
                        <a:t>Authentification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759"/>
                        </a:lnSpc>
                        <a:defRPr/>
                      </a:pPr>
                      <a:r>
                        <a:rPr lang="en-US" sz="2298">
                          <a:solidFill>
                            <a:srgbClr val="171C2A"/>
                          </a:solidFill>
                          <a:latin typeface="Helvetica World"/>
                          <a:ea typeface="Helvetica World"/>
                          <a:cs typeface="Helvetica World"/>
                          <a:sym typeface="Helvetica World"/>
                        </a:rPr>
                        <a:t>comptes nominatifs, PBKDF2-SHA256 (310 000 itérations), 12 caractères et 4 types, blocage après 5 échecs, déconnexion après 15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37297">
                <a:tc>
                  <a:txBody>
                    <a:bodyPr anchor="t" rtlCol="false"/>
                    <a:lstStyle/>
                    <a:p>
                      <a:pPr algn="l">
                        <a:lnSpc>
                          <a:spcPts val="2998"/>
                        </a:lnSpc>
                        <a:defRPr/>
                      </a:pPr>
                      <a:r>
                        <a:rPr lang="en-US" sz="2499" b="true">
                          <a:solidFill>
                            <a:srgbClr val="171C2A"/>
                          </a:solidFill>
                          <a:latin typeface="Helvetica World Bold"/>
                          <a:ea typeface="Helvetica World Bold"/>
                          <a:cs typeface="Helvetica World Bold"/>
                          <a:sym typeface="Helvetica World Bold"/>
                        </a:rPr>
                        <a:t>Habilitations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759"/>
                        </a:lnSpc>
                        <a:defRPr/>
                      </a:pPr>
                      <a:r>
                        <a:rPr lang="en-US" sz="2298">
                          <a:solidFill>
                            <a:srgbClr val="171C2A"/>
                          </a:solidFill>
                          <a:latin typeface="Helvetica World"/>
                          <a:ea typeface="Helvetica World"/>
                          <a:cs typeface="Helvetica World"/>
                          <a:sym typeface="Helvetica World"/>
                        </a:rPr>
                        <a:t>le chirurgien voit ses patients, la régulation tout le bloc, l'administrateur les comptes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37297">
                <a:tc>
                  <a:txBody>
                    <a:bodyPr anchor="t" rtlCol="false"/>
                    <a:lstStyle/>
                    <a:p>
                      <a:pPr algn="l">
                        <a:lnSpc>
                          <a:spcPts val="2998"/>
                        </a:lnSpc>
                        <a:defRPr/>
                      </a:pPr>
                      <a:r>
                        <a:rPr lang="en-US" sz="2499" b="true">
                          <a:solidFill>
                            <a:srgbClr val="171C2A"/>
                          </a:solidFill>
                          <a:latin typeface="Helvetica World Bold"/>
                          <a:ea typeface="Helvetica World Bold"/>
                          <a:cs typeface="Helvetica World Bold"/>
                          <a:sym typeface="Helvetica World Bold"/>
                        </a:rPr>
                        <a:t>Traçabilité</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759"/>
                        </a:lnSpc>
                        <a:defRPr/>
                      </a:pPr>
                      <a:r>
                        <a:rPr lang="en-US" sz="2298">
                          <a:solidFill>
                            <a:srgbClr val="171C2A"/>
                          </a:solidFill>
                          <a:latin typeface="Helvetica World"/>
                          <a:ea typeface="Helvetica World"/>
                          <a:cs typeface="Helvetica World"/>
                          <a:sym typeface="Helvetica World"/>
                        </a:rPr>
                        <a:t>journal scellé par empreintes chaînées : connexions, prédictions, décisions, exports, suppressions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37297">
                <a:tc>
                  <a:txBody>
                    <a:bodyPr anchor="t" rtlCol="false"/>
                    <a:lstStyle/>
                    <a:p>
                      <a:pPr algn="l">
                        <a:lnSpc>
                          <a:spcPts val="2998"/>
                        </a:lnSpc>
                        <a:defRPr/>
                      </a:pPr>
                      <a:r>
                        <a:rPr lang="en-US" sz="2499" b="true">
                          <a:solidFill>
                            <a:srgbClr val="171C2A"/>
                          </a:solidFill>
                          <a:latin typeface="Helvetica World Bold"/>
                          <a:ea typeface="Helvetica World Bold"/>
                          <a:cs typeface="Helvetica World Bold"/>
                          <a:sym typeface="Helvetica World Bold"/>
                        </a:rPr>
                        <a:t>Conservation, droits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759"/>
                        </a:lnSpc>
                        <a:defRPr/>
                      </a:pPr>
                      <a:r>
                        <a:rPr lang="en-US" sz="2298">
                          <a:solidFill>
                            <a:srgbClr val="171C2A"/>
                          </a:solidFill>
                          <a:latin typeface="Helvetica World"/>
                          <a:ea typeface="Helvetica World"/>
                          <a:cs typeface="Helvetica World"/>
                          <a:sym typeface="Helvetica World"/>
                        </a:rPr>
                        <a:t>purge 30 jours après l'intervention (paramétrable), export JSON, effacement propagé</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69586">
                <a:tc>
                  <a:txBody>
                    <a:bodyPr anchor="t" rtlCol="false"/>
                    <a:lstStyle/>
                    <a:p>
                      <a:pPr algn="l">
                        <a:lnSpc>
                          <a:spcPts val="2998"/>
                        </a:lnSpc>
                        <a:defRPr/>
                      </a:pPr>
                      <a:r>
                        <a:rPr lang="en-US" sz="2499" b="true">
                          <a:solidFill>
                            <a:srgbClr val="171C2A"/>
                          </a:solidFill>
                          <a:latin typeface="Helvetica World Bold"/>
                          <a:ea typeface="Helvetica World Bold"/>
                          <a:cs typeface="Helvetica World Bold"/>
                          <a:sym typeface="Helvetica World Bold"/>
                        </a:rPr>
                        <a:t>Décision humaine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c>
                  <a:txBody>
                    <a:bodyPr anchor="t" rtlCol="false"/>
                    <a:lstStyle/>
                    <a:p>
                      <a:pPr algn="l">
                        <a:lnSpc>
                          <a:spcPts val="2759"/>
                        </a:lnSpc>
                        <a:defRPr/>
                      </a:pPr>
                      <a:r>
                        <a:rPr lang="en-US" sz="2298">
                          <a:solidFill>
                            <a:srgbClr val="171C2A"/>
                          </a:solidFill>
                          <a:latin typeface="Helvetica World"/>
                          <a:ea typeface="Helvetica World"/>
                          <a:cs typeface="Helvetica World"/>
                          <a:sym typeface="Helvetica World"/>
                        </a:rPr>
                        <a:t>prédictions et créneaux sont des propositions ; qualité du modèle affichée ; notice patient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171C2A"/>
                      </a:solidFill>
                      <a:prstDash val="solid"/>
                      <a:round/>
                      <a:headEnd type="none" w="med" len="med"/>
                      <a:tailEnd type="none" w="med" len="med"/>
                    </a:lnB>
                    <a:solidFill>
                      <a:srgbClr val="FFFFFF"/>
                    </a:solidFill>
                  </a:tcPr>
                </a:tc>
              </a:tr>
            </a:tbl>
          </a:graphicData>
        </a:graphic>
      </p:graphicFrame>
      <p:sp>
        <p:nvSpPr>
          <p:cNvPr name="Freeform 10" id="10"/>
          <p:cNvSpPr/>
          <p:nvPr/>
        </p:nvSpPr>
        <p:spPr>
          <a:xfrm flipH="false" flipV="false" rot="0">
            <a:off x="453390" y="9732836"/>
            <a:ext cx="142132" cy="142132"/>
          </a:xfrm>
          <a:custGeom>
            <a:avLst/>
            <a:gdLst/>
            <a:ahLst/>
            <a:cxnLst/>
            <a:rect r="r" b="b" t="t" l="l"/>
            <a:pathLst>
              <a:path h="142132" w="142132">
                <a:moveTo>
                  <a:pt x="0" y="0"/>
                </a:moveTo>
                <a:lnTo>
                  <a:pt x="142132" y="0"/>
                </a:lnTo>
                <a:lnTo>
                  <a:pt x="142132" y="142132"/>
                </a:lnTo>
                <a:lnTo>
                  <a:pt x="0" y="1421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true" rot="0">
            <a:off x="453390" y="9954692"/>
            <a:ext cx="142132" cy="142132"/>
          </a:xfrm>
          <a:custGeom>
            <a:avLst/>
            <a:gdLst/>
            <a:ahLst/>
            <a:cxnLst/>
            <a:rect r="r" b="b" t="t" l="l"/>
            <a:pathLst>
              <a:path h="142132" w="142132">
                <a:moveTo>
                  <a:pt x="0" y="142132"/>
                </a:moveTo>
                <a:lnTo>
                  <a:pt x="142132" y="142132"/>
                </a:lnTo>
                <a:lnTo>
                  <a:pt x="142132" y="0"/>
                </a:lnTo>
                <a:lnTo>
                  <a:pt x="0" y="0"/>
                </a:lnTo>
                <a:lnTo>
                  <a:pt x="0" y="14213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true" flipV="false" rot="0">
            <a:off x="675113" y="9732836"/>
            <a:ext cx="142132" cy="142132"/>
          </a:xfrm>
          <a:custGeom>
            <a:avLst/>
            <a:gdLst/>
            <a:ahLst/>
            <a:cxnLst/>
            <a:rect r="r" b="b" t="t" l="l"/>
            <a:pathLst>
              <a:path h="142132" w="142132">
                <a:moveTo>
                  <a:pt x="142132" y="0"/>
                </a:moveTo>
                <a:lnTo>
                  <a:pt x="0" y="0"/>
                </a:lnTo>
                <a:lnTo>
                  <a:pt x="0" y="142132"/>
                </a:lnTo>
                <a:lnTo>
                  <a:pt x="142132" y="142132"/>
                </a:lnTo>
                <a:lnTo>
                  <a:pt x="14213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true" flipV="true" rot="0">
            <a:off x="675113" y="9954692"/>
            <a:ext cx="142132" cy="142132"/>
          </a:xfrm>
          <a:custGeom>
            <a:avLst/>
            <a:gdLst/>
            <a:ahLst/>
            <a:cxnLst/>
            <a:rect r="r" b="b" t="t" l="l"/>
            <a:pathLst>
              <a:path h="142132" w="142132">
                <a:moveTo>
                  <a:pt x="142132" y="142132"/>
                </a:moveTo>
                <a:lnTo>
                  <a:pt x="0" y="142132"/>
                </a:lnTo>
                <a:lnTo>
                  <a:pt x="0" y="0"/>
                </a:lnTo>
                <a:lnTo>
                  <a:pt x="142132" y="0"/>
                </a:lnTo>
                <a:lnTo>
                  <a:pt x="142132" y="1421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923163" y="9616592"/>
            <a:ext cx="1760725" cy="391573"/>
          </a:xfrm>
          <a:prstGeom prst="rect">
            <a:avLst/>
          </a:prstGeom>
        </p:spPr>
        <p:txBody>
          <a:bodyPr anchor="t" rtlCol="false" tIns="0" lIns="0" bIns="0" rIns="0">
            <a:spAutoFit/>
          </a:bodyPr>
          <a:lstStyle/>
          <a:p>
            <a:pPr algn="l">
              <a:lnSpc>
                <a:spcPts val="2880"/>
              </a:lnSpc>
            </a:pPr>
            <a:r>
              <a:rPr lang="en-US" b="true" sz="2057" spc="40">
                <a:solidFill>
                  <a:srgbClr val="2323E6"/>
                </a:solidFill>
                <a:latin typeface="Inter Bold"/>
                <a:ea typeface="Inter Bold"/>
                <a:cs typeface="Inter Bold"/>
                <a:sym typeface="Inter Bold"/>
              </a:rPr>
              <a:t>OR’CHESTRE</a:t>
            </a:r>
          </a:p>
        </p:txBody>
      </p:sp>
      <p:sp>
        <p:nvSpPr>
          <p:cNvPr name="TextBox 15" id="15"/>
          <p:cNvSpPr txBox="true"/>
          <p:nvPr/>
        </p:nvSpPr>
        <p:spPr>
          <a:xfrm rot="0">
            <a:off x="943642" y="9947415"/>
            <a:ext cx="1740246" cy="149400"/>
          </a:xfrm>
          <a:prstGeom prst="rect">
            <a:avLst/>
          </a:prstGeom>
        </p:spPr>
        <p:txBody>
          <a:bodyPr anchor="t" rtlCol="false" tIns="0" lIns="0" bIns="0" rIns="0">
            <a:spAutoFit/>
          </a:bodyPr>
          <a:lstStyle/>
          <a:p>
            <a:pPr algn="l">
              <a:lnSpc>
                <a:spcPts val="1078"/>
              </a:lnSpc>
            </a:pPr>
            <a:r>
              <a:rPr lang="en-US" sz="770" spc="215">
                <a:solidFill>
                  <a:srgbClr val="587DFF"/>
                </a:solidFill>
                <a:latin typeface="Quicksand"/>
                <a:ea typeface="Quicksand"/>
                <a:cs typeface="Quicksand"/>
                <a:sym typeface="Quicksand"/>
              </a:rPr>
              <a:t>PROJET CENTRALE LILLE</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38</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7240" y="347472"/>
            <a:ext cx="16733520" cy="868680"/>
            <a:chOff x="0" y="0"/>
            <a:chExt cx="22311360" cy="1158240"/>
          </a:xfrm>
        </p:grpSpPr>
        <p:sp>
          <p:nvSpPr>
            <p:cNvPr name="Freeform 3" id="3"/>
            <p:cNvSpPr/>
            <p:nvPr/>
          </p:nvSpPr>
          <p:spPr>
            <a:xfrm flipH="false" flipV="false" rot="0">
              <a:off x="0" y="0"/>
              <a:ext cx="22311361" cy="1158240"/>
            </a:xfrm>
            <a:custGeom>
              <a:avLst/>
              <a:gdLst/>
              <a:ahLst/>
              <a:cxnLst/>
              <a:rect r="r" b="b" t="t" l="l"/>
              <a:pathLst>
                <a:path h="1158240" w="22311361">
                  <a:moveTo>
                    <a:pt x="0" y="0"/>
                  </a:moveTo>
                  <a:lnTo>
                    <a:pt x="22311361" y="0"/>
                  </a:lnTo>
                  <a:lnTo>
                    <a:pt x="22311361" y="1158240"/>
                  </a:lnTo>
                  <a:lnTo>
                    <a:pt x="0" y="1158240"/>
                  </a:lnTo>
                  <a:close/>
                </a:path>
              </a:pathLst>
            </a:custGeom>
            <a:blipFill>
              <a:blip r:embed="rId3">
                <a:alphaModFix amt="0"/>
              </a:blip>
              <a:stretch>
                <a:fillRect l="0" t="-325343" r="0" b="-325343"/>
              </a:stretch>
            </a:blipFill>
          </p:spPr>
        </p:sp>
        <p:sp>
          <p:nvSpPr>
            <p:cNvPr name="TextBox 4" id="4"/>
            <p:cNvSpPr txBox="true"/>
            <p:nvPr/>
          </p:nvSpPr>
          <p:spPr>
            <a:xfrm>
              <a:off x="0" y="0"/>
              <a:ext cx="22311360" cy="1158240"/>
            </a:xfrm>
            <a:prstGeom prst="rect">
              <a:avLst/>
            </a:prstGeom>
          </p:spPr>
          <p:txBody>
            <a:bodyPr anchor="b" rtlCol="false" tIns="0" lIns="0" bIns="0" rIns="0"/>
            <a:lstStyle/>
            <a:p>
              <a:pPr algn="l">
                <a:lnSpc>
                  <a:spcPts val="3840"/>
                </a:lnSpc>
              </a:pPr>
              <a:r>
                <a:rPr lang="en-US" sz="3200" b="true">
                  <a:solidFill>
                    <a:srgbClr val="171C2A"/>
                  </a:solidFill>
                  <a:latin typeface="Helvetica World Bold"/>
                  <a:ea typeface="Helvetica World Bold"/>
                  <a:cs typeface="Helvetica World Bold"/>
                  <a:sym typeface="Helvetica World Bold"/>
                </a:rPr>
                <a:t>ANNEXE G : LES OUTILS INFORMATIQUES</a:t>
              </a:r>
            </a:p>
          </p:txBody>
        </p:sp>
      </p:grpSp>
      <p:grpSp>
        <p:nvGrpSpPr>
          <p:cNvPr name="Group 5" id="5"/>
          <p:cNvGrpSpPr/>
          <p:nvPr/>
        </p:nvGrpSpPr>
        <p:grpSpPr>
          <a:xfrm rot="0">
            <a:off x="777240" y="1298448"/>
            <a:ext cx="16733520" cy="27432"/>
            <a:chOff x="0" y="0"/>
            <a:chExt cx="22311360" cy="36576"/>
          </a:xfrm>
        </p:grpSpPr>
        <p:sp>
          <p:nvSpPr>
            <p:cNvPr name="Freeform 6" id="6"/>
            <p:cNvSpPr/>
            <p:nvPr/>
          </p:nvSpPr>
          <p:spPr>
            <a:xfrm flipH="false" flipV="false" rot="0">
              <a:off x="0" y="0"/>
              <a:ext cx="22311361" cy="36576"/>
            </a:xfrm>
            <a:custGeom>
              <a:avLst/>
              <a:gdLst/>
              <a:ahLst/>
              <a:cxnLst/>
              <a:rect r="r" b="b" t="t" l="l"/>
              <a:pathLst>
                <a:path h="36576" w="22311361">
                  <a:moveTo>
                    <a:pt x="0" y="0"/>
                  </a:moveTo>
                  <a:lnTo>
                    <a:pt x="22311361" y="0"/>
                  </a:lnTo>
                  <a:lnTo>
                    <a:pt x="22311361" y="36576"/>
                  </a:lnTo>
                  <a:lnTo>
                    <a:pt x="0" y="36576"/>
                  </a:lnTo>
                  <a:close/>
                </a:path>
              </a:pathLst>
            </a:custGeom>
            <a:solidFill>
              <a:srgbClr val="5DE5B5"/>
            </a:solidFill>
          </p:spPr>
        </p:sp>
      </p:grpSp>
      <p:sp>
        <p:nvSpPr>
          <p:cNvPr name="TextBox 7" id="7"/>
          <p:cNvSpPr txBox="true"/>
          <p:nvPr/>
        </p:nvSpPr>
        <p:spPr>
          <a:xfrm rot="0">
            <a:off x="777240" y="8199287"/>
            <a:ext cx="16733520" cy="857250"/>
          </a:xfrm>
          <a:prstGeom prst="rect">
            <a:avLst/>
          </a:prstGeom>
        </p:spPr>
        <p:txBody>
          <a:bodyPr anchor="t" rtlCol="false" tIns="0" lIns="0" bIns="0" rIns="0">
            <a:spAutoFit/>
          </a:bodyPr>
          <a:lstStyle/>
          <a:p>
            <a:pPr algn="l">
              <a:lnSpc>
                <a:spcPts val="3119"/>
              </a:lnSpc>
            </a:pPr>
            <a:r>
              <a:rPr lang="en-US" b="true" sz="2599">
                <a:solidFill>
                  <a:srgbClr val="171C2A"/>
                </a:solidFill>
                <a:latin typeface="Helvetica World Bold"/>
                <a:ea typeface="Helvetica World Bold"/>
                <a:cs typeface="Helvetica World Bold"/>
                <a:sym typeface="Helvetica World Bold"/>
              </a:rPr>
              <a:t>Le noyau métier (prédiction, programme, agents, stockage) est séparé de l'interface : il se teste et se remplace indépendamment.</a:t>
            </a:r>
          </a:p>
        </p:txBody>
      </p:sp>
      <p:grpSp>
        <p:nvGrpSpPr>
          <p:cNvPr name="Group 8" id="8"/>
          <p:cNvGrpSpPr/>
          <p:nvPr/>
        </p:nvGrpSpPr>
        <p:grpSpPr>
          <a:xfrm rot="0">
            <a:off x="777240" y="2010807"/>
            <a:ext cx="8183880" cy="871188"/>
            <a:chOff x="0" y="0"/>
            <a:chExt cx="10911840" cy="1161584"/>
          </a:xfrm>
        </p:grpSpPr>
        <p:sp>
          <p:nvSpPr>
            <p:cNvPr name="Freeform 9" id="9"/>
            <p:cNvSpPr/>
            <p:nvPr/>
          </p:nvSpPr>
          <p:spPr>
            <a:xfrm flipH="false" flipV="false" rot="0">
              <a:off x="0" y="0"/>
              <a:ext cx="10911840" cy="1161584"/>
            </a:xfrm>
            <a:custGeom>
              <a:avLst/>
              <a:gdLst/>
              <a:ahLst/>
              <a:cxnLst/>
              <a:rect r="r" b="b" t="t" l="l"/>
              <a:pathLst>
                <a:path h="1161584" w="10911840">
                  <a:moveTo>
                    <a:pt x="0" y="0"/>
                  </a:moveTo>
                  <a:lnTo>
                    <a:pt x="10911840" y="0"/>
                  </a:lnTo>
                  <a:lnTo>
                    <a:pt x="10911840" y="1161584"/>
                  </a:lnTo>
                  <a:lnTo>
                    <a:pt x="0" y="1161584"/>
                  </a:lnTo>
                  <a:close/>
                </a:path>
              </a:pathLst>
            </a:custGeom>
            <a:solidFill>
              <a:srgbClr val="171C2A"/>
            </a:solidFill>
          </p:spPr>
        </p:sp>
        <p:sp>
          <p:nvSpPr>
            <p:cNvPr name="TextBox 10" id="10"/>
            <p:cNvSpPr txBox="true"/>
            <p:nvPr/>
          </p:nvSpPr>
          <p:spPr>
            <a:xfrm>
              <a:off x="0" y="9525"/>
              <a:ext cx="1091184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Une pile 100 % Python</a:t>
              </a:r>
            </a:p>
          </p:txBody>
        </p:sp>
      </p:grpSp>
      <p:grpSp>
        <p:nvGrpSpPr>
          <p:cNvPr name="Group 11" id="11"/>
          <p:cNvGrpSpPr/>
          <p:nvPr/>
        </p:nvGrpSpPr>
        <p:grpSpPr>
          <a:xfrm rot="0">
            <a:off x="777240" y="2876169"/>
            <a:ext cx="8183880" cy="4637318"/>
            <a:chOff x="0" y="0"/>
            <a:chExt cx="10911840" cy="6183090"/>
          </a:xfrm>
        </p:grpSpPr>
        <p:sp>
          <p:nvSpPr>
            <p:cNvPr name="Freeform 12" id="12"/>
            <p:cNvSpPr/>
            <p:nvPr/>
          </p:nvSpPr>
          <p:spPr>
            <a:xfrm flipH="false" flipV="false" rot="0">
              <a:off x="0" y="0"/>
              <a:ext cx="10911840" cy="6183060"/>
            </a:xfrm>
            <a:custGeom>
              <a:avLst/>
              <a:gdLst/>
              <a:ahLst/>
              <a:cxnLst/>
              <a:rect r="r" b="b" t="t" l="l"/>
              <a:pathLst>
                <a:path h="6183060" w="10911840">
                  <a:moveTo>
                    <a:pt x="0" y="0"/>
                  </a:moveTo>
                  <a:lnTo>
                    <a:pt x="10911840" y="0"/>
                  </a:lnTo>
                  <a:lnTo>
                    <a:pt x="10911840" y="6183060"/>
                  </a:lnTo>
                  <a:lnTo>
                    <a:pt x="0" y="6183060"/>
                  </a:lnTo>
                  <a:close/>
                </a:path>
              </a:pathLst>
            </a:custGeom>
            <a:solidFill>
              <a:srgbClr val="F2F8F6"/>
            </a:solidFill>
          </p:spPr>
        </p:sp>
      </p:grpSp>
      <p:sp>
        <p:nvSpPr>
          <p:cNvPr name="TextBox 13" id="13"/>
          <p:cNvSpPr txBox="true"/>
          <p:nvPr/>
        </p:nvSpPr>
        <p:spPr>
          <a:xfrm rot="0">
            <a:off x="978408" y="3040761"/>
            <a:ext cx="7781544" cy="5549389"/>
          </a:xfrm>
          <a:prstGeom prst="rect">
            <a:avLst/>
          </a:prstGeom>
        </p:spPr>
        <p:txBody>
          <a:bodyPr anchor="t" rtlCol="false" tIns="0" lIns="0" bIns="0" rIns="0">
            <a:spAutoFit/>
          </a:bodyPr>
          <a:lstStyle/>
          <a:p>
            <a:pPr algn="l" marL="386080" indent="-193040" lvl="1">
              <a:lnSpc>
                <a:spcPts val="3840"/>
              </a:lnSpc>
              <a:buFont typeface="Arial"/>
              <a:buChar char="•"/>
            </a:pPr>
            <a:r>
              <a:rPr lang="en-US" b="true" sz="3200">
                <a:solidFill>
                  <a:srgbClr val="171C2A"/>
                </a:solidFill>
                <a:latin typeface="Helvetica World Bold"/>
                <a:ea typeface="Helvetica World Bold"/>
                <a:cs typeface="Helvetica World Bold"/>
                <a:sym typeface="Helvetica World Bold"/>
              </a:rPr>
              <a:t>Interface : </a:t>
            </a:r>
            <a:r>
              <a:rPr lang="en-US" sz="3200">
                <a:solidFill>
                  <a:srgbClr val="171C2A"/>
                </a:solidFill>
                <a:latin typeface="Helvetica World"/>
                <a:ea typeface="Helvetica World"/>
                <a:cs typeface="Helvetica World"/>
                <a:sym typeface="Helvetica World"/>
              </a:rPr>
              <a:t>Streamlit, Plotly</a:t>
            </a:r>
          </a:p>
          <a:p>
            <a:pPr algn="l" marL="386080" indent="-193040" lvl="1">
              <a:lnSpc>
                <a:spcPts val="3840"/>
              </a:lnSpc>
              <a:buFont typeface="Arial"/>
              <a:buChar char="•"/>
            </a:pPr>
            <a:r>
              <a:rPr lang="en-US" b="true" sz="3200">
                <a:solidFill>
                  <a:srgbClr val="171C2A"/>
                </a:solidFill>
                <a:latin typeface="Helvetica World Bold"/>
                <a:ea typeface="Helvetica World Bold"/>
                <a:cs typeface="Helvetica World Bold"/>
                <a:sym typeface="Helvetica World Bold"/>
              </a:rPr>
              <a:t>Prédiction : </a:t>
            </a:r>
            <a:r>
              <a:rPr lang="en-US" sz="3200">
                <a:solidFill>
                  <a:srgbClr val="171C2A"/>
                </a:solidFill>
                <a:latin typeface="Helvetica World"/>
                <a:ea typeface="Helvetica World"/>
                <a:cs typeface="Helvetica World"/>
                <a:sym typeface="Helvetica World"/>
              </a:rPr>
              <a:t>scikit-learn</a:t>
            </a:r>
          </a:p>
          <a:p>
            <a:pPr algn="l" marL="386080" indent="-193040" lvl="1">
              <a:lnSpc>
                <a:spcPts val="3840"/>
              </a:lnSpc>
              <a:buFont typeface="Arial"/>
              <a:buChar char="•"/>
            </a:pPr>
            <a:r>
              <a:rPr lang="en-US" b="true" sz="3200">
                <a:solidFill>
                  <a:srgbClr val="171C2A"/>
                </a:solidFill>
                <a:latin typeface="Helvetica World Bold"/>
                <a:ea typeface="Helvetica World Bold"/>
                <a:cs typeface="Helvetica World Bold"/>
                <a:sym typeface="Helvetica World Bold"/>
              </a:rPr>
              <a:t>Optimisation : </a:t>
            </a:r>
            <a:r>
              <a:rPr lang="en-US" sz="3200">
                <a:solidFill>
                  <a:srgbClr val="171C2A"/>
                </a:solidFill>
                <a:latin typeface="Helvetica World"/>
                <a:ea typeface="Helvetica World"/>
                <a:cs typeface="Helvetica World"/>
                <a:sym typeface="Helvetica World"/>
              </a:rPr>
              <a:t>génétique, recuit, Tabou, mémétique</a:t>
            </a:r>
          </a:p>
          <a:p>
            <a:pPr algn="l" marL="386080" indent="-193040" lvl="1">
              <a:lnSpc>
                <a:spcPts val="3840"/>
              </a:lnSpc>
              <a:buFont typeface="Arial"/>
              <a:buChar char="•"/>
            </a:pPr>
            <a:r>
              <a:rPr lang="en-US" b="true" sz="3200">
                <a:solidFill>
                  <a:srgbClr val="171C2A"/>
                </a:solidFill>
                <a:latin typeface="Helvetica World Bold"/>
                <a:ea typeface="Helvetica World Bold"/>
                <a:cs typeface="Helvetica World Bold"/>
                <a:sym typeface="Helvetica World Bold"/>
              </a:rPr>
              <a:t>Agents : </a:t>
            </a:r>
            <a:r>
              <a:rPr lang="en-US" sz="3200">
                <a:solidFill>
                  <a:srgbClr val="171C2A"/>
                </a:solidFill>
                <a:latin typeface="Helvetica World"/>
                <a:ea typeface="Helvetica World"/>
                <a:cs typeface="Helvetica World"/>
                <a:sym typeface="Helvetica World"/>
              </a:rPr>
              <a:t>Mesa, messages FIPA-ACL</a:t>
            </a:r>
          </a:p>
          <a:p>
            <a:pPr algn="l" marL="386080" indent="-193040" lvl="1">
              <a:lnSpc>
                <a:spcPts val="3840"/>
              </a:lnSpc>
              <a:buFont typeface="Arial"/>
              <a:buChar char="•"/>
            </a:pPr>
            <a:r>
              <a:rPr lang="en-US" b="true" sz="3200">
                <a:solidFill>
                  <a:srgbClr val="171C2A"/>
                </a:solidFill>
                <a:latin typeface="Helvetica World Bold"/>
                <a:ea typeface="Helvetica World Bold"/>
                <a:cs typeface="Helvetica World Bold"/>
                <a:sym typeface="Helvetica World Bold"/>
              </a:rPr>
              <a:t>Données : </a:t>
            </a:r>
            <a:r>
              <a:rPr lang="en-US" sz="3200">
                <a:solidFill>
                  <a:srgbClr val="171C2A"/>
                </a:solidFill>
                <a:latin typeface="Helvetica World"/>
                <a:ea typeface="Helvetica World"/>
                <a:cs typeface="Helvetica World"/>
                <a:sym typeface="Helvetica World"/>
              </a:rPr>
              <a:t>SQLite local, chiffrement Fernet</a:t>
            </a:r>
          </a:p>
          <a:p>
            <a:pPr algn="l" marL="386080" indent="-193040" lvl="1">
              <a:lnSpc>
                <a:spcPts val="3840"/>
              </a:lnSpc>
              <a:buFont typeface="Arial"/>
              <a:buChar char="•"/>
            </a:pPr>
            <a:r>
              <a:rPr lang="en-US" b="true" sz="3200">
                <a:solidFill>
                  <a:srgbClr val="171C2A"/>
                </a:solidFill>
                <a:latin typeface="Helvetica World Bold"/>
                <a:ea typeface="Helvetica World Bold"/>
                <a:cs typeface="Helvetica World Bold"/>
                <a:sym typeface="Helvetica World Bold"/>
              </a:rPr>
              <a:t>Tests : </a:t>
            </a:r>
            <a:r>
              <a:rPr lang="en-US" sz="3200">
                <a:solidFill>
                  <a:srgbClr val="171C2A"/>
                </a:solidFill>
                <a:latin typeface="Helvetica World"/>
                <a:ea typeface="Helvetica World"/>
                <a:cs typeface="Helvetica World"/>
                <a:sym typeface="Helvetica World"/>
              </a:rPr>
              <a:t>pytest sur le noyau métier</a:t>
            </a:r>
          </a:p>
        </p:txBody>
      </p:sp>
      <p:grpSp>
        <p:nvGrpSpPr>
          <p:cNvPr name="Group 14" id="14"/>
          <p:cNvGrpSpPr/>
          <p:nvPr/>
        </p:nvGrpSpPr>
        <p:grpSpPr>
          <a:xfrm rot="0">
            <a:off x="9326880" y="2010807"/>
            <a:ext cx="8183880" cy="871188"/>
            <a:chOff x="0" y="0"/>
            <a:chExt cx="10911840" cy="1161584"/>
          </a:xfrm>
        </p:grpSpPr>
        <p:sp>
          <p:nvSpPr>
            <p:cNvPr name="Freeform 15" id="15"/>
            <p:cNvSpPr/>
            <p:nvPr/>
          </p:nvSpPr>
          <p:spPr>
            <a:xfrm flipH="false" flipV="false" rot="0">
              <a:off x="0" y="0"/>
              <a:ext cx="10911840" cy="1161584"/>
            </a:xfrm>
            <a:custGeom>
              <a:avLst/>
              <a:gdLst/>
              <a:ahLst/>
              <a:cxnLst/>
              <a:rect r="r" b="b" t="t" l="l"/>
              <a:pathLst>
                <a:path h="1161584" w="10911840">
                  <a:moveTo>
                    <a:pt x="0" y="0"/>
                  </a:moveTo>
                  <a:lnTo>
                    <a:pt x="10911840" y="0"/>
                  </a:lnTo>
                  <a:lnTo>
                    <a:pt x="10911840" y="1161584"/>
                  </a:lnTo>
                  <a:lnTo>
                    <a:pt x="0" y="1161584"/>
                  </a:lnTo>
                  <a:close/>
                </a:path>
              </a:pathLst>
            </a:custGeom>
            <a:solidFill>
              <a:srgbClr val="2628ED"/>
            </a:solidFill>
          </p:spPr>
        </p:sp>
        <p:sp>
          <p:nvSpPr>
            <p:cNvPr name="TextBox 16" id="16"/>
            <p:cNvSpPr txBox="true"/>
            <p:nvPr/>
          </p:nvSpPr>
          <p:spPr>
            <a:xfrm>
              <a:off x="0" y="9525"/>
              <a:ext cx="10911840" cy="1152059"/>
            </a:xfrm>
            <a:prstGeom prst="rect">
              <a:avLst/>
            </a:prstGeom>
          </p:spPr>
          <p:txBody>
            <a:bodyPr anchor="ctr" rtlCol="false" tIns="50800" lIns="50800" bIns="50800" rIns="50800"/>
            <a:lstStyle/>
            <a:p>
              <a:pPr algn="l">
                <a:lnSpc>
                  <a:spcPts val="3599"/>
                </a:lnSpc>
              </a:pPr>
              <a:r>
                <a:rPr lang="en-US" sz="2999" b="true">
                  <a:solidFill>
                    <a:srgbClr val="FFFFFF"/>
                  </a:solidFill>
                  <a:latin typeface="Helvetica World Bold"/>
                  <a:ea typeface="Helvetica World Bold"/>
                  <a:cs typeface="Helvetica World Bold"/>
                  <a:sym typeface="Helvetica World Bold"/>
                </a:rPr>
                <a:t>  </a:t>
              </a:r>
              <a:r>
                <a:rPr lang="en-US" sz="2999" b="true">
                  <a:solidFill>
                    <a:srgbClr val="FFFFFF"/>
                  </a:solidFill>
                  <a:latin typeface="Helvetica World Bold"/>
                  <a:ea typeface="Helvetica World Bold"/>
                  <a:cs typeface="Helvetica World Bold"/>
                  <a:sym typeface="Helvetica World Bold"/>
                </a:rPr>
                <a:t>Journal d'événements</a:t>
              </a:r>
            </a:p>
          </p:txBody>
        </p:sp>
      </p:grpSp>
      <p:grpSp>
        <p:nvGrpSpPr>
          <p:cNvPr name="Group 17" id="17"/>
          <p:cNvGrpSpPr/>
          <p:nvPr/>
        </p:nvGrpSpPr>
        <p:grpSpPr>
          <a:xfrm rot="0">
            <a:off x="9326880" y="2876169"/>
            <a:ext cx="8183880" cy="4637318"/>
            <a:chOff x="0" y="0"/>
            <a:chExt cx="10911840" cy="6183090"/>
          </a:xfrm>
        </p:grpSpPr>
        <p:sp>
          <p:nvSpPr>
            <p:cNvPr name="Freeform 18" id="18"/>
            <p:cNvSpPr/>
            <p:nvPr/>
          </p:nvSpPr>
          <p:spPr>
            <a:xfrm flipH="false" flipV="false" rot="0">
              <a:off x="0" y="0"/>
              <a:ext cx="10911840" cy="6183060"/>
            </a:xfrm>
            <a:custGeom>
              <a:avLst/>
              <a:gdLst/>
              <a:ahLst/>
              <a:cxnLst/>
              <a:rect r="r" b="b" t="t" l="l"/>
              <a:pathLst>
                <a:path h="6183060" w="10911840">
                  <a:moveTo>
                    <a:pt x="0" y="0"/>
                  </a:moveTo>
                  <a:lnTo>
                    <a:pt x="10911840" y="0"/>
                  </a:lnTo>
                  <a:lnTo>
                    <a:pt x="10911840" y="6183060"/>
                  </a:lnTo>
                  <a:lnTo>
                    <a:pt x="0" y="6183060"/>
                  </a:lnTo>
                  <a:close/>
                </a:path>
              </a:pathLst>
            </a:custGeom>
            <a:solidFill>
              <a:srgbClr val="F2F8F6"/>
            </a:solidFill>
          </p:spPr>
        </p:sp>
      </p:grpSp>
      <p:sp>
        <p:nvSpPr>
          <p:cNvPr name="TextBox 19" id="19"/>
          <p:cNvSpPr txBox="true"/>
          <p:nvPr/>
        </p:nvSpPr>
        <p:spPr>
          <a:xfrm rot="0">
            <a:off x="9528048" y="3040761"/>
            <a:ext cx="7781544" cy="5549389"/>
          </a:xfrm>
          <a:prstGeom prst="rect">
            <a:avLst/>
          </a:prstGeom>
        </p:spPr>
        <p:txBody>
          <a:bodyPr anchor="t" rtlCol="false" tIns="0" lIns="0" bIns="0" rIns="0">
            <a:spAutoFit/>
          </a:bodyPr>
          <a:lstStyle/>
          <a:p>
            <a:pPr algn="l">
              <a:lnSpc>
                <a:spcPts val="3840"/>
              </a:lnSpc>
            </a:pPr>
            <a:r>
              <a:rPr lang="en-US" sz="3200">
                <a:solidFill>
                  <a:srgbClr val="171C2A"/>
                </a:solidFill>
                <a:latin typeface="Helvetica World"/>
                <a:ea typeface="Helvetica World"/>
                <a:cs typeface="Helvetica World"/>
                <a:sym typeface="Helvetica World"/>
              </a:rPr>
              <a:t>La base ne stocke que le </a:t>
            </a:r>
            <a:r>
              <a:rPr lang="en-US" sz="3200" b="true">
                <a:solidFill>
                  <a:srgbClr val="171C2A"/>
                </a:solidFill>
                <a:latin typeface="Helvetica World Bold"/>
                <a:ea typeface="Helvetica World Bold"/>
                <a:cs typeface="Helvetica World Bold"/>
                <a:sym typeface="Helvetica World Bold"/>
              </a:rPr>
              <a:t>programme initial et la liste des événements</a:t>
            </a:r>
            <a:r>
              <a:rPr lang="en-US" sz="3200">
                <a:solidFill>
                  <a:srgbClr val="171C2A"/>
                </a:solidFill>
                <a:latin typeface="Helvetica World"/>
                <a:ea typeface="Helvetica World"/>
                <a:cs typeface="Helvetica World"/>
                <a:sym typeface="Helvetica World"/>
              </a:rPr>
              <a:t>. L'état du bloc est rejoué dans un modèle neuf jusqu'à l'heure courante (≈ 0,5 s).</a:t>
            </a:r>
          </a:p>
          <a:p>
            <a:pPr algn="l">
              <a:lnSpc>
                <a:spcPts val="3840"/>
              </a:lnSpc>
            </a:pPr>
            <a:r>
              <a:rPr lang="en-US" sz="3200" b="true">
                <a:solidFill>
                  <a:srgbClr val="2628ED"/>
                </a:solidFill>
                <a:latin typeface="Helvetica World Bold"/>
                <a:ea typeface="Helvetica World Bold"/>
                <a:cs typeface="Helvetica World Bold"/>
                <a:sym typeface="Helvetica World Bold"/>
              </a:rPr>
              <a:t>Reproductible et vérifiable</a:t>
            </a:r>
            <a:r>
              <a:rPr lang="en-US" sz="3200">
                <a:solidFill>
                  <a:srgbClr val="171C2A"/>
                </a:solidFill>
                <a:latin typeface="Helvetica World"/>
                <a:ea typeface="Helvetica World"/>
                <a:cs typeface="Helvetica World"/>
                <a:sym typeface="Helvetica World"/>
              </a:rPr>
              <a:t> ; un effacement RGPD se propage en retirant les événements du patient.</a:t>
            </a:r>
          </a:p>
        </p:txBody>
      </p:sp>
      <p:grpSp>
        <p:nvGrpSpPr>
          <p:cNvPr name="Group 20" id="20"/>
          <p:cNvGrpSpPr/>
          <p:nvPr/>
        </p:nvGrpSpPr>
        <p:grpSpPr>
          <a:xfrm rot="0">
            <a:off x="453390" y="9699939"/>
            <a:ext cx="2230494" cy="396881"/>
            <a:chOff x="0" y="0"/>
            <a:chExt cx="2973991" cy="529175"/>
          </a:xfrm>
        </p:grpSpPr>
        <p:sp>
          <p:nvSpPr>
            <p:cNvPr name="Freeform 21" id="21"/>
            <p:cNvSpPr/>
            <p:nvPr/>
          </p:nvSpPr>
          <p:spPr>
            <a:xfrm flipH="false" flipV="false" rot="0">
              <a:off x="0" y="43856"/>
              <a:ext cx="189506" cy="189506"/>
            </a:xfrm>
            <a:custGeom>
              <a:avLst/>
              <a:gdLst/>
              <a:ahLst/>
              <a:cxnLst/>
              <a:rect r="r" b="b" t="t" l="l"/>
              <a:pathLst>
                <a:path h="189506" w="189506">
                  <a:moveTo>
                    <a:pt x="0" y="0"/>
                  </a:moveTo>
                  <a:lnTo>
                    <a:pt x="189506" y="0"/>
                  </a:lnTo>
                  <a:lnTo>
                    <a:pt x="189506" y="189506"/>
                  </a:lnTo>
                  <a:lnTo>
                    <a:pt x="0" y="189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true" rot="0">
              <a:off x="0" y="339669"/>
              <a:ext cx="189506" cy="189506"/>
            </a:xfrm>
            <a:custGeom>
              <a:avLst/>
              <a:gdLst/>
              <a:ahLst/>
              <a:cxnLst/>
              <a:rect r="r" b="b" t="t" l="l"/>
              <a:pathLst>
                <a:path h="189506" w="189506">
                  <a:moveTo>
                    <a:pt x="0" y="189506"/>
                  </a:moveTo>
                  <a:lnTo>
                    <a:pt x="189506" y="189506"/>
                  </a:lnTo>
                  <a:lnTo>
                    <a:pt x="189506" y="0"/>
                  </a:lnTo>
                  <a:lnTo>
                    <a:pt x="0" y="0"/>
                  </a:lnTo>
                  <a:lnTo>
                    <a:pt x="0" y="18950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true" flipV="false" rot="0">
              <a:off x="295634" y="43856"/>
              <a:ext cx="189506" cy="189506"/>
            </a:xfrm>
            <a:custGeom>
              <a:avLst/>
              <a:gdLst/>
              <a:ahLst/>
              <a:cxnLst/>
              <a:rect r="r" b="b" t="t" l="l"/>
              <a:pathLst>
                <a:path h="189506" w="189506">
                  <a:moveTo>
                    <a:pt x="189506" y="0"/>
                  </a:moveTo>
                  <a:lnTo>
                    <a:pt x="0" y="0"/>
                  </a:lnTo>
                  <a:lnTo>
                    <a:pt x="0" y="189506"/>
                  </a:lnTo>
                  <a:lnTo>
                    <a:pt x="189506" y="189506"/>
                  </a:lnTo>
                  <a:lnTo>
                    <a:pt x="18950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true" flipV="true" rot="0">
              <a:off x="295634" y="339669"/>
              <a:ext cx="189506" cy="189506"/>
            </a:xfrm>
            <a:custGeom>
              <a:avLst/>
              <a:gdLst/>
              <a:ahLst/>
              <a:cxnLst/>
              <a:rect r="r" b="b" t="t" l="l"/>
              <a:pathLst>
                <a:path h="189506" w="189506">
                  <a:moveTo>
                    <a:pt x="189506" y="189506"/>
                  </a:moveTo>
                  <a:lnTo>
                    <a:pt x="0" y="189506"/>
                  </a:lnTo>
                  <a:lnTo>
                    <a:pt x="0" y="0"/>
                  </a:lnTo>
                  <a:lnTo>
                    <a:pt x="189506" y="0"/>
                  </a:lnTo>
                  <a:lnTo>
                    <a:pt x="189506" y="18950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5" id="25"/>
            <p:cNvSpPr txBox="true"/>
            <p:nvPr/>
          </p:nvSpPr>
          <p:spPr>
            <a:xfrm rot="0">
              <a:off x="626363" y="-47625"/>
              <a:ext cx="2347628" cy="458592"/>
            </a:xfrm>
            <a:prstGeom prst="rect">
              <a:avLst/>
            </a:prstGeom>
          </p:spPr>
          <p:txBody>
            <a:bodyPr anchor="t" rtlCol="false" tIns="0" lIns="0" bIns="0" rIns="0">
              <a:spAutoFit/>
            </a:bodyPr>
            <a:lstStyle/>
            <a:p>
              <a:pPr algn="l">
                <a:lnSpc>
                  <a:spcPts val="2880"/>
                </a:lnSpc>
                <a:spcBef>
                  <a:spcPct val="0"/>
                </a:spcBef>
              </a:pPr>
              <a:r>
                <a:rPr lang="en-US" b="true" sz="2057" spc="41">
                  <a:solidFill>
                    <a:srgbClr val="2323E6"/>
                  </a:solidFill>
                  <a:latin typeface="Inter Ultra-Bold"/>
                  <a:ea typeface="Inter Ultra-Bold"/>
                  <a:cs typeface="Inter Ultra-Bold"/>
                  <a:sym typeface="Inter Ultra-Bold"/>
                </a:rPr>
                <a:t>OR’CHESTRE</a:t>
              </a:r>
            </a:p>
          </p:txBody>
        </p:sp>
        <p:sp>
          <p:nvSpPr>
            <p:cNvPr name="TextBox 26" id="26"/>
            <p:cNvSpPr txBox="true"/>
            <p:nvPr/>
          </p:nvSpPr>
          <p:spPr>
            <a:xfrm rot="0">
              <a:off x="653671" y="355372"/>
              <a:ext cx="2320321" cy="173804"/>
            </a:xfrm>
            <a:prstGeom prst="rect">
              <a:avLst/>
            </a:prstGeom>
          </p:spPr>
          <p:txBody>
            <a:bodyPr anchor="t" rtlCol="false" tIns="0" lIns="0" bIns="0" rIns="0">
              <a:spAutoFit/>
            </a:bodyPr>
            <a:lstStyle/>
            <a:p>
              <a:pPr algn="l">
                <a:lnSpc>
                  <a:spcPts val="1078"/>
                </a:lnSpc>
                <a:spcBef>
                  <a:spcPct val="0"/>
                </a:spcBef>
              </a:pPr>
              <a:r>
                <a:rPr lang="en-US" sz="770" spc="215">
                  <a:solidFill>
                    <a:srgbClr val="587DFF"/>
                  </a:solidFill>
                  <a:latin typeface="Quicksand"/>
                  <a:ea typeface="Quicksand"/>
                  <a:cs typeface="Quicksand"/>
                  <a:sym typeface="Quicksand"/>
                </a:rPr>
                <a:t>PROJET CENTRALE LILLE</a:t>
              </a:r>
            </a:p>
          </p:txBody>
        </p:sp>
      </p:grpSp>
      <p:sp>
        <p:nvSpPr>
          <p:cNvPr name="TextBox 27" id="2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DAHYdqbxDqs</dc:identifier>
  <dcterms:modified xsi:type="dcterms:W3CDTF">2011-08-01T06:04:30Z</dcterms:modified>
  <cp:revision>1</cp:revision>
  <dc:title>ORCHESTRE_fiinal.pptx</dc:title>
</cp:coreProperties>
</file>